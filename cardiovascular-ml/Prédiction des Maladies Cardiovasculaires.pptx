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Liter" charset="-122" pitchFamily="34"/>
      <p:regular r:id="rId19"/>
    </p:embeddedFont>
    <p:embeddedFont>
      <p:font typeface="Oranienbaum" charset="-122" pitchFamily="34"/>
      <p:regular r:id="rId20"/>
    </p:embeddedFont>
    <p:embeddedFont>
      <p:font typeface="MiSans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365datascience.com/612b77675da6b87be1a3347be7db701e35b9f807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3A4A">
                  <a:alpha val="95000"/>
                </a:srgbClr>
              </a:gs>
              <a:gs pos="50000">
                <a:srgbClr val="1A3A4A">
                  <a:alpha val="85000"/>
                </a:srgbClr>
              </a:gs>
              <a:gs pos="100000">
                <a:srgbClr val="4A6D7C">
                  <a:alpha val="7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942975"/>
            <a:ext cx="2886075" cy="428625"/>
          </a:xfrm>
          <a:custGeom>
            <a:avLst/>
            <a:gdLst/>
            <a:ahLst/>
            <a:cxnLst/>
            <a:rect l="l" t="t" r="r" b="b"/>
            <a:pathLst>
              <a:path w="2886075" h="428625">
                <a:moveTo>
                  <a:pt x="214313" y="0"/>
                </a:moveTo>
                <a:lnTo>
                  <a:pt x="2671763" y="0"/>
                </a:lnTo>
                <a:cubicBezTo>
                  <a:pt x="2790045" y="0"/>
                  <a:pt x="2886075" y="96030"/>
                  <a:pt x="2886075" y="214313"/>
                </a:cubicBezTo>
                <a:lnTo>
                  <a:pt x="2886075" y="214313"/>
                </a:lnTo>
                <a:cubicBezTo>
                  <a:pt x="2886075" y="332595"/>
                  <a:pt x="2790045" y="428625"/>
                  <a:pt x="267176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D95D5D">
              <a:alpha val="20000"/>
            </a:srgbClr>
          </a:solidFill>
          <a:ln w="12700">
            <a:solidFill>
              <a:srgbClr val="D95D5D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4838" y="10620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40146"/>
                </a:moveTo>
                <a:lnTo>
                  <a:pt x="89669" y="32407"/>
                </a:lnTo>
                <a:cubicBezTo>
                  <a:pt x="80367" y="19534"/>
                  <a:pt x="65447" y="11906"/>
                  <a:pt x="49523" y="11906"/>
                </a:cubicBezTo>
                <a:cubicBezTo>
                  <a:pt x="22175" y="11906"/>
                  <a:pt x="0" y="34082"/>
                  <a:pt x="0" y="61429"/>
                </a:cubicBezTo>
                <a:lnTo>
                  <a:pt x="0" y="62396"/>
                </a:lnTo>
                <a:cubicBezTo>
                  <a:pt x="0" y="71177"/>
                  <a:pt x="2307" y="80256"/>
                  <a:pt x="6176" y="89297"/>
                </a:cubicBezTo>
                <a:lnTo>
                  <a:pt x="45616" y="89297"/>
                </a:lnTo>
                <a:cubicBezTo>
                  <a:pt x="46806" y="89297"/>
                  <a:pt x="47885" y="88590"/>
                  <a:pt x="48369" y="87474"/>
                </a:cubicBezTo>
                <a:lnTo>
                  <a:pt x="60201" y="59085"/>
                </a:lnTo>
                <a:cubicBezTo>
                  <a:pt x="61578" y="55811"/>
                  <a:pt x="64777" y="53653"/>
                  <a:pt x="68312" y="53578"/>
                </a:cubicBezTo>
                <a:cubicBezTo>
                  <a:pt x="71847" y="53504"/>
                  <a:pt x="75121" y="55587"/>
                  <a:pt x="76572" y="58824"/>
                </a:cubicBezTo>
                <a:lnTo>
                  <a:pt x="95659" y="101203"/>
                </a:lnTo>
                <a:lnTo>
                  <a:pt x="111063" y="70396"/>
                </a:lnTo>
                <a:cubicBezTo>
                  <a:pt x="112588" y="67382"/>
                  <a:pt x="115677" y="65447"/>
                  <a:pt x="119063" y="65447"/>
                </a:cubicBezTo>
                <a:cubicBezTo>
                  <a:pt x="122448" y="65447"/>
                  <a:pt x="125537" y="67345"/>
                  <a:pt x="127062" y="70396"/>
                </a:cubicBezTo>
                <a:lnTo>
                  <a:pt x="135694" y="87623"/>
                </a:lnTo>
                <a:cubicBezTo>
                  <a:pt x="136215" y="88627"/>
                  <a:pt x="137220" y="89260"/>
                  <a:pt x="138373" y="89260"/>
                </a:cubicBezTo>
                <a:lnTo>
                  <a:pt x="184361" y="89260"/>
                </a:lnTo>
                <a:cubicBezTo>
                  <a:pt x="188268" y="80218"/>
                  <a:pt x="190537" y="71140"/>
                  <a:pt x="190537" y="62359"/>
                </a:cubicBezTo>
                <a:lnTo>
                  <a:pt x="190537" y="61392"/>
                </a:lnTo>
                <a:cubicBezTo>
                  <a:pt x="190500" y="34082"/>
                  <a:pt x="168325" y="11906"/>
                  <a:pt x="140977" y="11906"/>
                </a:cubicBezTo>
                <a:cubicBezTo>
                  <a:pt x="125090" y="11906"/>
                  <a:pt x="110133" y="19534"/>
                  <a:pt x="100831" y="32407"/>
                </a:cubicBezTo>
                <a:lnTo>
                  <a:pt x="95250" y="40109"/>
                </a:lnTo>
                <a:close/>
                <a:moveTo>
                  <a:pt x="174724" y="107156"/>
                </a:moveTo>
                <a:lnTo>
                  <a:pt x="138336" y="107156"/>
                </a:lnTo>
                <a:cubicBezTo>
                  <a:pt x="130448" y="107156"/>
                  <a:pt x="123230" y="102691"/>
                  <a:pt x="119695" y="95622"/>
                </a:cubicBezTo>
                <a:lnTo>
                  <a:pt x="119063" y="94357"/>
                </a:lnTo>
                <a:lnTo>
                  <a:pt x="103250" y="126020"/>
                </a:lnTo>
                <a:cubicBezTo>
                  <a:pt x="101724" y="129108"/>
                  <a:pt x="98524" y="131043"/>
                  <a:pt x="95064" y="130969"/>
                </a:cubicBezTo>
                <a:cubicBezTo>
                  <a:pt x="91604" y="130894"/>
                  <a:pt x="88516" y="128848"/>
                  <a:pt x="87102" y="125723"/>
                </a:cubicBezTo>
                <a:lnTo>
                  <a:pt x="68759" y="84981"/>
                </a:lnTo>
                <a:lnTo>
                  <a:pt x="64852" y="94357"/>
                </a:lnTo>
                <a:cubicBezTo>
                  <a:pt x="61615" y="102133"/>
                  <a:pt x="54025" y="107193"/>
                  <a:pt x="45616" y="107193"/>
                </a:cubicBezTo>
                <a:lnTo>
                  <a:pt x="15776" y="107193"/>
                </a:lnTo>
                <a:cubicBezTo>
                  <a:pt x="33338" y="134652"/>
                  <a:pt x="61540" y="159916"/>
                  <a:pt x="79177" y="173385"/>
                </a:cubicBezTo>
                <a:cubicBezTo>
                  <a:pt x="83790" y="176882"/>
                  <a:pt x="89446" y="178631"/>
                  <a:pt x="95213" y="178631"/>
                </a:cubicBezTo>
                <a:cubicBezTo>
                  <a:pt x="100980" y="178631"/>
                  <a:pt x="106673" y="176919"/>
                  <a:pt x="111249" y="173385"/>
                </a:cubicBezTo>
                <a:cubicBezTo>
                  <a:pt x="128960" y="159879"/>
                  <a:pt x="157163" y="134615"/>
                  <a:pt x="174724" y="107156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6" name="Text 3"/>
          <p:cNvSpPr/>
          <p:nvPr/>
        </p:nvSpPr>
        <p:spPr>
          <a:xfrm>
            <a:off x="933450" y="1042988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30" kern="0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PROJET MACHINE LEARNING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604963"/>
            <a:ext cx="117729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Prédiction des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D95D5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Maladies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Cardiovasculaires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405313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Projet Machine Learning End-to-End pour la Détection Précoce des MCV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7102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90525" y="5953125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257175" y="0"/>
                </a:moveTo>
                <a:lnTo>
                  <a:pt x="257175" y="0"/>
                </a:lnTo>
                <a:cubicBezTo>
                  <a:pt x="399114" y="0"/>
                  <a:pt x="514350" y="115236"/>
                  <a:pt x="514350" y="257175"/>
                </a:cubicBezTo>
                <a:lnTo>
                  <a:pt x="514350" y="257175"/>
                </a:lnTo>
                <a:cubicBezTo>
                  <a:pt x="514350" y="399114"/>
                  <a:pt x="399114" y="514350"/>
                  <a:pt x="257175" y="514350"/>
                </a:cubicBezTo>
                <a:lnTo>
                  <a:pt x="257175" y="514350"/>
                </a:lnTo>
                <a:cubicBezTo>
                  <a:pt x="115236" y="514350"/>
                  <a:pt x="0" y="399114"/>
                  <a:pt x="0" y="257175"/>
                </a:cubicBezTo>
                <a:lnTo>
                  <a:pt x="0" y="257175"/>
                </a:lnTo>
                <a:cubicBezTo>
                  <a:pt x="0" y="115236"/>
                  <a:pt x="115236" y="0"/>
                  <a:pt x="257175" y="0"/>
                </a:cubicBezTo>
                <a:close/>
              </a:path>
            </a:pathLst>
          </a:custGeom>
          <a:solidFill>
            <a:srgbClr val="D95D5D">
              <a:alpha val="20000"/>
            </a:srgbClr>
          </a:solidFill>
          <a:ln w="25400">
            <a:solidFill>
              <a:srgbClr val="D95D5D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7688" y="60960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3572"/>
                </a:move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lose/>
                <a:moveTo>
                  <a:pt x="126802" y="143232"/>
                </a:moveTo>
                <a:cubicBezTo>
                  <a:pt x="124391" y="143009"/>
                  <a:pt x="121890" y="142875"/>
                  <a:pt x="119390" y="142875"/>
                </a:cubicBezTo>
                <a:lnTo>
                  <a:pt x="80590" y="142875"/>
                </a:lnTo>
                <a:cubicBezTo>
                  <a:pt x="78090" y="142875"/>
                  <a:pt x="75634" y="143009"/>
                  <a:pt x="73179" y="143232"/>
                </a:cubicBezTo>
                <a:lnTo>
                  <a:pt x="73179" y="173370"/>
                </a:lnTo>
                <a:cubicBezTo>
                  <a:pt x="80546" y="176763"/>
                  <a:pt x="85680" y="184219"/>
                  <a:pt x="85680" y="192837"/>
                </a:cubicBezTo>
                <a:cubicBezTo>
                  <a:pt x="85680" y="204668"/>
                  <a:pt x="76081" y="214268"/>
                  <a:pt x="64249" y="214268"/>
                </a:cubicBezTo>
                <a:cubicBezTo>
                  <a:pt x="52417" y="214268"/>
                  <a:pt x="42818" y="204668"/>
                  <a:pt x="42818" y="192837"/>
                </a:cubicBezTo>
                <a:cubicBezTo>
                  <a:pt x="42818" y="184175"/>
                  <a:pt x="47952" y="176719"/>
                  <a:pt x="55319" y="173370"/>
                </a:cubicBezTo>
                <a:lnTo>
                  <a:pt x="55319" y="147295"/>
                </a:lnTo>
                <a:cubicBezTo>
                  <a:pt x="27236" y="157609"/>
                  <a:pt x="7144" y="184666"/>
                  <a:pt x="7144" y="216366"/>
                </a:cubicBezTo>
                <a:cubicBezTo>
                  <a:pt x="7144" y="223108"/>
                  <a:pt x="12636" y="228600"/>
                  <a:pt x="19377" y="228600"/>
                </a:cubicBezTo>
                <a:lnTo>
                  <a:pt x="180603" y="228600"/>
                </a:lnTo>
                <a:cubicBezTo>
                  <a:pt x="187345" y="228600"/>
                  <a:pt x="192837" y="223108"/>
                  <a:pt x="192837" y="216366"/>
                </a:cubicBezTo>
                <a:cubicBezTo>
                  <a:pt x="192837" y="184666"/>
                  <a:pt x="172745" y="157654"/>
                  <a:pt x="144616" y="147340"/>
                </a:cubicBezTo>
                <a:lnTo>
                  <a:pt x="144616" y="164038"/>
                </a:lnTo>
                <a:cubicBezTo>
                  <a:pt x="155019" y="167700"/>
                  <a:pt x="162476" y="177656"/>
                  <a:pt x="162476" y="189309"/>
                </a:cubicBezTo>
                <a:lnTo>
                  <a:pt x="162476" y="203597"/>
                </a:lnTo>
                <a:cubicBezTo>
                  <a:pt x="162476" y="208508"/>
                  <a:pt x="158457" y="212527"/>
                  <a:pt x="153546" y="212527"/>
                </a:cubicBezTo>
                <a:cubicBezTo>
                  <a:pt x="148635" y="212527"/>
                  <a:pt x="144616" y="208508"/>
                  <a:pt x="144616" y="203597"/>
                </a:cubicBezTo>
                <a:lnTo>
                  <a:pt x="144616" y="189309"/>
                </a:lnTo>
                <a:cubicBezTo>
                  <a:pt x="144616" y="184398"/>
                  <a:pt x="140598" y="180380"/>
                  <a:pt x="135687" y="180380"/>
                </a:cubicBezTo>
                <a:cubicBezTo>
                  <a:pt x="130775" y="180380"/>
                  <a:pt x="126757" y="184398"/>
                  <a:pt x="126757" y="189309"/>
                </a:cubicBezTo>
                <a:lnTo>
                  <a:pt x="126757" y="203597"/>
                </a:lnTo>
                <a:cubicBezTo>
                  <a:pt x="126757" y="208508"/>
                  <a:pt x="122739" y="212527"/>
                  <a:pt x="117827" y="212527"/>
                </a:cubicBezTo>
                <a:cubicBezTo>
                  <a:pt x="112916" y="212527"/>
                  <a:pt x="108898" y="208508"/>
                  <a:pt x="108898" y="203597"/>
                </a:cubicBezTo>
                <a:lnTo>
                  <a:pt x="108898" y="189309"/>
                </a:lnTo>
                <a:cubicBezTo>
                  <a:pt x="108898" y="177656"/>
                  <a:pt x="116354" y="167744"/>
                  <a:pt x="126757" y="164038"/>
                </a:cubicBezTo>
                <a:lnTo>
                  <a:pt x="126757" y="143232"/>
                </a:ln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12" name="Text 9"/>
          <p:cNvSpPr/>
          <p:nvPr/>
        </p:nvSpPr>
        <p:spPr>
          <a:xfrm>
            <a:off x="1066800" y="5962650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Takwa Haj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6800" y="6229350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Année Académique 2025–2026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151394" y="61245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21431" y="80367"/>
                </a:moveTo>
                <a:lnTo>
                  <a:pt x="21431" y="91083"/>
                </a:lnTo>
                <a:cubicBezTo>
                  <a:pt x="21431" y="94030"/>
                  <a:pt x="23842" y="96441"/>
                  <a:pt x="26789" y="96441"/>
                </a:cubicBezTo>
                <a:lnTo>
                  <a:pt x="37505" y="96441"/>
                </a:lnTo>
                <a:cubicBezTo>
                  <a:pt x="40451" y="96441"/>
                  <a:pt x="42863" y="94030"/>
                  <a:pt x="42863" y="91083"/>
                </a:cubicBezTo>
                <a:lnTo>
                  <a:pt x="42863" y="80367"/>
                </a:lnTo>
                <a:cubicBezTo>
                  <a:pt x="42863" y="77420"/>
                  <a:pt x="40451" y="75009"/>
                  <a:pt x="37505" y="75009"/>
                </a:cubicBezTo>
                <a:lnTo>
                  <a:pt x="26789" y="75009"/>
                </a:lnTo>
                <a:cubicBezTo>
                  <a:pt x="23842" y="75009"/>
                  <a:pt x="21431" y="77420"/>
                  <a:pt x="21431" y="80367"/>
                </a:cubicBezTo>
                <a:close/>
                <a:moveTo>
                  <a:pt x="64294" y="80367"/>
                </a:moveTo>
                <a:lnTo>
                  <a:pt x="64294" y="91083"/>
                </a:lnTo>
                <a:cubicBezTo>
                  <a:pt x="64294" y="94030"/>
                  <a:pt x="66705" y="96441"/>
                  <a:pt x="69652" y="96441"/>
                </a:cubicBezTo>
                <a:lnTo>
                  <a:pt x="80367" y="96441"/>
                </a:lnTo>
                <a:cubicBezTo>
                  <a:pt x="83314" y="96441"/>
                  <a:pt x="85725" y="94030"/>
                  <a:pt x="85725" y="91083"/>
                </a:cubicBezTo>
                <a:lnTo>
                  <a:pt x="85725" y="80367"/>
                </a:lnTo>
                <a:cubicBezTo>
                  <a:pt x="85725" y="77420"/>
                  <a:pt x="83314" y="75009"/>
                  <a:pt x="80367" y="75009"/>
                </a:cubicBezTo>
                <a:lnTo>
                  <a:pt x="69652" y="75009"/>
                </a:lnTo>
                <a:cubicBezTo>
                  <a:pt x="66705" y="75009"/>
                  <a:pt x="64294" y="77420"/>
                  <a:pt x="64294" y="80367"/>
                </a:cubicBezTo>
                <a:close/>
                <a:moveTo>
                  <a:pt x="112514" y="75009"/>
                </a:moveTo>
                <a:cubicBezTo>
                  <a:pt x="109567" y="75009"/>
                  <a:pt x="107156" y="77420"/>
                  <a:pt x="107156" y="80367"/>
                </a:cubicBezTo>
                <a:lnTo>
                  <a:pt x="107156" y="91083"/>
                </a:lnTo>
                <a:cubicBezTo>
                  <a:pt x="107156" y="94030"/>
                  <a:pt x="109567" y="96441"/>
                  <a:pt x="112514" y="96441"/>
                </a:cubicBezTo>
                <a:lnTo>
                  <a:pt x="123230" y="96441"/>
                </a:lnTo>
                <a:cubicBezTo>
                  <a:pt x="126176" y="96441"/>
                  <a:pt x="128588" y="94030"/>
                  <a:pt x="128588" y="91083"/>
                </a:cubicBezTo>
                <a:lnTo>
                  <a:pt x="128588" y="80367"/>
                </a:lnTo>
                <a:cubicBezTo>
                  <a:pt x="128588" y="77420"/>
                  <a:pt x="126176" y="75009"/>
                  <a:pt x="123230" y="75009"/>
                </a:cubicBezTo>
                <a:lnTo>
                  <a:pt x="112514" y="75009"/>
                </a:lnTo>
                <a:close/>
                <a:moveTo>
                  <a:pt x="21431" y="123230"/>
                </a:move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37505" y="139303"/>
                </a:lnTo>
                <a:cubicBezTo>
                  <a:pt x="40451" y="139303"/>
                  <a:pt x="42863" y="136892"/>
                  <a:pt x="42863" y="133945"/>
                </a:cubicBezTo>
                <a:lnTo>
                  <a:pt x="42863" y="123230"/>
                </a:lnTo>
                <a:cubicBezTo>
                  <a:pt x="42863" y="120283"/>
                  <a:pt x="40451" y="117872"/>
                  <a:pt x="37505" y="117872"/>
                </a:cubicBezTo>
                <a:lnTo>
                  <a:pt x="26789" y="117872"/>
                </a:lnTo>
                <a:cubicBezTo>
                  <a:pt x="23842" y="117872"/>
                  <a:pt x="21431" y="120283"/>
                  <a:pt x="21431" y="123230"/>
                </a:cubicBezTo>
                <a:close/>
                <a:moveTo>
                  <a:pt x="69652" y="117872"/>
                </a:moveTo>
                <a:cubicBezTo>
                  <a:pt x="66705" y="117872"/>
                  <a:pt x="64294" y="120283"/>
                  <a:pt x="64294" y="123230"/>
                </a:cubicBezTo>
                <a:lnTo>
                  <a:pt x="64294" y="133945"/>
                </a:lnTo>
                <a:cubicBezTo>
                  <a:pt x="64294" y="136892"/>
                  <a:pt x="66705" y="139303"/>
                  <a:pt x="69652" y="139303"/>
                </a:cubicBezTo>
                <a:lnTo>
                  <a:pt x="80367" y="139303"/>
                </a:lnTo>
                <a:cubicBezTo>
                  <a:pt x="83314" y="139303"/>
                  <a:pt x="85725" y="136892"/>
                  <a:pt x="85725" y="133945"/>
                </a:cubicBezTo>
                <a:lnTo>
                  <a:pt x="85725" y="123230"/>
                </a:lnTo>
                <a:cubicBezTo>
                  <a:pt x="85725" y="120283"/>
                  <a:pt x="83314" y="117872"/>
                  <a:pt x="80367" y="117872"/>
                </a:cubicBezTo>
                <a:lnTo>
                  <a:pt x="69652" y="117872"/>
                </a:lnTo>
                <a:close/>
                <a:moveTo>
                  <a:pt x="107156" y="123230"/>
                </a:moveTo>
                <a:lnTo>
                  <a:pt x="107156" y="133945"/>
                </a:lnTo>
                <a:cubicBezTo>
                  <a:pt x="107156" y="136892"/>
                  <a:pt x="109567" y="139303"/>
                  <a:pt x="112514" y="139303"/>
                </a:cubicBezTo>
                <a:lnTo>
                  <a:pt x="123230" y="139303"/>
                </a:lnTo>
                <a:cubicBezTo>
                  <a:pt x="126176" y="139303"/>
                  <a:pt x="128588" y="136892"/>
                  <a:pt x="128588" y="133945"/>
                </a:cubicBezTo>
                <a:lnTo>
                  <a:pt x="128588" y="123230"/>
                </a:lnTo>
                <a:cubicBezTo>
                  <a:pt x="128588" y="120283"/>
                  <a:pt x="126176" y="117872"/>
                  <a:pt x="123230" y="117872"/>
                </a:cubicBezTo>
                <a:lnTo>
                  <a:pt x="112514" y="117872"/>
                </a:lnTo>
                <a:cubicBezTo>
                  <a:pt x="109567" y="117872"/>
                  <a:pt x="107156" y="120283"/>
                  <a:pt x="107156" y="123230"/>
                </a:cubicBezTo>
                <a:close/>
              </a:path>
            </a:pathLst>
          </a:custGeom>
          <a:solidFill>
            <a:srgbClr val="F8F9FA">
              <a:alpha val="6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1445478" y="6096000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14350" y="571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40146"/>
                </a:moveTo>
                <a:lnTo>
                  <a:pt x="89669" y="32407"/>
                </a:lnTo>
                <a:cubicBezTo>
                  <a:pt x="80367" y="19534"/>
                  <a:pt x="65447" y="11906"/>
                  <a:pt x="49523" y="11906"/>
                </a:cubicBezTo>
                <a:cubicBezTo>
                  <a:pt x="22175" y="11906"/>
                  <a:pt x="0" y="34082"/>
                  <a:pt x="0" y="61429"/>
                </a:cubicBezTo>
                <a:lnTo>
                  <a:pt x="0" y="62396"/>
                </a:lnTo>
                <a:cubicBezTo>
                  <a:pt x="0" y="71177"/>
                  <a:pt x="2307" y="80256"/>
                  <a:pt x="6176" y="89297"/>
                </a:cubicBezTo>
                <a:lnTo>
                  <a:pt x="45616" y="89297"/>
                </a:lnTo>
                <a:cubicBezTo>
                  <a:pt x="46806" y="89297"/>
                  <a:pt x="47885" y="88590"/>
                  <a:pt x="48369" y="87474"/>
                </a:cubicBezTo>
                <a:lnTo>
                  <a:pt x="60201" y="59085"/>
                </a:lnTo>
                <a:cubicBezTo>
                  <a:pt x="61578" y="55811"/>
                  <a:pt x="64777" y="53653"/>
                  <a:pt x="68312" y="53578"/>
                </a:cubicBezTo>
                <a:cubicBezTo>
                  <a:pt x="71847" y="53504"/>
                  <a:pt x="75121" y="55587"/>
                  <a:pt x="76572" y="58824"/>
                </a:cubicBezTo>
                <a:lnTo>
                  <a:pt x="95659" y="101203"/>
                </a:lnTo>
                <a:lnTo>
                  <a:pt x="111063" y="70396"/>
                </a:lnTo>
                <a:cubicBezTo>
                  <a:pt x="112588" y="67382"/>
                  <a:pt x="115677" y="65447"/>
                  <a:pt x="119063" y="65447"/>
                </a:cubicBezTo>
                <a:cubicBezTo>
                  <a:pt x="122448" y="65447"/>
                  <a:pt x="125537" y="67345"/>
                  <a:pt x="127062" y="70396"/>
                </a:cubicBezTo>
                <a:lnTo>
                  <a:pt x="135694" y="87623"/>
                </a:lnTo>
                <a:cubicBezTo>
                  <a:pt x="136215" y="88627"/>
                  <a:pt x="137220" y="89260"/>
                  <a:pt x="138373" y="89260"/>
                </a:cubicBezTo>
                <a:lnTo>
                  <a:pt x="184361" y="89260"/>
                </a:lnTo>
                <a:cubicBezTo>
                  <a:pt x="188268" y="80218"/>
                  <a:pt x="190537" y="71140"/>
                  <a:pt x="190537" y="62359"/>
                </a:cubicBezTo>
                <a:lnTo>
                  <a:pt x="190537" y="61392"/>
                </a:lnTo>
                <a:cubicBezTo>
                  <a:pt x="190500" y="34082"/>
                  <a:pt x="168325" y="11906"/>
                  <a:pt x="140977" y="11906"/>
                </a:cubicBezTo>
                <a:cubicBezTo>
                  <a:pt x="125090" y="11906"/>
                  <a:pt x="110133" y="19534"/>
                  <a:pt x="100831" y="32407"/>
                </a:cubicBezTo>
                <a:lnTo>
                  <a:pt x="95250" y="40109"/>
                </a:lnTo>
                <a:close/>
                <a:moveTo>
                  <a:pt x="174724" y="107156"/>
                </a:moveTo>
                <a:lnTo>
                  <a:pt x="138336" y="107156"/>
                </a:lnTo>
                <a:cubicBezTo>
                  <a:pt x="130448" y="107156"/>
                  <a:pt x="123230" y="102691"/>
                  <a:pt x="119695" y="95622"/>
                </a:cubicBezTo>
                <a:lnTo>
                  <a:pt x="119063" y="94357"/>
                </a:lnTo>
                <a:lnTo>
                  <a:pt x="103250" y="126020"/>
                </a:lnTo>
                <a:cubicBezTo>
                  <a:pt x="101724" y="129108"/>
                  <a:pt x="98524" y="131043"/>
                  <a:pt x="95064" y="130969"/>
                </a:cubicBezTo>
                <a:cubicBezTo>
                  <a:pt x="91604" y="130894"/>
                  <a:pt x="88516" y="128848"/>
                  <a:pt x="87102" y="125723"/>
                </a:cubicBezTo>
                <a:lnTo>
                  <a:pt x="68759" y="84981"/>
                </a:lnTo>
                <a:lnTo>
                  <a:pt x="64852" y="94357"/>
                </a:lnTo>
                <a:cubicBezTo>
                  <a:pt x="61615" y="102133"/>
                  <a:pt x="54025" y="107193"/>
                  <a:pt x="45616" y="107193"/>
                </a:cubicBezTo>
                <a:lnTo>
                  <a:pt x="15776" y="107193"/>
                </a:lnTo>
                <a:cubicBezTo>
                  <a:pt x="33338" y="134652"/>
                  <a:pt x="61540" y="159916"/>
                  <a:pt x="79177" y="173385"/>
                </a:cubicBezTo>
                <a:cubicBezTo>
                  <a:pt x="83790" y="176882"/>
                  <a:pt x="89446" y="178631"/>
                  <a:pt x="95213" y="178631"/>
                </a:cubicBezTo>
                <a:cubicBezTo>
                  <a:pt x="100980" y="178631"/>
                  <a:pt x="106673" y="176919"/>
                  <a:pt x="111249" y="173385"/>
                </a:cubicBezTo>
                <a:cubicBezTo>
                  <a:pt x="128960" y="159879"/>
                  <a:pt x="157163" y="134615"/>
                  <a:pt x="174724" y="107156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Santé Publique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2724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Contexte et Enjeux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257300"/>
            <a:ext cx="3667125" cy="3829050"/>
          </a:xfrm>
          <a:custGeom>
            <a:avLst/>
            <a:gdLst/>
            <a:ahLst/>
            <a:cxnLst/>
            <a:rect l="l" t="t" r="r" b="b"/>
            <a:pathLst>
              <a:path w="3667125" h="3829050">
                <a:moveTo>
                  <a:pt x="38100" y="0"/>
                </a:moveTo>
                <a:lnTo>
                  <a:pt x="3514719" y="0"/>
                </a:lnTo>
                <a:cubicBezTo>
                  <a:pt x="3598834" y="0"/>
                  <a:pt x="3667125" y="68291"/>
                  <a:pt x="3667125" y="152406"/>
                </a:cubicBezTo>
                <a:lnTo>
                  <a:pt x="3667125" y="3676644"/>
                </a:lnTo>
                <a:cubicBezTo>
                  <a:pt x="3667125" y="3760759"/>
                  <a:pt x="3598834" y="3829050"/>
                  <a:pt x="3514719" y="3829050"/>
                </a:cubicBezTo>
                <a:lnTo>
                  <a:pt x="38100" y="3829050"/>
                </a:lnTo>
                <a:cubicBezTo>
                  <a:pt x="17072" y="3829050"/>
                  <a:pt x="0" y="3811978"/>
                  <a:pt x="0" y="3790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1257300"/>
            <a:ext cx="38100" cy="3829050"/>
          </a:xfrm>
          <a:custGeom>
            <a:avLst/>
            <a:gdLst/>
            <a:ahLst/>
            <a:cxnLst/>
            <a:rect l="l" t="t" r="r" b="b"/>
            <a:pathLst>
              <a:path w="38100" h="3829050">
                <a:moveTo>
                  <a:pt x="38100" y="0"/>
                </a:moveTo>
                <a:lnTo>
                  <a:pt x="38100" y="0"/>
                </a:lnTo>
                <a:lnTo>
                  <a:pt x="38100" y="3829050"/>
                </a:lnTo>
                <a:lnTo>
                  <a:pt x="38100" y="3829050"/>
                </a:lnTo>
                <a:cubicBezTo>
                  <a:pt x="17072" y="3829050"/>
                  <a:pt x="0" y="3811978"/>
                  <a:pt x="0" y="3790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8" name="Shape 6"/>
          <p:cNvSpPr/>
          <p:nvPr/>
        </p:nvSpPr>
        <p:spPr>
          <a:xfrm>
            <a:off x="64770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92956" y="16573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53578"/>
                </a:moveTo>
                <a:cubicBezTo>
                  <a:pt x="142875" y="23999"/>
                  <a:pt x="116235" y="0"/>
                  <a:pt x="83344" y="0"/>
                </a:cubicBezTo>
                <a:cubicBezTo>
                  <a:pt x="50453" y="0"/>
                  <a:pt x="23812" y="23999"/>
                  <a:pt x="23812" y="53578"/>
                </a:cubicBezTo>
                <a:cubicBezTo>
                  <a:pt x="23812" y="71103"/>
                  <a:pt x="33151" y="86655"/>
                  <a:pt x="47625" y="96441"/>
                </a:cubicBezTo>
                <a:lnTo>
                  <a:pt x="47625" y="107156"/>
                </a:lnTo>
                <a:cubicBezTo>
                  <a:pt x="47625" y="113742"/>
                  <a:pt x="52946" y="119063"/>
                  <a:pt x="59531" y="119063"/>
                </a:cubicBezTo>
                <a:lnTo>
                  <a:pt x="107156" y="119063"/>
                </a:lnTo>
                <a:cubicBezTo>
                  <a:pt x="113742" y="119063"/>
                  <a:pt x="119063" y="113742"/>
                  <a:pt x="119063" y="107156"/>
                </a:cubicBezTo>
                <a:lnTo>
                  <a:pt x="119063" y="96441"/>
                </a:lnTo>
                <a:cubicBezTo>
                  <a:pt x="133536" y="86655"/>
                  <a:pt x="142875" y="71103"/>
                  <a:pt x="142875" y="53578"/>
                </a:cubicBezTo>
                <a:close/>
                <a:moveTo>
                  <a:pt x="59531" y="47625"/>
                </a:moveTo>
                <a:cubicBezTo>
                  <a:pt x="66102" y="47625"/>
                  <a:pt x="71438" y="52960"/>
                  <a:pt x="71438" y="59531"/>
                </a:cubicBezTo>
                <a:cubicBezTo>
                  <a:pt x="71438" y="66102"/>
                  <a:pt x="66102" y="71438"/>
                  <a:pt x="59531" y="71438"/>
                </a:cubicBezTo>
                <a:cubicBezTo>
                  <a:pt x="52960" y="71438"/>
                  <a:pt x="47625" y="66102"/>
                  <a:pt x="47625" y="59531"/>
                </a:cubicBezTo>
                <a:cubicBezTo>
                  <a:pt x="47625" y="52960"/>
                  <a:pt x="52960" y="47625"/>
                  <a:pt x="59531" y="47625"/>
                </a:cubicBezTo>
                <a:close/>
                <a:moveTo>
                  <a:pt x="95250" y="59531"/>
                </a:moveTo>
                <a:cubicBezTo>
                  <a:pt x="95250" y="52960"/>
                  <a:pt x="100585" y="47625"/>
                  <a:pt x="107156" y="47625"/>
                </a:cubicBezTo>
                <a:cubicBezTo>
                  <a:pt x="113727" y="47625"/>
                  <a:pt x="119063" y="52960"/>
                  <a:pt x="119063" y="59531"/>
                </a:cubicBezTo>
                <a:cubicBezTo>
                  <a:pt x="119063" y="66102"/>
                  <a:pt x="113727" y="71438"/>
                  <a:pt x="107156" y="71438"/>
                </a:cubicBezTo>
                <a:cubicBezTo>
                  <a:pt x="100585" y="71438"/>
                  <a:pt x="95250" y="66102"/>
                  <a:pt x="95250" y="59531"/>
                </a:cubicBezTo>
                <a:close/>
                <a:moveTo>
                  <a:pt x="165757" y="126392"/>
                </a:moveTo>
                <a:cubicBezTo>
                  <a:pt x="163227" y="120328"/>
                  <a:pt x="156270" y="117463"/>
                  <a:pt x="150205" y="119993"/>
                </a:cubicBezTo>
                <a:lnTo>
                  <a:pt x="83344" y="147824"/>
                </a:lnTo>
                <a:lnTo>
                  <a:pt x="16483" y="119993"/>
                </a:lnTo>
                <a:cubicBezTo>
                  <a:pt x="10418" y="117463"/>
                  <a:pt x="3460" y="120328"/>
                  <a:pt x="930" y="126392"/>
                </a:cubicBezTo>
                <a:cubicBezTo>
                  <a:pt x="-1600" y="132457"/>
                  <a:pt x="1265" y="139415"/>
                  <a:pt x="7330" y="141945"/>
                </a:cubicBezTo>
                <a:lnTo>
                  <a:pt x="52388" y="160734"/>
                </a:lnTo>
                <a:lnTo>
                  <a:pt x="7330" y="179524"/>
                </a:lnTo>
                <a:cubicBezTo>
                  <a:pt x="1265" y="182054"/>
                  <a:pt x="-1600" y="189012"/>
                  <a:pt x="930" y="195076"/>
                </a:cubicBezTo>
                <a:cubicBezTo>
                  <a:pt x="3460" y="201141"/>
                  <a:pt x="10418" y="204006"/>
                  <a:pt x="16483" y="201476"/>
                </a:cubicBezTo>
                <a:lnTo>
                  <a:pt x="83344" y="173645"/>
                </a:lnTo>
                <a:lnTo>
                  <a:pt x="150205" y="201476"/>
                </a:lnTo>
                <a:cubicBezTo>
                  <a:pt x="156270" y="204006"/>
                  <a:pt x="163227" y="201141"/>
                  <a:pt x="165757" y="195076"/>
                </a:cubicBezTo>
                <a:cubicBezTo>
                  <a:pt x="168287" y="189012"/>
                  <a:pt x="165422" y="182054"/>
                  <a:pt x="159358" y="179524"/>
                </a:cubicBezTo>
                <a:lnTo>
                  <a:pt x="114300" y="160734"/>
                </a:lnTo>
                <a:lnTo>
                  <a:pt x="159358" y="141945"/>
                </a:lnTo>
                <a:cubicBezTo>
                  <a:pt x="165422" y="139415"/>
                  <a:pt x="168287" y="132457"/>
                  <a:pt x="165757" y="126392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148590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Décès Annuels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19200" y="1638300"/>
            <a:ext cx="1162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D95D5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17,9M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700" y="2171700"/>
            <a:ext cx="3267075" cy="2181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17,9 millions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 décès annuels dus aux maladies cardiovasculaires selon l'OMS (2023)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7700" y="4505325"/>
            <a:ext cx="3190875" cy="9525"/>
          </a:xfrm>
          <a:custGeom>
            <a:avLst/>
            <a:gdLst/>
            <a:ahLst/>
            <a:cxnLst/>
            <a:rect l="l" t="t" r="r" b="b"/>
            <a:pathLst>
              <a:path w="3190875" h="9525">
                <a:moveTo>
                  <a:pt x="0" y="0"/>
                </a:moveTo>
                <a:lnTo>
                  <a:pt x="3190875" y="0"/>
                </a:lnTo>
                <a:lnTo>
                  <a:pt x="31908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75084" y="469106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15" name="Text 13"/>
          <p:cNvSpPr/>
          <p:nvPr/>
        </p:nvSpPr>
        <p:spPr>
          <a:xfrm>
            <a:off x="876300" y="4662488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OMS, 2023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73525" y="1257300"/>
            <a:ext cx="3667125" cy="3829050"/>
          </a:xfrm>
          <a:custGeom>
            <a:avLst/>
            <a:gdLst/>
            <a:ahLst/>
            <a:cxnLst/>
            <a:rect l="l" t="t" r="r" b="b"/>
            <a:pathLst>
              <a:path w="3667125" h="3829050">
                <a:moveTo>
                  <a:pt x="38100" y="0"/>
                </a:moveTo>
                <a:lnTo>
                  <a:pt x="3514719" y="0"/>
                </a:lnTo>
                <a:cubicBezTo>
                  <a:pt x="3598834" y="0"/>
                  <a:pt x="3667125" y="68291"/>
                  <a:pt x="3667125" y="152406"/>
                </a:cubicBezTo>
                <a:lnTo>
                  <a:pt x="3667125" y="3676644"/>
                </a:lnTo>
                <a:cubicBezTo>
                  <a:pt x="3667125" y="3760759"/>
                  <a:pt x="3598834" y="3829050"/>
                  <a:pt x="3514719" y="3829050"/>
                </a:cubicBezTo>
                <a:lnTo>
                  <a:pt x="38100" y="3829050"/>
                </a:lnTo>
                <a:cubicBezTo>
                  <a:pt x="17072" y="3829050"/>
                  <a:pt x="0" y="3811978"/>
                  <a:pt x="0" y="3790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73525" y="1257300"/>
            <a:ext cx="38100" cy="3829050"/>
          </a:xfrm>
          <a:custGeom>
            <a:avLst/>
            <a:gdLst/>
            <a:ahLst/>
            <a:cxnLst/>
            <a:rect l="l" t="t" r="r" b="b"/>
            <a:pathLst>
              <a:path w="38100" h="3829050">
                <a:moveTo>
                  <a:pt x="38100" y="0"/>
                </a:moveTo>
                <a:lnTo>
                  <a:pt x="38100" y="0"/>
                </a:lnTo>
                <a:lnTo>
                  <a:pt x="38100" y="3829050"/>
                </a:lnTo>
                <a:lnTo>
                  <a:pt x="38100" y="3829050"/>
                </a:lnTo>
                <a:cubicBezTo>
                  <a:pt x="17072" y="3829050"/>
                  <a:pt x="0" y="3811978"/>
                  <a:pt x="0" y="3790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21175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3A4A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654525" y="1657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92675" y="1485900"/>
            <a:ext cx="144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Classement Mondial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92675" y="163830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#1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21175" y="2171700"/>
            <a:ext cx="3267075" cy="2181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Première cause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 décès mondiale, devant le cancer et le diabète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21175" y="4505325"/>
            <a:ext cx="3190875" cy="9525"/>
          </a:xfrm>
          <a:custGeom>
            <a:avLst/>
            <a:gdLst/>
            <a:ahLst/>
            <a:cxnLst/>
            <a:rect l="l" t="t" r="r" b="b"/>
            <a:pathLst>
              <a:path w="3190875" h="9525">
                <a:moveTo>
                  <a:pt x="0" y="0"/>
                </a:moveTo>
                <a:lnTo>
                  <a:pt x="3190875" y="0"/>
                </a:lnTo>
                <a:lnTo>
                  <a:pt x="31908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4" name="Shape 22"/>
          <p:cNvSpPr/>
          <p:nvPr/>
        </p:nvSpPr>
        <p:spPr>
          <a:xfrm>
            <a:off x="4540225" y="469106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25" name="Text 23"/>
          <p:cNvSpPr/>
          <p:nvPr/>
        </p:nvSpPr>
        <p:spPr>
          <a:xfrm>
            <a:off x="4749775" y="4662488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global majeur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47000" y="1257300"/>
            <a:ext cx="3667125" cy="3829050"/>
          </a:xfrm>
          <a:custGeom>
            <a:avLst/>
            <a:gdLst/>
            <a:ahLst/>
            <a:cxnLst/>
            <a:rect l="l" t="t" r="r" b="b"/>
            <a:pathLst>
              <a:path w="3667125" h="3829050">
                <a:moveTo>
                  <a:pt x="38100" y="0"/>
                </a:moveTo>
                <a:lnTo>
                  <a:pt x="3514719" y="0"/>
                </a:lnTo>
                <a:cubicBezTo>
                  <a:pt x="3598834" y="0"/>
                  <a:pt x="3667125" y="68291"/>
                  <a:pt x="3667125" y="152406"/>
                </a:cubicBezTo>
                <a:lnTo>
                  <a:pt x="3667125" y="3676644"/>
                </a:lnTo>
                <a:cubicBezTo>
                  <a:pt x="3667125" y="3760759"/>
                  <a:pt x="3598834" y="3829050"/>
                  <a:pt x="3514719" y="3829050"/>
                </a:cubicBezTo>
                <a:lnTo>
                  <a:pt x="38100" y="3829050"/>
                </a:lnTo>
                <a:cubicBezTo>
                  <a:pt x="17072" y="3829050"/>
                  <a:pt x="0" y="3811978"/>
                  <a:pt x="0" y="3790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47000" y="1257300"/>
            <a:ext cx="38100" cy="3829050"/>
          </a:xfrm>
          <a:custGeom>
            <a:avLst/>
            <a:gdLst/>
            <a:ahLst/>
            <a:cxnLst/>
            <a:rect l="l" t="t" r="r" b="b"/>
            <a:pathLst>
              <a:path w="38100" h="3829050">
                <a:moveTo>
                  <a:pt x="38100" y="0"/>
                </a:moveTo>
                <a:lnTo>
                  <a:pt x="38100" y="0"/>
                </a:lnTo>
                <a:lnTo>
                  <a:pt x="38100" y="3829050"/>
                </a:lnTo>
                <a:lnTo>
                  <a:pt x="38100" y="3829050"/>
                </a:lnTo>
                <a:cubicBezTo>
                  <a:pt x="17072" y="3829050"/>
                  <a:pt x="0" y="3811978"/>
                  <a:pt x="0" y="3790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28" name="Shape 26"/>
          <p:cNvSpPr/>
          <p:nvPr/>
        </p:nvSpPr>
        <p:spPr>
          <a:xfrm>
            <a:off x="839465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7C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528000" y="1657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30" name="Text 28"/>
          <p:cNvSpPr/>
          <p:nvPr/>
        </p:nvSpPr>
        <p:spPr>
          <a:xfrm>
            <a:off x="8966150" y="1485900"/>
            <a:ext cx="819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Prévention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966150" y="1638300"/>
            <a:ext cx="933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A6D7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80%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94650" y="2171700"/>
            <a:ext cx="3267075" cy="2181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80% des cas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sont évitables avec une détection précoce et des changements de mode de vie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94650" y="4505325"/>
            <a:ext cx="3190875" cy="9525"/>
          </a:xfrm>
          <a:custGeom>
            <a:avLst/>
            <a:gdLst/>
            <a:ahLst/>
            <a:cxnLst/>
            <a:rect l="l" t="t" r="r" b="b"/>
            <a:pathLst>
              <a:path w="3190875" h="9525">
                <a:moveTo>
                  <a:pt x="0" y="0"/>
                </a:moveTo>
                <a:lnTo>
                  <a:pt x="3190875" y="0"/>
                </a:lnTo>
                <a:lnTo>
                  <a:pt x="31908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4" name="Shape 32"/>
          <p:cNvSpPr/>
          <p:nvPr/>
        </p:nvSpPr>
        <p:spPr>
          <a:xfrm>
            <a:off x="8413700" y="469106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28102"/>
                </a:moveTo>
                <a:lnTo>
                  <a:pt x="62768" y="22685"/>
                </a:lnTo>
                <a:cubicBezTo>
                  <a:pt x="56257" y="13674"/>
                  <a:pt x="45813" y="8334"/>
                  <a:pt x="34666" y="8334"/>
                </a:cubicBezTo>
                <a:cubicBezTo>
                  <a:pt x="15523" y="8334"/>
                  <a:pt x="0" y="23857"/>
                  <a:pt x="0" y="43000"/>
                </a:cubicBezTo>
                <a:lnTo>
                  <a:pt x="0" y="43677"/>
                </a:lnTo>
                <a:cubicBezTo>
                  <a:pt x="0" y="49824"/>
                  <a:pt x="1615" y="56179"/>
                  <a:pt x="4323" y="62508"/>
                </a:cubicBezTo>
                <a:lnTo>
                  <a:pt x="31931" y="62508"/>
                </a:lnTo>
                <a:cubicBezTo>
                  <a:pt x="32765" y="62508"/>
                  <a:pt x="33520" y="62013"/>
                  <a:pt x="33858" y="61232"/>
                </a:cubicBezTo>
                <a:lnTo>
                  <a:pt x="42141" y="41359"/>
                </a:lnTo>
                <a:cubicBezTo>
                  <a:pt x="43104" y="39067"/>
                  <a:pt x="45344" y="37557"/>
                  <a:pt x="47818" y="37505"/>
                </a:cubicBezTo>
                <a:cubicBezTo>
                  <a:pt x="50293" y="37453"/>
                  <a:pt x="52585" y="38911"/>
                  <a:pt x="53600" y="41177"/>
                </a:cubicBezTo>
                <a:lnTo>
                  <a:pt x="66961" y="70842"/>
                </a:lnTo>
                <a:lnTo>
                  <a:pt x="77744" y="49277"/>
                </a:lnTo>
                <a:cubicBezTo>
                  <a:pt x="78812" y="47167"/>
                  <a:pt x="80974" y="45813"/>
                  <a:pt x="83344" y="45813"/>
                </a:cubicBezTo>
                <a:cubicBezTo>
                  <a:pt x="85714" y="45813"/>
                  <a:pt x="87876" y="47141"/>
                  <a:pt x="88943" y="49277"/>
                </a:cubicBezTo>
                <a:lnTo>
                  <a:pt x="94986" y="61336"/>
                </a:lnTo>
                <a:cubicBezTo>
                  <a:pt x="95350" y="62039"/>
                  <a:pt x="96054" y="62482"/>
                  <a:pt x="96861" y="62482"/>
                </a:cubicBezTo>
                <a:lnTo>
                  <a:pt x="129053" y="62482"/>
                </a:lnTo>
                <a:cubicBezTo>
                  <a:pt x="131787" y="56153"/>
                  <a:pt x="133376" y="49798"/>
                  <a:pt x="133376" y="43651"/>
                </a:cubicBezTo>
                <a:lnTo>
                  <a:pt x="133376" y="42974"/>
                </a:lnTo>
                <a:cubicBezTo>
                  <a:pt x="133350" y="23857"/>
                  <a:pt x="117827" y="8334"/>
                  <a:pt x="98684" y="8334"/>
                </a:cubicBezTo>
                <a:cubicBezTo>
                  <a:pt x="87563" y="8334"/>
                  <a:pt x="77093" y="13674"/>
                  <a:pt x="70582" y="22685"/>
                </a:cubicBezTo>
                <a:lnTo>
                  <a:pt x="66675" y="28076"/>
                </a:lnTo>
                <a:close/>
                <a:moveTo>
                  <a:pt x="122307" y="75009"/>
                </a:moveTo>
                <a:lnTo>
                  <a:pt x="96835" y="75009"/>
                </a:lnTo>
                <a:cubicBezTo>
                  <a:pt x="91313" y="75009"/>
                  <a:pt x="86261" y="71884"/>
                  <a:pt x="83787" y="66935"/>
                </a:cubicBezTo>
                <a:lnTo>
                  <a:pt x="83344" y="66050"/>
                </a:lnTo>
                <a:lnTo>
                  <a:pt x="72275" y="88214"/>
                </a:lnTo>
                <a:cubicBezTo>
                  <a:pt x="71207" y="90376"/>
                  <a:pt x="68967" y="91730"/>
                  <a:pt x="66545" y="91678"/>
                </a:cubicBezTo>
                <a:cubicBezTo>
                  <a:pt x="64123" y="91626"/>
                  <a:pt x="61961" y="90194"/>
                  <a:pt x="60971" y="88006"/>
                </a:cubicBezTo>
                <a:lnTo>
                  <a:pt x="48131" y="59487"/>
                </a:lnTo>
                <a:lnTo>
                  <a:pt x="45396" y="66050"/>
                </a:lnTo>
                <a:cubicBezTo>
                  <a:pt x="43130" y="71493"/>
                  <a:pt x="37817" y="75035"/>
                  <a:pt x="31931" y="75035"/>
                </a:cubicBezTo>
                <a:lnTo>
                  <a:pt x="11043" y="75035"/>
                </a:lnTo>
                <a:cubicBezTo>
                  <a:pt x="23336" y="94257"/>
                  <a:pt x="43078" y="111941"/>
                  <a:pt x="55424" y="121369"/>
                </a:cubicBezTo>
                <a:cubicBezTo>
                  <a:pt x="58653" y="123818"/>
                  <a:pt x="62612" y="125042"/>
                  <a:pt x="66649" y="125042"/>
                </a:cubicBezTo>
                <a:cubicBezTo>
                  <a:pt x="70686" y="125042"/>
                  <a:pt x="74671" y="123844"/>
                  <a:pt x="77874" y="121369"/>
                </a:cubicBezTo>
                <a:cubicBezTo>
                  <a:pt x="90272" y="111915"/>
                  <a:pt x="110014" y="94231"/>
                  <a:pt x="122307" y="75009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35" name="Text 33"/>
          <p:cNvSpPr/>
          <p:nvPr/>
        </p:nvSpPr>
        <p:spPr>
          <a:xfrm>
            <a:off x="8623250" y="4662488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WHO CVD Report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1000" y="5272088"/>
            <a:ext cx="11430000" cy="1209675"/>
          </a:xfrm>
          <a:custGeom>
            <a:avLst/>
            <a:gdLst/>
            <a:ahLst/>
            <a:cxnLst/>
            <a:rect l="l" t="t" r="r" b="b"/>
            <a:pathLst>
              <a:path w="11430000" h="1209675">
                <a:moveTo>
                  <a:pt x="152395" y="0"/>
                </a:moveTo>
                <a:lnTo>
                  <a:pt x="11277605" y="0"/>
                </a:lnTo>
                <a:cubicBezTo>
                  <a:pt x="11361714" y="0"/>
                  <a:pt x="11430000" y="68286"/>
                  <a:pt x="11430000" y="152395"/>
                </a:cubicBezTo>
                <a:lnTo>
                  <a:pt x="11430000" y="1057280"/>
                </a:lnTo>
                <a:cubicBezTo>
                  <a:pt x="11430000" y="1141389"/>
                  <a:pt x="11361714" y="1209675"/>
                  <a:pt x="11277605" y="1209675"/>
                </a:cubicBezTo>
                <a:lnTo>
                  <a:pt x="152395" y="1209675"/>
                </a:lnTo>
                <a:cubicBezTo>
                  <a:pt x="68286" y="1209675"/>
                  <a:pt x="0" y="1141389"/>
                  <a:pt x="0" y="1057280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A4A"/>
              </a:gs>
              <a:gs pos="100000">
                <a:srgbClr val="4A6D7C"/>
              </a:gs>
            </a:gsLst>
            <a:lin ang="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71500" y="54625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5D5D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28663" y="559593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39" name="Text 37"/>
          <p:cNvSpPr/>
          <p:nvPr/>
        </p:nvSpPr>
        <p:spPr>
          <a:xfrm>
            <a:off x="1181100" y="5462588"/>
            <a:ext cx="10506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 de Recherche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81100" y="5729288"/>
            <a:ext cx="105251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Comment construire un classificateur ML fiable capable de prédire les maladies cardiovasculaires à partir de données cliniques et de mode de vie ?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3A4A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26256" y="5715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3324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Données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Stratégie Multi-Sources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0668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Fusion de trois cohortes complémentaires pour améliorer la généralisation du modèle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543050"/>
            <a:ext cx="3705225" cy="3905250"/>
          </a:xfrm>
          <a:custGeom>
            <a:avLst/>
            <a:gdLst/>
            <a:ahLst/>
            <a:cxnLst/>
            <a:rect l="l" t="t" r="r" b="b"/>
            <a:pathLst>
              <a:path w="3705225" h="39052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790944"/>
                </a:lnTo>
                <a:cubicBezTo>
                  <a:pt x="3705225" y="3854073"/>
                  <a:pt x="3654048" y="3905250"/>
                  <a:pt x="3590919" y="3905250"/>
                </a:cubicBezTo>
                <a:lnTo>
                  <a:pt x="114306" y="3905250"/>
                </a:lnTo>
                <a:cubicBezTo>
                  <a:pt x="51177" y="3905250"/>
                  <a:pt x="0" y="3854073"/>
                  <a:pt x="0" y="37909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1000" y="15430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9" name="Shape 7"/>
          <p:cNvSpPr/>
          <p:nvPr/>
        </p:nvSpPr>
        <p:spPr>
          <a:xfrm>
            <a:off x="571500" y="1790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941" y="18954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42863" y="21431"/>
                </a:moveTo>
                <a:cubicBezTo>
                  <a:pt x="42863" y="9611"/>
                  <a:pt x="52473" y="0"/>
                  <a:pt x="64294" y="0"/>
                </a:cubicBezTo>
                <a:lnTo>
                  <a:pt x="128588" y="0"/>
                </a:lnTo>
                <a:cubicBezTo>
                  <a:pt x="140408" y="0"/>
                  <a:pt x="150019" y="9611"/>
                  <a:pt x="150019" y="21431"/>
                </a:cubicBezTo>
                <a:lnTo>
                  <a:pt x="150019" y="42863"/>
                </a:lnTo>
                <a:lnTo>
                  <a:pt x="171450" y="42863"/>
                </a:lnTo>
                <a:cubicBezTo>
                  <a:pt x="183271" y="42863"/>
                  <a:pt x="192881" y="52473"/>
                  <a:pt x="192881" y="64294"/>
                </a:cubicBezTo>
                <a:lnTo>
                  <a:pt x="192881" y="150019"/>
                </a:lnTo>
                <a:cubicBezTo>
                  <a:pt x="192881" y="161839"/>
                  <a:pt x="183271" y="171450"/>
                  <a:pt x="171450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64294"/>
                </a:lnTo>
                <a:cubicBezTo>
                  <a:pt x="0" y="52473"/>
                  <a:pt x="9611" y="42863"/>
                  <a:pt x="21431" y="42863"/>
                </a:cubicBezTo>
                <a:lnTo>
                  <a:pt x="42863" y="42863"/>
                </a:lnTo>
                <a:lnTo>
                  <a:pt x="42863" y="21431"/>
                </a:lnTo>
                <a:close/>
                <a:moveTo>
                  <a:pt x="91083" y="117872"/>
                </a:moveTo>
                <a:cubicBezTo>
                  <a:pt x="85156" y="117872"/>
                  <a:pt x="80367" y="122660"/>
                  <a:pt x="80367" y="128588"/>
                </a:cubicBezTo>
                <a:lnTo>
                  <a:pt x="80367" y="155377"/>
                </a:lnTo>
                <a:lnTo>
                  <a:pt x="112514" y="155377"/>
                </a:lnTo>
                <a:lnTo>
                  <a:pt x="112514" y="128588"/>
                </a:lnTo>
                <a:cubicBezTo>
                  <a:pt x="112514" y="122660"/>
                  <a:pt x="107726" y="117872"/>
                  <a:pt x="101798" y="117872"/>
                </a:cubicBezTo>
                <a:lnTo>
                  <a:pt x="91083" y="117872"/>
                </a:lnTo>
                <a:close/>
                <a:moveTo>
                  <a:pt x="42863" y="123230"/>
                </a:moveTo>
                <a:lnTo>
                  <a:pt x="42863" y="112514"/>
                </a:lnTo>
                <a:cubicBezTo>
                  <a:pt x="42863" y="109567"/>
                  <a:pt x="40451" y="107156"/>
                  <a:pt x="37505" y="107156"/>
                </a:cubicBezTo>
                <a:lnTo>
                  <a:pt x="26789" y="107156"/>
                </a:lnTo>
                <a:cubicBezTo>
                  <a:pt x="23842" y="107156"/>
                  <a:pt x="21431" y="109567"/>
                  <a:pt x="21431" y="112514"/>
                </a:cubicBezTo>
                <a:lnTo>
                  <a:pt x="21431" y="123230"/>
                </a:lnTo>
                <a:cubicBezTo>
                  <a:pt x="21431" y="126176"/>
                  <a:pt x="23842" y="128588"/>
                  <a:pt x="26789" y="128588"/>
                </a:cubicBezTo>
                <a:lnTo>
                  <a:pt x="37505" y="128588"/>
                </a:lnTo>
                <a:cubicBezTo>
                  <a:pt x="40451" y="128588"/>
                  <a:pt x="42863" y="126176"/>
                  <a:pt x="42863" y="123230"/>
                </a:cubicBezTo>
                <a:close/>
                <a:moveTo>
                  <a:pt x="37505" y="85725"/>
                </a:moveTo>
                <a:cubicBezTo>
                  <a:pt x="40451" y="85725"/>
                  <a:pt x="42863" y="83314"/>
                  <a:pt x="42863" y="80367"/>
                </a:cubicBezTo>
                <a:lnTo>
                  <a:pt x="42863" y="69652"/>
                </a:lnTo>
                <a:cubicBezTo>
                  <a:pt x="42863" y="66705"/>
                  <a:pt x="40451" y="64294"/>
                  <a:pt x="37505" y="64294"/>
                </a:cubicBezTo>
                <a:lnTo>
                  <a:pt x="26789" y="64294"/>
                </a:lnTo>
                <a:cubicBezTo>
                  <a:pt x="23842" y="64294"/>
                  <a:pt x="21431" y="66705"/>
                  <a:pt x="21431" y="69652"/>
                </a:cubicBezTo>
                <a:lnTo>
                  <a:pt x="21431" y="80367"/>
                </a:lnTo>
                <a:cubicBezTo>
                  <a:pt x="21431" y="83314"/>
                  <a:pt x="23842" y="85725"/>
                  <a:pt x="26789" y="85725"/>
                </a:cubicBezTo>
                <a:lnTo>
                  <a:pt x="37505" y="85725"/>
                </a:lnTo>
                <a:close/>
                <a:moveTo>
                  <a:pt x="171450" y="123230"/>
                </a:moveTo>
                <a:lnTo>
                  <a:pt x="171450" y="112514"/>
                </a:lnTo>
                <a:cubicBezTo>
                  <a:pt x="171450" y="109567"/>
                  <a:pt x="169039" y="107156"/>
                  <a:pt x="166092" y="107156"/>
                </a:cubicBezTo>
                <a:lnTo>
                  <a:pt x="155377" y="107156"/>
                </a:lnTo>
                <a:cubicBezTo>
                  <a:pt x="152430" y="107156"/>
                  <a:pt x="150019" y="109567"/>
                  <a:pt x="150019" y="112514"/>
                </a:cubicBezTo>
                <a:lnTo>
                  <a:pt x="150019" y="123230"/>
                </a:lnTo>
                <a:cubicBezTo>
                  <a:pt x="150019" y="126176"/>
                  <a:pt x="152430" y="128588"/>
                  <a:pt x="155377" y="128588"/>
                </a:cubicBezTo>
                <a:lnTo>
                  <a:pt x="166092" y="128588"/>
                </a:lnTo>
                <a:cubicBezTo>
                  <a:pt x="169039" y="128588"/>
                  <a:pt x="171450" y="126176"/>
                  <a:pt x="171450" y="123230"/>
                </a:cubicBezTo>
                <a:close/>
                <a:moveTo>
                  <a:pt x="166092" y="85725"/>
                </a:moveTo>
                <a:cubicBezTo>
                  <a:pt x="169039" y="85725"/>
                  <a:pt x="171450" y="83314"/>
                  <a:pt x="171450" y="80367"/>
                </a:cubicBezTo>
                <a:lnTo>
                  <a:pt x="171450" y="69652"/>
                </a:lnTo>
                <a:cubicBezTo>
                  <a:pt x="171450" y="66705"/>
                  <a:pt x="169039" y="64294"/>
                  <a:pt x="166092" y="64294"/>
                </a:cubicBezTo>
                <a:lnTo>
                  <a:pt x="155377" y="64294"/>
                </a:lnTo>
                <a:cubicBezTo>
                  <a:pt x="152430" y="64294"/>
                  <a:pt x="150019" y="66705"/>
                  <a:pt x="150019" y="69652"/>
                </a:cubicBezTo>
                <a:lnTo>
                  <a:pt x="150019" y="80367"/>
                </a:lnTo>
                <a:cubicBezTo>
                  <a:pt x="150019" y="83314"/>
                  <a:pt x="152430" y="85725"/>
                  <a:pt x="155377" y="85725"/>
                </a:cubicBezTo>
                <a:lnTo>
                  <a:pt x="166092" y="85725"/>
                </a:lnTo>
                <a:close/>
                <a:moveTo>
                  <a:pt x="88404" y="34826"/>
                </a:moveTo>
                <a:lnTo>
                  <a:pt x="88404" y="45541"/>
                </a:lnTo>
                <a:lnTo>
                  <a:pt x="77688" y="45541"/>
                </a:lnTo>
                <a:cubicBezTo>
                  <a:pt x="74741" y="45541"/>
                  <a:pt x="72330" y="47952"/>
                  <a:pt x="72330" y="50899"/>
                </a:cubicBezTo>
                <a:lnTo>
                  <a:pt x="72330" y="56257"/>
                </a:lnTo>
                <a:cubicBezTo>
                  <a:pt x="72330" y="59204"/>
                  <a:pt x="74741" y="61615"/>
                  <a:pt x="77688" y="61615"/>
                </a:cubicBezTo>
                <a:lnTo>
                  <a:pt x="88404" y="61615"/>
                </a:lnTo>
                <a:lnTo>
                  <a:pt x="88404" y="72330"/>
                </a:lnTo>
                <a:cubicBezTo>
                  <a:pt x="88404" y="75277"/>
                  <a:pt x="90815" y="77688"/>
                  <a:pt x="93762" y="77688"/>
                </a:cubicBezTo>
                <a:lnTo>
                  <a:pt x="99120" y="77688"/>
                </a:lnTo>
                <a:cubicBezTo>
                  <a:pt x="102066" y="77688"/>
                  <a:pt x="104477" y="75277"/>
                  <a:pt x="104477" y="72330"/>
                </a:cubicBezTo>
                <a:lnTo>
                  <a:pt x="104477" y="61615"/>
                </a:lnTo>
                <a:lnTo>
                  <a:pt x="115193" y="61615"/>
                </a:lnTo>
                <a:cubicBezTo>
                  <a:pt x="118140" y="61615"/>
                  <a:pt x="120551" y="59204"/>
                  <a:pt x="120551" y="56257"/>
                </a:cubicBezTo>
                <a:lnTo>
                  <a:pt x="120551" y="50899"/>
                </a:lnTo>
                <a:cubicBezTo>
                  <a:pt x="120551" y="47952"/>
                  <a:pt x="118140" y="45541"/>
                  <a:pt x="115193" y="45541"/>
                </a:cubicBezTo>
                <a:lnTo>
                  <a:pt x="104477" y="45541"/>
                </a:lnTo>
                <a:lnTo>
                  <a:pt x="104477" y="34826"/>
                </a:lnTo>
                <a:cubicBezTo>
                  <a:pt x="104477" y="31879"/>
                  <a:pt x="102066" y="29468"/>
                  <a:pt x="99120" y="29468"/>
                </a:cubicBezTo>
                <a:lnTo>
                  <a:pt x="93762" y="29468"/>
                </a:lnTo>
                <a:cubicBezTo>
                  <a:pt x="90815" y="29468"/>
                  <a:pt x="88404" y="31879"/>
                  <a:pt x="88404" y="34826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1752600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UCI Heart Disease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6800" y="201930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Hospitalier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2709863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73881" y="246697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2438400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33849" y="2419350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1 025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3138488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8" name="Shape 16"/>
          <p:cNvSpPr/>
          <p:nvPr/>
        </p:nvSpPr>
        <p:spPr>
          <a:xfrm>
            <a:off x="590550" y="2895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418" y="12502"/>
                </a:moveTo>
                <a:cubicBezTo>
                  <a:pt x="6954" y="12502"/>
                  <a:pt x="4167" y="15288"/>
                  <a:pt x="4167" y="18752"/>
                </a:cubicBezTo>
                <a:lnTo>
                  <a:pt x="4167" y="31254"/>
                </a:lnTo>
                <a:cubicBezTo>
                  <a:pt x="4167" y="34718"/>
                  <a:pt x="6954" y="37505"/>
                  <a:pt x="10418" y="37505"/>
                </a:cubicBezTo>
                <a:lnTo>
                  <a:pt x="22920" y="37505"/>
                </a:lnTo>
                <a:cubicBezTo>
                  <a:pt x="26384" y="37505"/>
                  <a:pt x="29170" y="34718"/>
                  <a:pt x="29170" y="31254"/>
                </a:cubicBezTo>
                <a:lnTo>
                  <a:pt x="29170" y="18752"/>
                </a:lnTo>
                <a:cubicBezTo>
                  <a:pt x="29170" y="15288"/>
                  <a:pt x="26384" y="12502"/>
                  <a:pt x="22920" y="12502"/>
                </a:cubicBezTo>
                <a:lnTo>
                  <a:pt x="10418" y="12502"/>
                </a:lnTo>
                <a:close/>
                <a:moveTo>
                  <a:pt x="50006" y="16669"/>
                </a:moveTo>
                <a:cubicBezTo>
                  <a:pt x="45396" y="16669"/>
                  <a:pt x="41672" y="20393"/>
                  <a:pt x="41672" y="25003"/>
                </a:cubicBezTo>
                <a:cubicBezTo>
                  <a:pt x="41672" y="29613"/>
                  <a:pt x="45396" y="33337"/>
                  <a:pt x="50006" y="33337"/>
                </a:cubicBezTo>
                <a:lnTo>
                  <a:pt x="125016" y="33337"/>
                </a:lnTo>
                <a:cubicBezTo>
                  <a:pt x="129626" y="33337"/>
                  <a:pt x="133350" y="29613"/>
                  <a:pt x="133350" y="25003"/>
                </a:cubicBezTo>
                <a:cubicBezTo>
                  <a:pt x="133350" y="20393"/>
                  <a:pt x="129626" y="16669"/>
                  <a:pt x="125016" y="16669"/>
                </a:cubicBezTo>
                <a:lnTo>
                  <a:pt x="50006" y="16669"/>
                </a:lnTo>
                <a:close/>
                <a:moveTo>
                  <a:pt x="50006" y="58341"/>
                </a:moveTo>
                <a:cubicBezTo>
                  <a:pt x="45396" y="58341"/>
                  <a:pt x="41672" y="62065"/>
                  <a:pt x="41672" y="66675"/>
                </a:cubicBezTo>
                <a:cubicBezTo>
                  <a:pt x="41672" y="71285"/>
                  <a:pt x="45396" y="75009"/>
                  <a:pt x="50006" y="75009"/>
                </a:cubicBezTo>
                <a:lnTo>
                  <a:pt x="125016" y="75009"/>
                </a:lnTo>
                <a:cubicBezTo>
                  <a:pt x="129626" y="75009"/>
                  <a:pt x="133350" y="71285"/>
                  <a:pt x="133350" y="66675"/>
                </a:cubicBezTo>
                <a:cubicBezTo>
                  <a:pt x="133350" y="62065"/>
                  <a:pt x="129626" y="58341"/>
                  <a:pt x="125016" y="58341"/>
                </a:cubicBezTo>
                <a:lnTo>
                  <a:pt x="50006" y="58341"/>
                </a:lnTo>
                <a:close/>
                <a:moveTo>
                  <a:pt x="50006" y="100013"/>
                </a:moveTo>
                <a:cubicBezTo>
                  <a:pt x="45396" y="100013"/>
                  <a:pt x="41672" y="103737"/>
                  <a:pt x="41672" y="108347"/>
                </a:cubicBezTo>
                <a:cubicBezTo>
                  <a:pt x="41672" y="112957"/>
                  <a:pt x="45396" y="116681"/>
                  <a:pt x="50006" y="116681"/>
                </a:cubicBezTo>
                <a:lnTo>
                  <a:pt x="125016" y="116681"/>
                </a:lnTo>
                <a:cubicBezTo>
                  <a:pt x="129626" y="116681"/>
                  <a:pt x="133350" y="112957"/>
                  <a:pt x="133350" y="108347"/>
                </a:cubicBezTo>
                <a:cubicBezTo>
                  <a:pt x="133350" y="103737"/>
                  <a:pt x="129626" y="100013"/>
                  <a:pt x="125016" y="100013"/>
                </a:cubicBezTo>
                <a:lnTo>
                  <a:pt x="50006" y="100013"/>
                </a:lnTo>
                <a:close/>
                <a:moveTo>
                  <a:pt x="4167" y="60424"/>
                </a:moveTo>
                <a:lnTo>
                  <a:pt x="4167" y="72926"/>
                </a:lnTo>
                <a:cubicBezTo>
                  <a:pt x="4167" y="76390"/>
                  <a:pt x="6954" y="79177"/>
                  <a:pt x="10418" y="79177"/>
                </a:cubicBezTo>
                <a:lnTo>
                  <a:pt x="22920" y="79177"/>
                </a:lnTo>
                <a:cubicBezTo>
                  <a:pt x="26384" y="79177"/>
                  <a:pt x="29170" y="76390"/>
                  <a:pt x="29170" y="72926"/>
                </a:cubicBezTo>
                <a:lnTo>
                  <a:pt x="29170" y="60424"/>
                </a:lnTo>
                <a:cubicBezTo>
                  <a:pt x="29170" y="56960"/>
                  <a:pt x="26384" y="54173"/>
                  <a:pt x="22920" y="54173"/>
                </a:cubicBezTo>
                <a:lnTo>
                  <a:pt x="10418" y="54173"/>
                </a:lnTo>
                <a:cubicBezTo>
                  <a:pt x="6954" y="54173"/>
                  <a:pt x="4167" y="56960"/>
                  <a:pt x="4167" y="60424"/>
                </a:cubicBezTo>
                <a:close/>
                <a:moveTo>
                  <a:pt x="10418" y="95845"/>
                </a:moveTo>
                <a:cubicBezTo>
                  <a:pt x="6954" y="95845"/>
                  <a:pt x="4167" y="98632"/>
                  <a:pt x="4167" y="102096"/>
                </a:cubicBezTo>
                <a:lnTo>
                  <a:pt x="4167" y="114598"/>
                </a:lnTo>
                <a:cubicBezTo>
                  <a:pt x="4167" y="118062"/>
                  <a:pt x="6954" y="120848"/>
                  <a:pt x="10418" y="120848"/>
                </a:cubicBezTo>
                <a:lnTo>
                  <a:pt x="22920" y="120848"/>
                </a:lnTo>
                <a:cubicBezTo>
                  <a:pt x="26384" y="120848"/>
                  <a:pt x="29170" y="118062"/>
                  <a:pt x="29170" y="114598"/>
                </a:cubicBezTo>
                <a:lnTo>
                  <a:pt x="29170" y="102096"/>
                </a:lnTo>
                <a:cubicBezTo>
                  <a:pt x="29170" y="98632"/>
                  <a:pt x="26384" y="95845"/>
                  <a:pt x="22920" y="95845"/>
                </a:cubicBezTo>
                <a:lnTo>
                  <a:pt x="10418" y="95845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" y="2867025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48087" y="28479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" y="3567113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2" name="Shape 20"/>
          <p:cNvSpPr/>
          <p:nvPr/>
        </p:nvSpPr>
        <p:spPr>
          <a:xfrm>
            <a:off x="598884" y="33242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0006" y="33337"/>
                </a:moveTo>
                <a:cubicBezTo>
                  <a:pt x="50006" y="19538"/>
                  <a:pt x="38803" y="8334"/>
                  <a:pt x="25003" y="8334"/>
                </a:cubicBezTo>
                <a:cubicBezTo>
                  <a:pt x="11204" y="8334"/>
                  <a:pt x="0" y="19538"/>
                  <a:pt x="0" y="33337"/>
                </a:cubicBezTo>
                <a:cubicBezTo>
                  <a:pt x="0" y="47137"/>
                  <a:pt x="11204" y="58341"/>
                  <a:pt x="25003" y="58341"/>
                </a:cubicBezTo>
                <a:cubicBezTo>
                  <a:pt x="38803" y="58341"/>
                  <a:pt x="50006" y="47137"/>
                  <a:pt x="50006" y="33338"/>
                </a:cubicBezTo>
                <a:close/>
                <a:moveTo>
                  <a:pt x="116681" y="100013"/>
                </a:moveTo>
                <a:cubicBezTo>
                  <a:pt x="116681" y="86213"/>
                  <a:pt x="105478" y="75009"/>
                  <a:pt x="91678" y="75009"/>
                </a:cubicBezTo>
                <a:cubicBezTo>
                  <a:pt x="77879" y="75009"/>
                  <a:pt x="66675" y="86213"/>
                  <a:pt x="66675" y="100013"/>
                </a:cubicBezTo>
                <a:cubicBezTo>
                  <a:pt x="66675" y="113812"/>
                  <a:pt x="77879" y="125016"/>
                  <a:pt x="91678" y="125016"/>
                </a:cubicBezTo>
                <a:cubicBezTo>
                  <a:pt x="105478" y="125016"/>
                  <a:pt x="116681" y="113812"/>
                  <a:pt x="116681" y="100013"/>
                </a:cubicBezTo>
                <a:close/>
                <a:moveTo>
                  <a:pt x="114233" y="22555"/>
                </a:moveTo>
                <a:cubicBezTo>
                  <a:pt x="117489" y="19299"/>
                  <a:pt x="117489" y="14012"/>
                  <a:pt x="114233" y="10757"/>
                </a:cubicBezTo>
                <a:cubicBezTo>
                  <a:pt x="110977" y="7501"/>
                  <a:pt x="105690" y="7501"/>
                  <a:pt x="102435" y="10757"/>
                </a:cubicBezTo>
                <a:lnTo>
                  <a:pt x="2422" y="110769"/>
                </a:lnTo>
                <a:cubicBezTo>
                  <a:pt x="-833" y="114025"/>
                  <a:pt x="-833" y="119312"/>
                  <a:pt x="2422" y="122567"/>
                </a:cubicBezTo>
                <a:cubicBezTo>
                  <a:pt x="5678" y="125823"/>
                  <a:pt x="10965" y="125823"/>
                  <a:pt x="14221" y="122567"/>
                </a:cubicBezTo>
                <a:lnTo>
                  <a:pt x="114233" y="22555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23" name="Text 21"/>
          <p:cNvSpPr/>
          <p:nvPr/>
        </p:nvSpPr>
        <p:spPr>
          <a:xfrm>
            <a:off x="800100" y="3295650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Prévalence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16437" y="3276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95D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~46%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0550" y="3733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465" y="25003"/>
                </a:moveTo>
                <a:lnTo>
                  <a:pt x="8465" y="63940"/>
                </a:lnTo>
                <a:cubicBezTo>
                  <a:pt x="8465" y="68368"/>
                  <a:pt x="10210" y="72613"/>
                  <a:pt x="13335" y="75739"/>
                </a:cubicBezTo>
                <a:lnTo>
                  <a:pt x="63341" y="125745"/>
                </a:lnTo>
                <a:cubicBezTo>
                  <a:pt x="69852" y="132256"/>
                  <a:pt x="80401" y="132256"/>
                  <a:pt x="86912" y="125745"/>
                </a:cubicBezTo>
                <a:lnTo>
                  <a:pt x="125849" y="86808"/>
                </a:lnTo>
                <a:cubicBezTo>
                  <a:pt x="132360" y="80296"/>
                  <a:pt x="132360" y="69748"/>
                  <a:pt x="125849" y="63237"/>
                </a:cubicBezTo>
                <a:lnTo>
                  <a:pt x="75843" y="13231"/>
                </a:lnTo>
                <a:cubicBezTo>
                  <a:pt x="72717" y="10079"/>
                  <a:pt x="68498" y="8334"/>
                  <a:pt x="64071" y="8334"/>
                </a:cubicBezTo>
                <a:lnTo>
                  <a:pt x="25133" y="8334"/>
                </a:lnTo>
                <a:cubicBezTo>
                  <a:pt x="15939" y="8334"/>
                  <a:pt x="8465" y="15809"/>
                  <a:pt x="8465" y="25003"/>
                </a:cubicBezTo>
                <a:close/>
                <a:moveTo>
                  <a:pt x="37635" y="29170"/>
                </a:moveTo>
                <a:cubicBezTo>
                  <a:pt x="42235" y="29170"/>
                  <a:pt x="45969" y="32905"/>
                  <a:pt x="45969" y="37505"/>
                </a:cubicBezTo>
                <a:cubicBezTo>
                  <a:pt x="45969" y="42105"/>
                  <a:pt x="42235" y="45839"/>
                  <a:pt x="37635" y="45839"/>
                </a:cubicBezTo>
                <a:cubicBezTo>
                  <a:pt x="33035" y="45839"/>
                  <a:pt x="29301" y="42105"/>
                  <a:pt x="29301" y="37505"/>
                </a:cubicBezTo>
                <a:cubicBezTo>
                  <a:pt x="29301" y="32905"/>
                  <a:pt x="33035" y="29170"/>
                  <a:pt x="37635" y="2917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" y="3705225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714774" y="3705225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Diagnostic confirmé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1500" y="4986338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9" name="Shape 27"/>
          <p:cNvSpPr/>
          <p:nvPr/>
        </p:nvSpPr>
        <p:spPr>
          <a:xfrm>
            <a:off x="578644" y="5119688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93650" y="21431"/>
                </a:moveTo>
                <a:cubicBezTo>
                  <a:pt x="89944" y="21431"/>
                  <a:pt x="86350" y="22436"/>
                  <a:pt x="83202" y="24266"/>
                </a:cubicBezTo>
                <a:cubicBezTo>
                  <a:pt x="79675" y="20695"/>
                  <a:pt x="75567" y="17703"/>
                  <a:pt x="71036" y="15448"/>
                </a:cubicBezTo>
                <a:cubicBezTo>
                  <a:pt x="77331" y="10091"/>
                  <a:pt x="85345" y="7144"/>
                  <a:pt x="93650" y="7144"/>
                </a:cubicBezTo>
                <a:cubicBezTo>
                  <a:pt x="112938" y="7144"/>
                  <a:pt x="128588" y="22771"/>
                  <a:pt x="128588" y="42081"/>
                </a:cubicBezTo>
                <a:cubicBezTo>
                  <a:pt x="128588" y="51346"/>
                  <a:pt x="124904" y="60231"/>
                  <a:pt x="118363" y="66772"/>
                </a:cubicBezTo>
                <a:lnTo>
                  <a:pt x="102490" y="82644"/>
                </a:lnTo>
                <a:cubicBezTo>
                  <a:pt x="95949" y="89185"/>
                  <a:pt x="87064" y="92869"/>
                  <a:pt x="77800" y="92869"/>
                </a:cubicBezTo>
                <a:cubicBezTo>
                  <a:pt x="58512" y="92869"/>
                  <a:pt x="42863" y="77242"/>
                  <a:pt x="42863" y="57931"/>
                </a:cubicBezTo>
                <a:cubicBezTo>
                  <a:pt x="42863" y="57596"/>
                  <a:pt x="42863" y="57262"/>
                  <a:pt x="42885" y="56927"/>
                </a:cubicBezTo>
                <a:cubicBezTo>
                  <a:pt x="42996" y="52975"/>
                  <a:pt x="46278" y="49872"/>
                  <a:pt x="50229" y="49984"/>
                </a:cubicBezTo>
                <a:cubicBezTo>
                  <a:pt x="54181" y="50096"/>
                  <a:pt x="57284" y="53377"/>
                  <a:pt x="57172" y="57329"/>
                </a:cubicBezTo>
                <a:cubicBezTo>
                  <a:pt x="57172" y="57530"/>
                  <a:pt x="57172" y="57730"/>
                  <a:pt x="57172" y="57909"/>
                </a:cubicBezTo>
                <a:cubicBezTo>
                  <a:pt x="57172" y="69317"/>
                  <a:pt x="66415" y="78559"/>
                  <a:pt x="77822" y="78559"/>
                </a:cubicBezTo>
                <a:cubicBezTo>
                  <a:pt x="83292" y="78559"/>
                  <a:pt x="88538" y="76393"/>
                  <a:pt x="92422" y="72509"/>
                </a:cubicBezTo>
                <a:lnTo>
                  <a:pt x="108295" y="56637"/>
                </a:lnTo>
                <a:cubicBezTo>
                  <a:pt x="112157" y="52774"/>
                  <a:pt x="114345" y="47506"/>
                  <a:pt x="114345" y="42037"/>
                </a:cubicBezTo>
                <a:cubicBezTo>
                  <a:pt x="114345" y="30629"/>
                  <a:pt x="105102" y="21387"/>
                  <a:pt x="93695" y="21387"/>
                </a:cubicBezTo>
                <a:close/>
                <a:moveTo>
                  <a:pt x="61436" y="38688"/>
                </a:moveTo>
                <a:cubicBezTo>
                  <a:pt x="61012" y="38509"/>
                  <a:pt x="60588" y="38264"/>
                  <a:pt x="60208" y="37996"/>
                </a:cubicBezTo>
                <a:cubicBezTo>
                  <a:pt x="57396" y="36545"/>
                  <a:pt x="54181" y="35719"/>
                  <a:pt x="50810" y="35719"/>
                </a:cubicBezTo>
                <a:cubicBezTo>
                  <a:pt x="45340" y="35719"/>
                  <a:pt x="40094" y="37884"/>
                  <a:pt x="36210" y="41769"/>
                </a:cubicBezTo>
                <a:lnTo>
                  <a:pt x="20337" y="57641"/>
                </a:lnTo>
                <a:cubicBezTo>
                  <a:pt x="16475" y="61503"/>
                  <a:pt x="14288" y="66772"/>
                  <a:pt x="14288" y="72241"/>
                </a:cubicBezTo>
                <a:cubicBezTo>
                  <a:pt x="14288" y="83649"/>
                  <a:pt x="23530" y="92891"/>
                  <a:pt x="34937" y="92891"/>
                </a:cubicBezTo>
                <a:cubicBezTo>
                  <a:pt x="38621" y="92891"/>
                  <a:pt x="42215" y="91909"/>
                  <a:pt x="45363" y="90078"/>
                </a:cubicBezTo>
                <a:cubicBezTo>
                  <a:pt x="48890" y="93650"/>
                  <a:pt x="52998" y="96642"/>
                  <a:pt x="57552" y="98896"/>
                </a:cubicBezTo>
                <a:cubicBezTo>
                  <a:pt x="51256" y="104232"/>
                  <a:pt x="43264" y="107201"/>
                  <a:pt x="34937" y="107201"/>
                </a:cubicBezTo>
                <a:cubicBezTo>
                  <a:pt x="15649" y="107201"/>
                  <a:pt x="0" y="91574"/>
                  <a:pt x="0" y="72263"/>
                </a:cubicBezTo>
                <a:cubicBezTo>
                  <a:pt x="0" y="62999"/>
                  <a:pt x="3683" y="54114"/>
                  <a:pt x="10224" y="47573"/>
                </a:cubicBezTo>
                <a:lnTo>
                  <a:pt x="26097" y="31700"/>
                </a:lnTo>
                <a:cubicBezTo>
                  <a:pt x="32638" y="25159"/>
                  <a:pt x="41523" y="21476"/>
                  <a:pt x="50788" y="21476"/>
                </a:cubicBezTo>
                <a:cubicBezTo>
                  <a:pt x="70120" y="21476"/>
                  <a:pt x="85725" y="37237"/>
                  <a:pt x="85725" y="56503"/>
                </a:cubicBezTo>
                <a:cubicBezTo>
                  <a:pt x="85725" y="56793"/>
                  <a:pt x="85725" y="57083"/>
                  <a:pt x="85725" y="57373"/>
                </a:cubicBezTo>
                <a:cubicBezTo>
                  <a:pt x="85636" y="61325"/>
                  <a:pt x="82354" y="64428"/>
                  <a:pt x="78403" y="64338"/>
                </a:cubicBezTo>
                <a:cubicBezTo>
                  <a:pt x="74451" y="64249"/>
                  <a:pt x="71348" y="60967"/>
                  <a:pt x="71438" y="57016"/>
                </a:cubicBezTo>
                <a:cubicBezTo>
                  <a:pt x="71438" y="56837"/>
                  <a:pt x="71438" y="56681"/>
                  <a:pt x="71438" y="56503"/>
                </a:cubicBezTo>
                <a:cubicBezTo>
                  <a:pt x="71438" y="48979"/>
                  <a:pt x="67419" y="42371"/>
                  <a:pt x="61436" y="38733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30" name="Text 28"/>
          <p:cNvSpPr/>
          <p:nvPr/>
        </p:nvSpPr>
        <p:spPr>
          <a:xfrm>
            <a:off x="742950" y="5105400"/>
            <a:ext cx="3209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UCI ML Repository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241750" y="1543050"/>
            <a:ext cx="3705225" cy="3905250"/>
          </a:xfrm>
          <a:custGeom>
            <a:avLst/>
            <a:gdLst/>
            <a:ahLst/>
            <a:cxnLst/>
            <a:rect l="l" t="t" r="r" b="b"/>
            <a:pathLst>
              <a:path w="3705225" h="39052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790944"/>
                </a:lnTo>
                <a:cubicBezTo>
                  <a:pt x="3705225" y="3854073"/>
                  <a:pt x="3654048" y="3905250"/>
                  <a:pt x="3590919" y="3905250"/>
                </a:cubicBezTo>
                <a:lnTo>
                  <a:pt x="114306" y="3905250"/>
                </a:lnTo>
                <a:cubicBezTo>
                  <a:pt x="51177" y="3905250"/>
                  <a:pt x="0" y="3854073"/>
                  <a:pt x="0" y="37909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41750" y="15430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33" name="Shape 31"/>
          <p:cNvSpPr/>
          <p:nvPr/>
        </p:nvSpPr>
        <p:spPr>
          <a:xfrm>
            <a:off x="4432250" y="1790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3A4A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28691" y="18954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21431" y="42863"/>
                </a:moveTo>
                <a:cubicBezTo>
                  <a:pt x="21431" y="22163"/>
                  <a:pt x="38237" y="5358"/>
                  <a:pt x="58936" y="5358"/>
                </a:cubicBezTo>
                <a:cubicBezTo>
                  <a:pt x="79635" y="5358"/>
                  <a:pt x="96441" y="22163"/>
                  <a:pt x="96441" y="42862"/>
                </a:cubicBezTo>
                <a:cubicBezTo>
                  <a:pt x="96441" y="63562"/>
                  <a:pt x="79635" y="80367"/>
                  <a:pt x="58936" y="80367"/>
                </a:cubicBezTo>
                <a:cubicBezTo>
                  <a:pt x="38237" y="80367"/>
                  <a:pt x="21431" y="63562"/>
                  <a:pt x="21431" y="42863"/>
                </a:cubicBezTo>
                <a:close/>
                <a:moveTo>
                  <a:pt x="0" y="155377"/>
                </a:moveTo>
                <a:cubicBezTo>
                  <a:pt x="0" y="122828"/>
                  <a:pt x="26387" y="96441"/>
                  <a:pt x="58936" y="96441"/>
                </a:cubicBezTo>
                <a:cubicBezTo>
                  <a:pt x="91485" y="96441"/>
                  <a:pt x="117872" y="122828"/>
                  <a:pt x="117872" y="155377"/>
                </a:cubicBezTo>
                <a:lnTo>
                  <a:pt x="117872" y="157386"/>
                </a:lnTo>
                <a:cubicBezTo>
                  <a:pt x="117872" y="165155"/>
                  <a:pt x="111576" y="171450"/>
                  <a:pt x="103808" y="171450"/>
                </a:cubicBezTo>
                <a:lnTo>
                  <a:pt x="14064" y="171450"/>
                </a:lnTo>
                <a:cubicBezTo>
                  <a:pt x="6295" y="171450"/>
                  <a:pt x="0" y="165155"/>
                  <a:pt x="0" y="157386"/>
                </a:cubicBezTo>
                <a:lnTo>
                  <a:pt x="0" y="155377"/>
                </a:lnTo>
                <a:close/>
                <a:moveTo>
                  <a:pt x="144661" y="21431"/>
                </a:moveTo>
                <a:cubicBezTo>
                  <a:pt x="162403" y="21431"/>
                  <a:pt x="176808" y="35836"/>
                  <a:pt x="176808" y="53578"/>
                </a:cubicBezTo>
                <a:cubicBezTo>
                  <a:pt x="176808" y="71320"/>
                  <a:pt x="162403" y="85725"/>
                  <a:pt x="144661" y="85725"/>
                </a:cubicBezTo>
                <a:cubicBezTo>
                  <a:pt x="126919" y="85725"/>
                  <a:pt x="112514" y="71320"/>
                  <a:pt x="112514" y="53578"/>
                </a:cubicBezTo>
                <a:cubicBezTo>
                  <a:pt x="112514" y="35836"/>
                  <a:pt x="126919" y="21431"/>
                  <a:pt x="144661" y="21431"/>
                </a:cubicBezTo>
                <a:close/>
                <a:moveTo>
                  <a:pt x="144661" y="101798"/>
                </a:moveTo>
                <a:cubicBezTo>
                  <a:pt x="171283" y="101798"/>
                  <a:pt x="192881" y="123397"/>
                  <a:pt x="192881" y="150019"/>
                </a:cubicBezTo>
                <a:lnTo>
                  <a:pt x="192881" y="157520"/>
                </a:lnTo>
                <a:cubicBezTo>
                  <a:pt x="192881" y="165222"/>
                  <a:pt x="186653" y="171450"/>
                  <a:pt x="178951" y="171450"/>
                </a:cubicBezTo>
                <a:lnTo>
                  <a:pt x="130463" y="171450"/>
                </a:lnTo>
                <a:cubicBezTo>
                  <a:pt x="132673" y="167264"/>
                  <a:pt x="133945" y="162476"/>
                  <a:pt x="133945" y="157386"/>
                </a:cubicBezTo>
                <a:lnTo>
                  <a:pt x="133945" y="155377"/>
                </a:lnTo>
                <a:cubicBezTo>
                  <a:pt x="133945" y="138131"/>
                  <a:pt x="128119" y="122259"/>
                  <a:pt x="118374" y="109601"/>
                </a:cubicBezTo>
                <a:cubicBezTo>
                  <a:pt x="125942" y="104678"/>
                  <a:pt x="134983" y="101798"/>
                  <a:pt x="144661" y="101798"/>
                </a:cubicBez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35" name="Text 33"/>
          <p:cNvSpPr/>
          <p:nvPr/>
        </p:nvSpPr>
        <p:spPr>
          <a:xfrm>
            <a:off x="4927550" y="1752600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Framingham Heart Study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927550" y="2019300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Populationnelle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32250" y="2709863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8" name="Shape 36"/>
          <p:cNvSpPr/>
          <p:nvPr/>
        </p:nvSpPr>
        <p:spPr>
          <a:xfrm>
            <a:off x="4434632" y="246697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39" name="Text 37"/>
          <p:cNvSpPr/>
          <p:nvPr/>
        </p:nvSpPr>
        <p:spPr>
          <a:xfrm>
            <a:off x="4660850" y="2438400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63867" y="24193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4 240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32250" y="3138488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2" name="Shape 40"/>
          <p:cNvSpPr/>
          <p:nvPr/>
        </p:nvSpPr>
        <p:spPr>
          <a:xfrm>
            <a:off x="4451300" y="2895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418" y="12502"/>
                </a:moveTo>
                <a:cubicBezTo>
                  <a:pt x="6954" y="12502"/>
                  <a:pt x="4167" y="15288"/>
                  <a:pt x="4167" y="18752"/>
                </a:cubicBezTo>
                <a:lnTo>
                  <a:pt x="4167" y="31254"/>
                </a:lnTo>
                <a:cubicBezTo>
                  <a:pt x="4167" y="34718"/>
                  <a:pt x="6954" y="37505"/>
                  <a:pt x="10418" y="37505"/>
                </a:cubicBezTo>
                <a:lnTo>
                  <a:pt x="22920" y="37505"/>
                </a:lnTo>
                <a:cubicBezTo>
                  <a:pt x="26384" y="37505"/>
                  <a:pt x="29170" y="34718"/>
                  <a:pt x="29170" y="31254"/>
                </a:cubicBezTo>
                <a:lnTo>
                  <a:pt x="29170" y="18752"/>
                </a:lnTo>
                <a:cubicBezTo>
                  <a:pt x="29170" y="15288"/>
                  <a:pt x="26384" y="12502"/>
                  <a:pt x="22920" y="12502"/>
                </a:cubicBezTo>
                <a:lnTo>
                  <a:pt x="10418" y="12502"/>
                </a:lnTo>
                <a:close/>
                <a:moveTo>
                  <a:pt x="50006" y="16669"/>
                </a:moveTo>
                <a:cubicBezTo>
                  <a:pt x="45396" y="16669"/>
                  <a:pt x="41672" y="20393"/>
                  <a:pt x="41672" y="25003"/>
                </a:cubicBezTo>
                <a:cubicBezTo>
                  <a:pt x="41672" y="29613"/>
                  <a:pt x="45396" y="33337"/>
                  <a:pt x="50006" y="33337"/>
                </a:cubicBezTo>
                <a:lnTo>
                  <a:pt x="125016" y="33337"/>
                </a:lnTo>
                <a:cubicBezTo>
                  <a:pt x="129626" y="33337"/>
                  <a:pt x="133350" y="29613"/>
                  <a:pt x="133350" y="25003"/>
                </a:cubicBezTo>
                <a:cubicBezTo>
                  <a:pt x="133350" y="20393"/>
                  <a:pt x="129626" y="16669"/>
                  <a:pt x="125016" y="16669"/>
                </a:cubicBezTo>
                <a:lnTo>
                  <a:pt x="50006" y="16669"/>
                </a:lnTo>
                <a:close/>
                <a:moveTo>
                  <a:pt x="50006" y="58341"/>
                </a:moveTo>
                <a:cubicBezTo>
                  <a:pt x="45396" y="58341"/>
                  <a:pt x="41672" y="62065"/>
                  <a:pt x="41672" y="66675"/>
                </a:cubicBezTo>
                <a:cubicBezTo>
                  <a:pt x="41672" y="71285"/>
                  <a:pt x="45396" y="75009"/>
                  <a:pt x="50006" y="75009"/>
                </a:cubicBezTo>
                <a:lnTo>
                  <a:pt x="125016" y="75009"/>
                </a:lnTo>
                <a:cubicBezTo>
                  <a:pt x="129626" y="75009"/>
                  <a:pt x="133350" y="71285"/>
                  <a:pt x="133350" y="66675"/>
                </a:cubicBezTo>
                <a:cubicBezTo>
                  <a:pt x="133350" y="62065"/>
                  <a:pt x="129626" y="58341"/>
                  <a:pt x="125016" y="58341"/>
                </a:cubicBezTo>
                <a:lnTo>
                  <a:pt x="50006" y="58341"/>
                </a:lnTo>
                <a:close/>
                <a:moveTo>
                  <a:pt x="50006" y="100013"/>
                </a:moveTo>
                <a:cubicBezTo>
                  <a:pt x="45396" y="100013"/>
                  <a:pt x="41672" y="103737"/>
                  <a:pt x="41672" y="108347"/>
                </a:cubicBezTo>
                <a:cubicBezTo>
                  <a:pt x="41672" y="112957"/>
                  <a:pt x="45396" y="116681"/>
                  <a:pt x="50006" y="116681"/>
                </a:cubicBezTo>
                <a:lnTo>
                  <a:pt x="125016" y="116681"/>
                </a:lnTo>
                <a:cubicBezTo>
                  <a:pt x="129626" y="116681"/>
                  <a:pt x="133350" y="112957"/>
                  <a:pt x="133350" y="108347"/>
                </a:cubicBezTo>
                <a:cubicBezTo>
                  <a:pt x="133350" y="103737"/>
                  <a:pt x="129626" y="100013"/>
                  <a:pt x="125016" y="100013"/>
                </a:cubicBezTo>
                <a:lnTo>
                  <a:pt x="50006" y="100013"/>
                </a:lnTo>
                <a:close/>
                <a:moveTo>
                  <a:pt x="4167" y="60424"/>
                </a:moveTo>
                <a:lnTo>
                  <a:pt x="4167" y="72926"/>
                </a:lnTo>
                <a:cubicBezTo>
                  <a:pt x="4167" y="76390"/>
                  <a:pt x="6954" y="79177"/>
                  <a:pt x="10418" y="79177"/>
                </a:cubicBezTo>
                <a:lnTo>
                  <a:pt x="22920" y="79177"/>
                </a:lnTo>
                <a:cubicBezTo>
                  <a:pt x="26384" y="79177"/>
                  <a:pt x="29170" y="76390"/>
                  <a:pt x="29170" y="72926"/>
                </a:cubicBezTo>
                <a:lnTo>
                  <a:pt x="29170" y="60424"/>
                </a:lnTo>
                <a:cubicBezTo>
                  <a:pt x="29170" y="56960"/>
                  <a:pt x="26384" y="54173"/>
                  <a:pt x="22920" y="54173"/>
                </a:cubicBezTo>
                <a:lnTo>
                  <a:pt x="10418" y="54173"/>
                </a:lnTo>
                <a:cubicBezTo>
                  <a:pt x="6954" y="54173"/>
                  <a:pt x="4167" y="56960"/>
                  <a:pt x="4167" y="60424"/>
                </a:cubicBezTo>
                <a:close/>
                <a:moveTo>
                  <a:pt x="10418" y="95845"/>
                </a:moveTo>
                <a:cubicBezTo>
                  <a:pt x="6954" y="95845"/>
                  <a:pt x="4167" y="98632"/>
                  <a:pt x="4167" y="102096"/>
                </a:cubicBezTo>
                <a:lnTo>
                  <a:pt x="4167" y="114598"/>
                </a:lnTo>
                <a:cubicBezTo>
                  <a:pt x="4167" y="118062"/>
                  <a:pt x="6954" y="120848"/>
                  <a:pt x="10418" y="120848"/>
                </a:cubicBezTo>
                <a:lnTo>
                  <a:pt x="22920" y="120848"/>
                </a:lnTo>
                <a:cubicBezTo>
                  <a:pt x="26384" y="120848"/>
                  <a:pt x="29170" y="118062"/>
                  <a:pt x="29170" y="114598"/>
                </a:cubicBezTo>
                <a:lnTo>
                  <a:pt x="29170" y="102096"/>
                </a:lnTo>
                <a:cubicBezTo>
                  <a:pt x="29170" y="98632"/>
                  <a:pt x="26384" y="95845"/>
                  <a:pt x="22920" y="95845"/>
                </a:cubicBezTo>
                <a:lnTo>
                  <a:pt x="10418" y="95845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43" name="Text 41"/>
          <p:cNvSpPr/>
          <p:nvPr/>
        </p:nvSpPr>
        <p:spPr>
          <a:xfrm>
            <a:off x="4660850" y="2867025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610921" y="28479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32250" y="3567113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6" name="Shape 44"/>
          <p:cNvSpPr/>
          <p:nvPr/>
        </p:nvSpPr>
        <p:spPr>
          <a:xfrm>
            <a:off x="4459635" y="33242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0006" y="33337"/>
                </a:moveTo>
                <a:cubicBezTo>
                  <a:pt x="50006" y="19538"/>
                  <a:pt x="38803" y="8334"/>
                  <a:pt x="25003" y="8334"/>
                </a:cubicBezTo>
                <a:cubicBezTo>
                  <a:pt x="11204" y="8334"/>
                  <a:pt x="0" y="19538"/>
                  <a:pt x="0" y="33337"/>
                </a:cubicBezTo>
                <a:cubicBezTo>
                  <a:pt x="0" y="47137"/>
                  <a:pt x="11204" y="58341"/>
                  <a:pt x="25003" y="58341"/>
                </a:cubicBezTo>
                <a:cubicBezTo>
                  <a:pt x="38803" y="58341"/>
                  <a:pt x="50006" y="47137"/>
                  <a:pt x="50006" y="33338"/>
                </a:cubicBezTo>
                <a:close/>
                <a:moveTo>
                  <a:pt x="116681" y="100013"/>
                </a:moveTo>
                <a:cubicBezTo>
                  <a:pt x="116681" y="86213"/>
                  <a:pt x="105478" y="75009"/>
                  <a:pt x="91678" y="75009"/>
                </a:cubicBezTo>
                <a:cubicBezTo>
                  <a:pt x="77879" y="75009"/>
                  <a:pt x="66675" y="86213"/>
                  <a:pt x="66675" y="100013"/>
                </a:cubicBezTo>
                <a:cubicBezTo>
                  <a:pt x="66675" y="113812"/>
                  <a:pt x="77879" y="125016"/>
                  <a:pt x="91678" y="125016"/>
                </a:cubicBezTo>
                <a:cubicBezTo>
                  <a:pt x="105478" y="125016"/>
                  <a:pt x="116681" y="113812"/>
                  <a:pt x="116681" y="100013"/>
                </a:cubicBezTo>
                <a:close/>
                <a:moveTo>
                  <a:pt x="114233" y="22555"/>
                </a:moveTo>
                <a:cubicBezTo>
                  <a:pt x="117489" y="19299"/>
                  <a:pt x="117489" y="14012"/>
                  <a:pt x="114233" y="10757"/>
                </a:cubicBezTo>
                <a:cubicBezTo>
                  <a:pt x="110977" y="7501"/>
                  <a:pt x="105690" y="7501"/>
                  <a:pt x="102435" y="10757"/>
                </a:cubicBezTo>
                <a:lnTo>
                  <a:pt x="2422" y="110769"/>
                </a:lnTo>
                <a:cubicBezTo>
                  <a:pt x="-833" y="114025"/>
                  <a:pt x="-833" y="119312"/>
                  <a:pt x="2422" y="122567"/>
                </a:cubicBezTo>
                <a:cubicBezTo>
                  <a:pt x="5678" y="125823"/>
                  <a:pt x="10965" y="125823"/>
                  <a:pt x="14221" y="122567"/>
                </a:cubicBezTo>
                <a:lnTo>
                  <a:pt x="114233" y="22555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47" name="Text 45"/>
          <p:cNvSpPr/>
          <p:nvPr/>
        </p:nvSpPr>
        <p:spPr>
          <a:xfrm>
            <a:off x="4660850" y="3295650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Prévalence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409408" y="3276600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95D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~15%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451300" y="3733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465" y="25003"/>
                </a:moveTo>
                <a:lnTo>
                  <a:pt x="8465" y="63940"/>
                </a:lnTo>
                <a:cubicBezTo>
                  <a:pt x="8465" y="68368"/>
                  <a:pt x="10210" y="72613"/>
                  <a:pt x="13335" y="75739"/>
                </a:cubicBezTo>
                <a:lnTo>
                  <a:pt x="63341" y="125745"/>
                </a:lnTo>
                <a:cubicBezTo>
                  <a:pt x="69852" y="132256"/>
                  <a:pt x="80401" y="132256"/>
                  <a:pt x="86912" y="125745"/>
                </a:cubicBezTo>
                <a:lnTo>
                  <a:pt x="125849" y="86808"/>
                </a:lnTo>
                <a:cubicBezTo>
                  <a:pt x="132360" y="80296"/>
                  <a:pt x="132360" y="69748"/>
                  <a:pt x="125849" y="63237"/>
                </a:cubicBezTo>
                <a:lnTo>
                  <a:pt x="75843" y="13231"/>
                </a:lnTo>
                <a:cubicBezTo>
                  <a:pt x="72717" y="10079"/>
                  <a:pt x="68498" y="8334"/>
                  <a:pt x="64071" y="8334"/>
                </a:cubicBezTo>
                <a:lnTo>
                  <a:pt x="25133" y="8334"/>
                </a:lnTo>
                <a:cubicBezTo>
                  <a:pt x="15939" y="8334"/>
                  <a:pt x="8465" y="15809"/>
                  <a:pt x="8465" y="25003"/>
                </a:cubicBezTo>
                <a:close/>
                <a:moveTo>
                  <a:pt x="37635" y="29170"/>
                </a:moveTo>
                <a:cubicBezTo>
                  <a:pt x="42235" y="29170"/>
                  <a:pt x="45969" y="32905"/>
                  <a:pt x="45969" y="37505"/>
                </a:cubicBezTo>
                <a:cubicBezTo>
                  <a:pt x="45969" y="42105"/>
                  <a:pt x="42235" y="45839"/>
                  <a:pt x="37635" y="45839"/>
                </a:cubicBezTo>
                <a:cubicBezTo>
                  <a:pt x="33035" y="45839"/>
                  <a:pt x="29301" y="42105"/>
                  <a:pt x="29301" y="37505"/>
                </a:cubicBezTo>
                <a:cubicBezTo>
                  <a:pt x="29301" y="32905"/>
                  <a:pt x="33035" y="29170"/>
                  <a:pt x="37635" y="2917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50" name="Text 48"/>
          <p:cNvSpPr/>
          <p:nvPr/>
        </p:nvSpPr>
        <p:spPr>
          <a:xfrm>
            <a:off x="4660850" y="3705225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Usage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49653" y="3705225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Risque sur 10 ans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432250" y="4986338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3" name="Shape 51"/>
          <p:cNvSpPr/>
          <p:nvPr/>
        </p:nvSpPr>
        <p:spPr>
          <a:xfrm>
            <a:off x="4439394" y="5119688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93650" y="21431"/>
                </a:moveTo>
                <a:cubicBezTo>
                  <a:pt x="89944" y="21431"/>
                  <a:pt x="86350" y="22436"/>
                  <a:pt x="83202" y="24266"/>
                </a:cubicBezTo>
                <a:cubicBezTo>
                  <a:pt x="79675" y="20695"/>
                  <a:pt x="75567" y="17703"/>
                  <a:pt x="71036" y="15448"/>
                </a:cubicBezTo>
                <a:cubicBezTo>
                  <a:pt x="77331" y="10091"/>
                  <a:pt x="85345" y="7144"/>
                  <a:pt x="93650" y="7144"/>
                </a:cubicBezTo>
                <a:cubicBezTo>
                  <a:pt x="112938" y="7144"/>
                  <a:pt x="128588" y="22771"/>
                  <a:pt x="128588" y="42081"/>
                </a:cubicBezTo>
                <a:cubicBezTo>
                  <a:pt x="128588" y="51346"/>
                  <a:pt x="124904" y="60231"/>
                  <a:pt x="118363" y="66772"/>
                </a:cubicBezTo>
                <a:lnTo>
                  <a:pt x="102490" y="82644"/>
                </a:lnTo>
                <a:cubicBezTo>
                  <a:pt x="95949" y="89185"/>
                  <a:pt x="87064" y="92869"/>
                  <a:pt x="77800" y="92869"/>
                </a:cubicBezTo>
                <a:cubicBezTo>
                  <a:pt x="58512" y="92869"/>
                  <a:pt x="42863" y="77242"/>
                  <a:pt x="42863" y="57931"/>
                </a:cubicBezTo>
                <a:cubicBezTo>
                  <a:pt x="42863" y="57596"/>
                  <a:pt x="42863" y="57262"/>
                  <a:pt x="42885" y="56927"/>
                </a:cubicBezTo>
                <a:cubicBezTo>
                  <a:pt x="42996" y="52975"/>
                  <a:pt x="46278" y="49872"/>
                  <a:pt x="50229" y="49984"/>
                </a:cubicBezTo>
                <a:cubicBezTo>
                  <a:pt x="54181" y="50096"/>
                  <a:pt x="57284" y="53377"/>
                  <a:pt x="57172" y="57329"/>
                </a:cubicBezTo>
                <a:cubicBezTo>
                  <a:pt x="57172" y="57530"/>
                  <a:pt x="57172" y="57730"/>
                  <a:pt x="57172" y="57909"/>
                </a:cubicBezTo>
                <a:cubicBezTo>
                  <a:pt x="57172" y="69317"/>
                  <a:pt x="66415" y="78559"/>
                  <a:pt x="77822" y="78559"/>
                </a:cubicBezTo>
                <a:cubicBezTo>
                  <a:pt x="83292" y="78559"/>
                  <a:pt x="88538" y="76393"/>
                  <a:pt x="92422" y="72509"/>
                </a:cubicBezTo>
                <a:lnTo>
                  <a:pt x="108295" y="56637"/>
                </a:lnTo>
                <a:cubicBezTo>
                  <a:pt x="112157" y="52774"/>
                  <a:pt x="114345" y="47506"/>
                  <a:pt x="114345" y="42037"/>
                </a:cubicBezTo>
                <a:cubicBezTo>
                  <a:pt x="114345" y="30629"/>
                  <a:pt x="105102" y="21387"/>
                  <a:pt x="93695" y="21387"/>
                </a:cubicBezTo>
                <a:close/>
                <a:moveTo>
                  <a:pt x="61436" y="38688"/>
                </a:moveTo>
                <a:cubicBezTo>
                  <a:pt x="61012" y="38509"/>
                  <a:pt x="60588" y="38264"/>
                  <a:pt x="60208" y="37996"/>
                </a:cubicBezTo>
                <a:cubicBezTo>
                  <a:pt x="57396" y="36545"/>
                  <a:pt x="54181" y="35719"/>
                  <a:pt x="50810" y="35719"/>
                </a:cubicBezTo>
                <a:cubicBezTo>
                  <a:pt x="45340" y="35719"/>
                  <a:pt x="40094" y="37884"/>
                  <a:pt x="36210" y="41769"/>
                </a:cubicBezTo>
                <a:lnTo>
                  <a:pt x="20337" y="57641"/>
                </a:lnTo>
                <a:cubicBezTo>
                  <a:pt x="16475" y="61503"/>
                  <a:pt x="14288" y="66772"/>
                  <a:pt x="14288" y="72241"/>
                </a:cubicBezTo>
                <a:cubicBezTo>
                  <a:pt x="14288" y="83649"/>
                  <a:pt x="23530" y="92891"/>
                  <a:pt x="34937" y="92891"/>
                </a:cubicBezTo>
                <a:cubicBezTo>
                  <a:pt x="38621" y="92891"/>
                  <a:pt x="42215" y="91909"/>
                  <a:pt x="45363" y="90078"/>
                </a:cubicBezTo>
                <a:cubicBezTo>
                  <a:pt x="48890" y="93650"/>
                  <a:pt x="52998" y="96642"/>
                  <a:pt x="57552" y="98896"/>
                </a:cubicBezTo>
                <a:cubicBezTo>
                  <a:pt x="51256" y="104232"/>
                  <a:pt x="43264" y="107201"/>
                  <a:pt x="34937" y="107201"/>
                </a:cubicBezTo>
                <a:cubicBezTo>
                  <a:pt x="15649" y="107201"/>
                  <a:pt x="0" y="91574"/>
                  <a:pt x="0" y="72263"/>
                </a:cubicBezTo>
                <a:cubicBezTo>
                  <a:pt x="0" y="62999"/>
                  <a:pt x="3683" y="54114"/>
                  <a:pt x="10224" y="47573"/>
                </a:cubicBezTo>
                <a:lnTo>
                  <a:pt x="26097" y="31700"/>
                </a:lnTo>
                <a:cubicBezTo>
                  <a:pt x="32638" y="25159"/>
                  <a:pt x="41523" y="21476"/>
                  <a:pt x="50788" y="21476"/>
                </a:cubicBezTo>
                <a:cubicBezTo>
                  <a:pt x="70120" y="21476"/>
                  <a:pt x="85725" y="37237"/>
                  <a:pt x="85725" y="56503"/>
                </a:cubicBezTo>
                <a:cubicBezTo>
                  <a:pt x="85725" y="56793"/>
                  <a:pt x="85725" y="57083"/>
                  <a:pt x="85725" y="57373"/>
                </a:cubicBezTo>
                <a:cubicBezTo>
                  <a:pt x="85636" y="61325"/>
                  <a:pt x="82354" y="64428"/>
                  <a:pt x="78403" y="64338"/>
                </a:cubicBezTo>
                <a:cubicBezTo>
                  <a:pt x="74451" y="64249"/>
                  <a:pt x="71348" y="60967"/>
                  <a:pt x="71438" y="57016"/>
                </a:cubicBezTo>
                <a:cubicBezTo>
                  <a:pt x="71438" y="56837"/>
                  <a:pt x="71438" y="56681"/>
                  <a:pt x="71438" y="56503"/>
                </a:cubicBezTo>
                <a:cubicBezTo>
                  <a:pt x="71438" y="48979"/>
                  <a:pt x="67419" y="42371"/>
                  <a:pt x="61436" y="38733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54" name="Text 52"/>
          <p:cNvSpPr/>
          <p:nvPr/>
        </p:nvSpPr>
        <p:spPr>
          <a:xfrm>
            <a:off x="4603700" y="5105400"/>
            <a:ext cx="3209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NHLBI / Kaggle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102575" y="1543050"/>
            <a:ext cx="3705225" cy="3905250"/>
          </a:xfrm>
          <a:custGeom>
            <a:avLst/>
            <a:gdLst/>
            <a:ahLst/>
            <a:cxnLst/>
            <a:rect l="l" t="t" r="r" b="b"/>
            <a:pathLst>
              <a:path w="3705225" h="39052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790944"/>
                </a:lnTo>
                <a:cubicBezTo>
                  <a:pt x="3705225" y="3854073"/>
                  <a:pt x="3654048" y="3905250"/>
                  <a:pt x="3590919" y="3905250"/>
                </a:cubicBezTo>
                <a:lnTo>
                  <a:pt x="114306" y="3905250"/>
                </a:lnTo>
                <a:cubicBezTo>
                  <a:pt x="51177" y="3905250"/>
                  <a:pt x="0" y="3854073"/>
                  <a:pt x="0" y="37909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102575" y="15430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57" name="Shape 55"/>
          <p:cNvSpPr/>
          <p:nvPr/>
        </p:nvSpPr>
        <p:spPr>
          <a:xfrm>
            <a:off x="8293075" y="1790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7C">
              <a:alpha val="1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400231" y="18954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117872"/>
                </a:moveTo>
                <a:cubicBezTo>
                  <a:pt x="96265" y="117872"/>
                  <a:pt x="117872" y="96265"/>
                  <a:pt x="117872" y="69652"/>
                </a:cubicBezTo>
                <a:cubicBezTo>
                  <a:pt x="117872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2"/>
                  <a:pt x="69652" y="117872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59" name="Text 57"/>
          <p:cNvSpPr/>
          <p:nvPr/>
        </p:nvSpPr>
        <p:spPr>
          <a:xfrm>
            <a:off x="8788375" y="1752600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Kaggle CVD Dataset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788375" y="2019300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Dépistage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93075" y="2709863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2" name="Shape 60"/>
          <p:cNvSpPr/>
          <p:nvPr/>
        </p:nvSpPr>
        <p:spPr>
          <a:xfrm>
            <a:off x="8295456" y="246697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63" name="Text 61"/>
          <p:cNvSpPr/>
          <p:nvPr/>
        </p:nvSpPr>
        <p:spPr>
          <a:xfrm>
            <a:off x="8521675" y="2438400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123042" y="241935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70 000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293075" y="3138488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6" name="Shape 64"/>
          <p:cNvSpPr/>
          <p:nvPr/>
        </p:nvSpPr>
        <p:spPr>
          <a:xfrm>
            <a:off x="8312125" y="2895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418" y="12502"/>
                </a:moveTo>
                <a:cubicBezTo>
                  <a:pt x="6954" y="12502"/>
                  <a:pt x="4167" y="15288"/>
                  <a:pt x="4167" y="18752"/>
                </a:cubicBezTo>
                <a:lnTo>
                  <a:pt x="4167" y="31254"/>
                </a:lnTo>
                <a:cubicBezTo>
                  <a:pt x="4167" y="34718"/>
                  <a:pt x="6954" y="37505"/>
                  <a:pt x="10418" y="37505"/>
                </a:cubicBezTo>
                <a:lnTo>
                  <a:pt x="22920" y="37505"/>
                </a:lnTo>
                <a:cubicBezTo>
                  <a:pt x="26384" y="37505"/>
                  <a:pt x="29170" y="34718"/>
                  <a:pt x="29170" y="31254"/>
                </a:cubicBezTo>
                <a:lnTo>
                  <a:pt x="29170" y="18752"/>
                </a:lnTo>
                <a:cubicBezTo>
                  <a:pt x="29170" y="15288"/>
                  <a:pt x="26384" y="12502"/>
                  <a:pt x="22920" y="12502"/>
                </a:cubicBezTo>
                <a:lnTo>
                  <a:pt x="10418" y="12502"/>
                </a:lnTo>
                <a:close/>
                <a:moveTo>
                  <a:pt x="50006" y="16669"/>
                </a:moveTo>
                <a:cubicBezTo>
                  <a:pt x="45396" y="16669"/>
                  <a:pt x="41672" y="20393"/>
                  <a:pt x="41672" y="25003"/>
                </a:cubicBezTo>
                <a:cubicBezTo>
                  <a:pt x="41672" y="29613"/>
                  <a:pt x="45396" y="33337"/>
                  <a:pt x="50006" y="33337"/>
                </a:cubicBezTo>
                <a:lnTo>
                  <a:pt x="125016" y="33337"/>
                </a:lnTo>
                <a:cubicBezTo>
                  <a:pt x="129626" y="33337"/>
                  <a:pt x="133350" y="29613"/>
                  <a:pt x="133350" y="25003"/>
                </a:cubicBezTo>
                <a:cubicBezTo>
                  <a:pt x="133350" y="20393"/>
                  <a:pt x="129626" y="16669"/>
                  <a:pt x="125016" y="16669"/>
                </a:cubicBezTo>
                <a:lnTo>
                  <a:pt x="50006" y="16669"/>
                </a:lnTo>
                <a:close/>
                <a:moveTo>
                  <a:pt x="50006" y="58341"/>
                </a:moveTo>
                <a:cubicBezTo>
                  <a:pt x="45396" y="58341"/>
                  <a:pt x="41672" y="62065"/>
                  <a:pt x="41672" y="66675"/>
                </a:cubicBezTo>
                <a:cubicBezTo>
                  <a:pt x="41672" y="71285"/>
                  <a:pt x="45396" y="75009"/>
                  <a:pt x="50006" y="75009"/>
                </a:cubicBezTo>
                <a:lnTo>
                  <a:pt x="125016" y="75009"/>
                </a:lnTo>
                <a:cubicBezTo>
                  <a:pt x="129626" y="75009"/>
                  <a:pt x="133350" y="71285"/>
                  <a:pt x="133350" y="66675"/>
                </a:cubicBezTo>
                <a:cubicBezTo>
                  <a:pt x="133350" y="62065"/>
                  <a:pt x="129626" y="58341"/>
                  <a:pt x="125016" y="58341"/>
                </a:cubicBezTo>
                <a:lnTo>
                  <a:pt x="50006" y="58341"/>
                </a:lnTo>
                <a:close/>
                <a:moveTo>
                  <a:pt x="50006" y="100013"/>
                </a:moveTo>
                <a:cubicBezTo>
                  <a:pt x="45396" y="100013"/>
                  <a:pt x="41672" y="103737"/>
                  <a:pt x="41672" y="108347"/>
                </a:cubicBezTo>
                <a:cubicBezTo>
                  <a:pt x="41672" y="112957"/>
                  <a:pt x="45396" y="116681"/>
                  <a:pt x="50006" y="116681"/>
                </a:cubicBezTo>
                <a:lnTo>
                  <a:pt x="125016" y="116681"/>
                </a:lnTo>
                <a:cubicBezTo>
                  <a:pt x="129626" y="116681"/>
                  <a:pt x="133350" y="112957"/>
                  <a:pt x="133350" y="108347"/>
                </a:cubicBezTo>
                <a:cubicBezTo>
                  <a:pt x="133350" y="103737"/>
                  <a:pt x="129626" y="100013"/>
                  <a:pt x="125016" y="100013"/>
                </a:cubicBezTo>
                <a:lnTo>
                  <a:pt x="50006" y="100013"/>
                </a:lnTo>
                <a:close/>
                <a:moveTo>
                  <a:pt x="4167" y="60424"/>
                </a:moveTo>
                <a:lnTo>
                  <a:pt x="4167" y="72926"/>
                </a:lnTo>
                <a:cubicBezTo>
                  <a:pt x="4167" y="76390"/>
                  <a:pt x="6954" y="79177"/>
                  <a:pt x="10418" y="79177"/>
                </a:cubicBezTo>
                <a:lnTo>
                  <a:pt x="22920" y="79177"/>
                </a:lnTo>
                <a:cubicBezTo>
                  <a:pt x="26384" y="79177"/>
                  <a:pt x="29170" y="76390"/>
                  <a:pt x="29170" y="72926"/>
                </a:cubicBezTo>
                <a:lnTo>
                  <a:pt x="29170" y="60424"/>
                </a:lnTo>
                <a:cubicBezTo>
                  <a:pt x="29170" y="56960"/>
                  <a:pt x="26384" y="54173"/>
                  <a:pt x="22920" y="54173"/>
                </a:cubicBezTo>
                <a:lnTo>
                  <a:pt x="10418" y="54173"/>
                </a:lnTo>
                <a:cubicBezTo>
                  <a:pt x="6954" y="54173"/>
                  <a:pt x="4167" y="56960"/>
                  <a:pt x="4167" y="60424"/>
                </a:cubicBezTo>
                <a:close/>
                <a:moveTo>
                  <a:pt x="10418" y="95845"/>
                </a:moveTo>
                <a:cubicBezTo>
                  <a:pt x="6954" y="95845"/>
                  <a:pt x="4167" y="98632"/>
                  <a:pt x="4167" y="102096"/>
                </a:cubicBezTo>
                <a:lnTo>
                  <a:pt x="4167" y="114598"/>
                </a:lnTo>
                <a:cubicBezTo>
                  <a:pt x="4167" y="118062"/>
                  <a:pt x="6954" y="120848"/>
                  <a:pt x="10418" y="120848"/>
                </a:cubicBezTo>
                <a:lnTo>
                  <a:pt x="22920" y="120848"/>
                </a:lnTo>
                <a:cubicBezTo>
                  <a:pt x="26384" y="120848"/>
                  <a:pt x="29170" y="118062"/>
                  <a:pt x="29170" y="114598"/>
                </a:cubicBezTo>
                <a:lnTo>
                  <a:pt x="29170" y="102096"/>
                </a:lnTo>
                <a:cubicBezTo>
                  <a:pt x="29170" y="98632"/>
                  <a:pt x="26384" y="95845"/>
                  <a:pt x="22920" y="95845"/>
                </a:cubicBezTo>
                <a:lnTo>
                  <a:pt x="10418" y="95845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67" name="Text 65"/>
          <p:cNvSpPr/>
          <p:nvPr/>
        </p:nvSpPr>
        <p:spPr>
          <a:xfrm>
            <a:off x="8521675" y="2867025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470928" y="28479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93075" y="3567113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0" name="Shape 68"/>
          <p:cNvSpPr/>
          <p:nvPr/>
        </p:nvSpPr>
        <p:spPr>
          <a:xfrm>
            <a:off x="8320460" y="33242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0006" y="33337"/>
                </a:moveTo>
                <a:cubicBezTo>
                  <a:pt x="50006" y="19538"/>
                  <a:pt x="38803" y="8334"/>
                  <a:pt x="25003" y="8334"/>
                </a:cubicBezTo>
                <a:cubicBezTo>
                  <a:pt x="11204" y="8334"/>
                  <a:pt x="0" y="19538"/>
                  <a:pt x="0" y="33337"/>
                </a:cubicBezTo>
                <a:cubicBezTo>
                  <a:pt x="0" y="47137"/>
                  <a:pt x="11204" y="58341"/>
                  <a:pt x="25003" y="58341"/>
                </a:cubicBezTo>
                <a:cubicBezTo>
                  <a:pt x="38803" y="58341"/>
                  <a:pt x="50006" y="47137"/>
                  <a:pt x="50006" y="33338"/>
                </a:cubicBezTo>
                <a:close/>
                <a:moveTo>
                  <a:pt x="116681" y="100013"/>
                </a:moveTo>
                <a:cubicBezTo>
                  <a:pt x="116681" y="86213"/>
                  <a:pt x="105478" y="75009"/>
                  <a:pt x="91678" y="75009"/>
                </a:cubicBezTo>
                <a:cubicBezTo>
                  <a:pt x="77879" y="75009"/>
                  <a:pt x="66675" y="86213"/>
                  <a:pt x="66675" y="100013"/>
                </a:cubicBezTo>
                <a:cubicBezTo>
                  <a:pt x="66675" y="113812"/>
                  <a:pt x="77879" y="125016"/>
                  <a:pt x="91678" y="125016"/>
                </a:cubicBezTo>
                <a:cubicBezTo>
                  <a:pt x="105478" y="125016"/>
                  <a:pt x="116681" y="113812"/>
                  <a:pt x="116681" y="100013"/>
                </a:cubicBezTo>
                <a:close/>
                <a:moveTo>
                  <a:pt x="114233" y="22555"/>
                </a:moveTo>
                <a:cubicBezTo>
                  <a:pt x="117489" y="19299"/>
                  <a:pt x="117489" y="14012"/>
                  <a:pt x="114233" y="10757"/>
                </a:cubicBezTo>
                <a:cubicBezTo>
                  <a:pt x="110977" y="7501"/>
                  <a:pt x="105690" y="7501"/>
                  <a:pt x="102435" y="10757"/>
                </a:cubicBezTo>
                <a:lnTo>
                  <a:pt x="2422" y="110769"/>
                </a:lnTo>
                <a:cubicBezTo>
                  <a:pt x="-833" y="114025"/>
                  <a:pt x="-833" y="119312"/>
                  <a:pt x="2422" y="122567"/>
                </a:cubicBezTo>
                <a:cubicBezTo>
                  <a:pt x="5678" y="125823"/>
                  <a:pt x="10965" y="125823"/>
                  <a:pt x="14221" y="122567"/>
                </a:cubicBezTo>
                <a:lnTo>
                  <a:pt x="114233" y="22555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71" name="Text 69"/>
          <p:cNvSpPr/>
          <p:nvPr/>
        </p:nvSpPr>
        <p:spPr>
          <a:xfrm>
            <a:off x="8521675" y="3295650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Prévalence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1233993" y="3276600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~50%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312125" y="3733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465" y="25003"/>
                </a:moveTo>
                <a:lnTo>
                  <a:pt x="8465" y="63940"/>
                </a:lnTo>
                <a:cubicBezTo>
                  <a:pt x="8465" y="68368"/>
                  <a:pt x="10210" y="72613"/>
                  <a:pt x="13335" y="75739"/>
                </a:cubicBezTo>
                <a:lnTo>
                  <a:pt x="63341" y="125745"/>
                </a:lnTo>
                <a:cubicBezTo>
                  <a:pt x="69852" y="132256"/>
                  <a:pt x="80401" y="132256"/>
                  <a:pt x="86912" y="125745"/>
                </a:cubicBezTo>
                <a:lnTo>
                  <a:pt x="125849" y="86808"/>
                </a:lnTo>
                <a:cubicBezTo>
                  <a:pt x="132360" y="80296"/>
                  <a:pt x="132360" y="69748"/>
                  <a:pt x="125849" y="63237"/>
                </a:cubicBezTo>
                <a:lnTo>
                  <a:pt x="75843" y="13231"/>
                </a:lnTo>
                <a:cubicBezTo>
                  <a:pt x="72717" y="10079"/>
                  <a:pt x="68498" y="8334"/>
                  <a:pt x="64071" y="8334"/>
                </a:cubicBezTo>
                <a:lnTo>
                  <a:pt x="25133" y="8334"/>
                </a:lnTo>
                <a:cubicBezTo>
                  <a:pt x="15939" y="8334"/>
                  <a:pt x="8465" y="15809"/>
                  <a:pt x="8465" y="25003"/>
                </a:cubicBezTo>
                <a:close/>
                <a:moveTo>
                  <a:pt x="37635" y="29170"/>
                </a:moveTo>
                <a:cubicBezTo>
                  <a:pt x="42235" y="29170"/>
                  <a:pt x="45969" y="32905"/>
                  <a:pt x="45969" y="37505"/>
                </a:cubicBezTo>
                <a:cubicBezTo>
                  <a:pt x="45969" y="42105"/>
                  <a:pt x="42235" y="45839"/>
                  <a:pt x="37635" y="45839"/>
                </a:cubicBezTo>
                <a:cubicBezTo>
                  <a:pt x="33035" y="45839"/>
                  <a:pt x="29301" y="42105"/>
                  <a:pt x="29301" y="37505"/>
                </a:cubicBezTo>
                <a:cubicBezTo>
                  <a:pt x="29301" y="32905"/>
                  <a:pt x="33035" y="29170"/>
                  <a:pt x="37635" y="2917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74" name="Text 72"/>
          <p:cNvSpPr/>
          <p:nvPr/>
        </p:nvSpPr>
        <p:spPr>
          <a:xfrm>
            <a:off x="8521675" y="3705225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Usage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454953" y="3705225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Population générale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293075" y="4986338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7" name="Shape 75"/>
          <p:cNvSpPr/>
          <p:nvPr/>
        </p:nvSpPr>
        <p:spPr>
          <a:xfrm>
            <a:off x="8300219" y="5119688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93650" y="21431"/>
                </a:moveTo>
                <a:cubicBezTo>
                  <a:pt x="89944" y="21431"/>
                  <a:pt x="86350" y="22436"/>
                  <a:pt x="83202" y="24266"/>
                </a:cubicBezTo>
                <a:cubicBezTo>
                  <a:pt x="79675" y="20695"/>
                  <a:pt x="75567" y="17703"/>
                  <a:pt x="71036" y="15448"/>
                </a:cubicBezTo>
                <a:cubicBezTo>
                  <a:pt x="77331" y="10091"/>
                  <a:pt x="85345" y="7144"/>
                  <a:pt x="93650" y="7144"/>
                </a:cubicBezTo>
                <a:cubicBezTo>
                  <a:pt x="112938" y="7144"/>
                  <a:pt x="128588" y="22771"/>
                  <a:pt x="128588" y="42081"/>
                </a:cubicBezTo>
                <a:cubicBezTo>
                  <a:pt x="128588" y="51346"/>
                  <a:pt x="124904" y="60231"/>
                  <a:pt x="118363" y="66772"/>
                </a:cubicBezTo>
                <a:lnTo>
                  <a:pt x="102490" y="82644"/>
                </a:lnTo>
                <a:cubicBezTo>
                  <a:pt x="95949" y="89185"/>
                  <a:pt x="87064" y="92869"/>
                  <a:pt x="77800" y="92869"/>
                </a:cubicBezTo>
                <a:cubicBezTo>
                  <a:pt x="58512" y="92869"/>
                  <a:pt x="42863" y="77242"/>
                  <a:pt x="42863" y="57931"/>
                </a:cubicBezTo>
                <a:cubicBezTo>
                  <a:pt x="42863" y="57596"/>
                  <a:pt x="42863" y="57262"/>
                  <a:pt x="42885" y="56927"/>
                </a:cubicBezTo>
                <a:cubicBezTo>
                  <a:pt x="42996" y="52975"/>
                  <a:pt x="46278" y="49872"/>
                  <a:pt x="50229" y="49984"/>
                </a:cubicBezTo>
                <a:cubicBezTo>
                  <a:pt x="54181" y="50096"/>
                  <a:pt x="57284" y="53377"/>
                  <a:pt x="57172" y="57329"/>
                </a:cubicBezTo>
                <a:cubicBezTo>
                  <a:pt x="57172" y="57530"/>
                  <a:pt x="57172" y="57730"/>
                  <a:pt x="57172" y="57909"/>
                </a:cubicBezTo>
                <a:cubicBezTo>
                  <a:pt x="57172" y="69317"/>
                  <a:pt x="66415" y="78559"/>
                  <a:pt x="77822" y="78559"/>
                </a:cubicBezTo>
                <a:cubicBezTo>
                  <a:pt x="83292" y="78559"/>
                  <a:pt x="88538" y="76393"/>
                  <a:pt x="92422" y="72509"/>
                </a:cubicBezTo>
                <a:lnTo>
                  <a:pt x="108295" y="56637"/>
                </a:lnTo>
                <a:cubicBezTo>
                  <a:pt x="112157" y="52774"/>
                  <a:pt x="114345" y="47506"/>
                  <a:pt x="114345" y="42037"/>
                </a:cubicBezTo>
                <a:cubicBezTo>
                  <a:pt x="114345" y="30629"/>
                  <a:pt x="105102" y="21387"/>
                  <a:pt x="93695" y="21387"/>
                </a:cubicBezTo>
                <a:close/>
                <a:moveTo>
                  <a:pt x="61436" y="38688"/>
                </a:moveTo>
                <a:cubicBezTo>
                  <a:pt x="61012" y="38509"/>
                  <a:pt x="60588" y="38264"/>
                  <a:pt x="60208" y="37996"/>
                </a:cubicBezTo>
                <a:cubicBezTo>
                  <a:pt x="57396" y="36545"/>
                  <a:pt x="54181" y="35719"/>
                  <a:pt x="50810" y="35719"/>
                </a:cubicBezTo>
                <a:cubicBezTo>
                  <a:pt x="45340" y="35719"/>
                  <a:pt x="40094" y="37884"/>
                  <a:pt x="36210" y="41769"/>
                </a:cubicBezTo>
                <a:lnTo>
                  <a:pt x="20337" y="57641"/>
                </a:lnTo>
                <a:cubicBezTo>
                  <a:pt x="16475" y="61503"/>
                  <a:pt x="14288" y="66772"/>
                  <a:pt x="14288" y="72241"/>
                </a:cubicBezTo>
                <a:cubicBezTo>
                  <a:pt x="14288" y="83649"/>
                  <a:pt x="23530" y="92891"/>
                  <a:pt x="34937" y="92891"/>
                </a:cubicBezTo>
                <a:cubicBezTo>
                  <a:pt x="38621" y="92891"/>
                  <a:pt x="42215" y="91909"/>
                  <a:pt x="45363" y="90078"/>
                </a:cubicBezTo>
                <a:cubicBezTo>
                  <a:pt x="48890" y="93650"/>
                  <a:pt x="52998" y="96642"/>
                  <a:pt x="57552" y="98896"/>
                </a:cubicBezTo>
                <a:cubicBezTo>
                  <a:pt x="51256" y="104232"/>
                  <a:pt x="43264" y="107201"/>
                  <a:pt x="34937" y="107201"/>
                </a:cubicBezTo>
                <a:cubicBezTo>
                  <a:pt x="15649" y="107201"/>
                  <a:pt x="0" y="91574"/>
                  <a:pt x="0" y="72263"/>
                </a:cubicBezTo>
                <a:cubicBezTo>
                  <a:pt x="0" y="62999"/>
                  <a:pt x="3683" y="54114"/>
                  <a:pt x="10224" y="47573"/>
                </a:cubicBezTo>
                <a:lnTo>
                  <a:pt x="26097" y="31700"/>
                </a:lnTo>
                <a:cubicBezTo>
                  <a:pt x="32638" y="25159"/>
                  <a:pt x="41523" y="21476"/>
                  <a:pt x="50788" y="21476"/>
                </a:cubicBezTo>
                <a:cubicBezTo>
                  <a:pt x="70120" y="21476"/>
                  <a:pt x="85725" y="37237"/>
                  <a:pt x="85725" y="56503"/>
                </a:cubicBezTo>
                <a:cubicBezTo>
                  <a:pt x="85725" y="56793"/>
                  <a:pt x="85725" y="57083"/>
                  <a:pt x="85725" y="57373"/>
                </a:cubicBezTo>
                <a:cubicBezTo>
                  <a:pt x="85636" y="61325"/>
                  <a:pt x="82354" y="64428"/>
                  <a:pt x="78403" y="64338"/>
                </a:cubicBezTo>
                <a:cubicBezTo>
                  <a:pt x="74451" y="64249"/>
                  <a:pt x="71348" y="60967"/>
                  <a:pt x="71438" y="57016"/>
                </a:cubicBezTo>
                <a:cubicBezTo>
                  <a:pt x="71438" y="56837"/>
                  <a:pt x="71438" y="56681"/>
                  <a:pt x="71438" y="56503"/>
                </a:cubicBezTo>
                <a:cubicBezTo>
                  <a:pt x="71438" y="48979"/>
                  <a:pt x="67419" y="42371"/>
                  <a:pt x="61436" y="38733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78" name="Text 76"/>
          <p:cNvSpPr/>
          <p:nvPr/>
        </p:nvSpPr>
        <p:spPr>
          <a:xfrm>
            <a:off x="8464525" y="5105400"/>
            <a:ext cx="3209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Kaggle (Sulianova)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381000" y="5600700"/>
            <a:ext cx="11430000" cy="876300"/>
          </a:xfrm>
          <a:custGeom>
            <a:avLst/>
            <a:gdLst/>
            <a:ahLst/>
            <a:cxnLst/>
            <a:rect l="l" t="t" r="r" b="b"/>
            <a:pathLst>
              <a:path w="11430000" h="876300">
                <a:moveTo>
                  <a:pt x="114296" y="0"/>
                </a:moveTo>
                <a:lnTo>
                  <a:pt x="11315704" y="0"/>
                </a:lnTo>
                <a:cubicBezTo>
                  <a:pt x="11378828" y="0"/>
                  <a:pt x="11430000" y="51172"/>
                  <a:pt x="11430000" y="114296"/>
                </a:cubicBezTo>
                <a:lnTo>
                  <a:pt x="11430000" y="762004"/>
                </a:lnTo>
                <a:cubicBezTo>
                  <a:pt x="11430000" y="825128"/>
                  <a:pt x="11378828" y="876300"/>
                  <a:pt x="113157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A4A"/>
              </a:gs>
              <a:gs pos="100000">
                <a:srgbClr val="4A6D7C"/>
              </a:gs>
            </a:gsLst>
            <a:lin ang="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533400" y="5810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5D5D">
              <a:alpha val="20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666750" y="5943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82" name="Text 80"/>
          <p:cNvSpPr/>
          <p:nvPr/>
        </p:nvSpPr>
        <p:spPr>
          <a:xfrm>
            <a:off x="1143000" y="5753100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Patients Fusionnés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143000" y="5943600"/>
            <a:ext cx="2171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75 265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3464347" y="5800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85" name="Text 83"/>
          <p:cNvSpPr/>
          <p:nvPr/>
        </p:nvSpPr>
        <p:spPr>
          <a:xfrm>
            <a:off x="3711997" y="5762625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 de la Fusion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3445297" y="6067425"/>
            <a:ext cx="8286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Améliorer la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généralisation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du modèle aux trois contextes de soins : hospitalier, épidémiologique et préventif.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486" y="384658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100346" y="0"/>
                </a:moveTo>
                <a:lnTo>
                  <a:pt x="301037" y="0"/>
                </a:lnTo>
                <a:cubicBezTo>
                  <a:pt x="356456" y="0"/>
                  <a:pt x="401383" y="44926"/>
                  <a:pt x="401383" y="100346"/>
                </a:cubicBezTo>
                <a:lnTo>
                  <a:pt x="401383" y="301037"/>
                </a:lnTo>
                <a:cubicBezTo>
                  <a:pt x="401383" y="356456"/>
                  <a:pt x="356456" y="401383"/>
                  <a:pt x="301037" y="401383"/>
                </a:cubicBezTo>
                <a:lnTo>
                  <a:pt x="100346" y="401383"/>
                </a:lnTo>
                <a:cubicBezTo>
                  <a:pt x="44926" y="401383"/>
                  <a:pt x="0" y="356456"/>
                  <a:pt x="0" y="301037"/>
                </a:cubicBezTo>
                <a:lnTo>
                  <a:pt x="0" y="100346"/>
                </a:lnTo>
                <a:cubicBezTo>
                  <a:pt x="0" y="44963"/>
                  <a:pt x="44963" y="0"/>
                  <a:pt x="100346" y="0"/>
                </a:cubicBezTo>
                <a:close/>
              </a:path>
            </a:pathLst>
          </a:custGeom>
          <a:solidFill>
            <a:srgbClr val="4A6D7C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1556" y="501728"/>
            <a:ext cx="167243" cy="167243"/>
          </a:xfrm>
          <a:custGeom>
            <a:avLst/>
            <a:gdLst/>
            <a:ahLst/>
            <a:cxnLst/>
            <a:rect l="l" t="t" r="r" b="b"/>
            <a:pathLst>
              <a:path w="167243" h="167243">
                <a:moveTo>
                  <a:pt x="0" y="26132"/>
                </a:moveTo>
                <a:cubicBezTo>
                  <a:pt x="0" y="17476"/>
                  <a:pt x="7023" y="10453"/>
                  <a:pt x="15679" y="10453"/>
                </a:cubicBezTo>
                <a:lnTo>
                  <a:pt x="47037" y="10453"/>
                </a:lnTo>
                <a:cubicBezTo>
                  <a:pt x="55693" y="10453"/>
                  <a:pt x="62716" y="17476"/>
                  <a:pt x="62716" y="26132"/>
                </a:cubicBezTo>
                <a:lnTo>
                  <a:pt x="62716" y="31358"/>
                </a:lnTo>
                <a:lnTo>
                  <a:pt x="104527" y="31358"/>
                </a:lnTo>
                <a:lnTo>
                  <a:pt x="104527" y="26132"/>
                </a:lnTo>
                <a:cubicBezTo>
                  <a:pt x="104527" y="17476"/>
                  <a:pt x="111550" y="10453"/>
                  <a:pt x="120206" y="10453"/>
                </a:cubicBezTo>
                <a:lnTo>
                  <a:pt x="151564" y="10453"/>
                </a:lnTo>
                <a:cubicBezTo>
                  <a:pt x="160220" y="10453"/>
                  <a:pt x="167243" y="17476"/>
                  <a:pt x="167243" y="26132"/>
                </a:cubicBezTo>
                <a:lnTo>
                  <a:pt x="167243" y="57490"/>
                </a:lnTo>
                <a:cubicBezTo>
                  <a:pt x="167243" y="66146"/>
                  <a:pt x="160220" y="73169"/>
                  <a:pt x="151564" y="73169"/>
                </a:cubicBezTo>
                <a:lnTo>
                  <a:pt x="120206" y="73169"/>
                </a:lnTo>
                <a:cubicBezTo>
                  <a:pt x="111550" y="73169"/>
                  <a:pt x="104527" y="66146"/>
                  <a:pt x="104527" y="57490"/>
                </a:cubicBezTo>
                <a:lnTo>
                  <a:pt x="104527" y="52263"/>
                </a:lnTo>
                <a:lnTo>
                  <a:pt x="62716" y="52263"/>
                </a:lnTo>
                <a:lnTo>
                  <a:pt x="62716" y="57490"/>
                </a:lnTo>
                <a:cubicBezTo>
                  <a:pt x="62716" y="59874"/>
                  <a:pt x="62161" y="62161"/>
                  <a:pt x="61213" y="64186"/>
                </a:cubicBezTo>
                <a:lnTo>
                  <a:pt x="83621" y="94074"/>
                </a:lnTo>
                <a:lnTo>
                  <a:pt x="109753" y="94074"/>
                </a:lnTo>
                <a:cubicBezTo>
                  <a:pt x="118409" y="94074"/>
                  <a:pt x="125432" y="101097"/>
                  <a:pt x="125432" y="109753"/>
                </a:cubicBezTo>
                <a:lnTo>
                  <a:pt x="125432" y="141111"/>
                </a:lnTo>
                <a:cubicBezTo>
                  <a:pt x="125432" y="149767"/>
                  <a:pt x="118409" y="156790"/>
                  <a:pt x="109753" y="156790"/>
                </a:cubicBezTo>
                <a:lnTo>
                  <a:pt x="78395" y="156790"/>
                </a:lnTo>
                <a:cubicBezTo>
                  <a:pt x="69739" y="156790"/>
                  <a:pt x="62716" y="149767"/>
                  <a:pt x="62716" y="141111"/>
                </a:cubicBezTo>
                <a:lnTo>
                  <a:pt x="62716" y="109753"/>
                </a:lnTo>
                <a:cubicBezTo>
                  <a:pt x="62716" y="107369"/>
                  <a:pt x="63271" y="105082"/>
                  <a:pt x="64219" y="103057"/>
                </a:cubicBezTo>
                <a:lnTo>
                  <a:pt x="41811" y="73169"/>
                </a:lnTo>
                <a:lnTo>
                  <a:pt x="15679" y="73169"/>
                </a:lnTo>
                <a:cubicBezTo>
                  <a:pt x="7023" y="73169"/>
                  <a:pt x="0" y="66146"/>
                  <a:pt x="0" y="57490"/>
                </a:cubicBezTo>
                <a:lnTo>
                  <a:pt x="0" y="26132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4" name="Text 2"/>
          <p:cNvSpPr/>
          <p:nvPr/>
        </p:nvSpPr>
        <p:spPr>
          <a:xfrm>
            <a:off x="836214" y="334486"/>
            <a:ext cx="3244510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spc="46" kern="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6214" y="501728"/>
            <a:ext cx="3336494" cy="334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0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Pipeline Machine Learning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1210" y="1103802"/>
            <a:ext cx="11506305" cy="735868"/>
          </a:xfrm>
          <a:custGeom>
            <a:avLst/>
            <a:gdLst/>
            <a:ahLst/>
            <a:cxnLst/>
            <a:rect l="l" t="t" r="r" b="b"/>
            <a:pathLst>
              <a:path w="11506305" h="735868">
                <a:moveTo>
                  <a:pt x="33449" y="0"/>
                </a:moveTo>
                <a:lnTo>
                  <a:pt x="11405962" y="0"/>
                </a:lnTo>
                <a:cubicBezTo>
                  <a:pt x="11461379" y="0"/>
                  <a:pt x="11506305" y="44925"/>
                  <a:pt x="11506305" y="100343"/>
                </a:cubicBezTo>
                <a:lnTo>
                  <a:pt x="11506305" y="635525"/>
                </a:lnTo>
                <a:cubicBezTo>
                  <a:pt x="11506305" y="690943"/>
                  <a:pt x="11461379" y="735868"/>
                  <a:pt x="11405962" y="735868"/>
                </a:cubicBezTo>
                <a:lnTo>
                  <a:pt x="33449" y="735868"/>
                </a:lnTo>
                <a:cubicBezTo>
                  <a:pt x="14975" y="735868"/>
                  <a:pt x="0" y="720893"/>
                  <a:pt x="0" y="702420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173" dist="33449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1210" y="1103802"/>
            <a:ext cx="33449" cy="735868"/>
          </a:xfrm>
          <a:custGeom>
            <a:avLst/>
            <a:gdLst/>
            <a:ahLst/>
            <a:cxnLst/>
            <a:rect l="l" t="t" r="r" b="b"/>
            <a:pathLst>
              <a:path w="33449" h="735868">
                <a:moveTo>
                  <a:pt x="33449" y="0"/>
                </a:moveTo>
                <a:lnTo>
                  <a:pt x="33449" y="0"/>
                </a:lnTo>
                <a:lnTo>
                  <a:pt x="33449" y="735868"/>
                </a:lnTo>
                <a:lnTo>
                  <a:pt x="33449" y="735868"/>
                </a:lnTo>
                <a:cubicBezTo>
                  <a:pt x="14975" y="735868"/>
                  <a:pt x="0" y="720893"/>
                  <a:pt x="0" y="702420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8" name="Shape 6"/>
          <p:cNvSpPr/>
          <p:nvPr/>
        </p:nvSpPr>
        <p:spPr>
          <a:xfrm>
            <a:off x="501728" y="1271045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100346" y="0"/>
                </a:moveTo>
                <a:lnTo>
                  <a:pt x="301037" y="0"/>
                </a:lnTo>
                <a:cubicBezTo>
                  <a:pt x="356456" y="0"/>
                  <a:pt x="401383" y="44926"/>
                  <a:pt x="401383" y="100346"/>
                </a:cubicBezTo>
                <a:lnTo>
                  <a:pt x="401383" y="301037"/>
                </a:lnTo>
                <a:cubicBezTo>
                  <a:pt x="401383" y="356456"/>
                  <a:pt x="356456" y="401383"/>
                  <a:pt x="301037" y="401383"/>
                </a:cubicBezTo>
                <a:lnTo>
                  <a:pt x="100346" y="401383"/>
                </a:lnTo>
                <a:cubicBezTo>
                  <a:pt x="44926" y="401383"/>
                  <a:pt x="0" y="356456"/>
                  <a:pt x="0" y="301037"/>
                </a:cubicBezTo>
                <a:lnTo>
                  <a:pt x="0" y="100346"/>
                </a:lnTo>
                <a:cubicBezTo>
                  <a:pt x="0" y="44963"/>
                  <a:pt x="44963" y="0"/>
                  <a:pt x="100346" y="0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9" name="Text 7"/>
          <p:cNvSpPr/>
          <p:nvPr/>
        </p:nvSpPr>
        <p:spPr>
          <a:xfrm>
            <a:off x="668971" y="1354667"/>
            <a:ext cx="150519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6905" y="1237597"/>
            <a:ext cx="10419226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Définition du Problème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6905" y="1505185"/>
            <a:ext cx="10410864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binaire : MCV Présente (1) vs Absente (0)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554583" y="1388115"/>
            <a:ext cx="125432" cy="167243"/>
          </a:xfrm>
          <a:custGeom>
            <a:avLst/>
            <a:gdLst/>
            <a:ahLst/>
            <a:cxnLst/>
            <a:rect l="l" t="t" r="r" b="b"/>
            <a:pathLst>
              <a:path w="125432" h="167243">
                <a:moveTo>
                  <a:pt x="55334" y="164172"/>
                </a:moveTo>
                <a:cubicBezTo>
                  <a:pt x="59417" y="168255"/>
                  <a:pt x="66048" y="168255"/>
                  <a:pt x="70131" y="164172"/>
                </a:cubicBezTo>
                <a:lnTo>
                  <a:pt x="122394" y="111909"/>
                </a:lnTo>
                <a:cubicBezTo>
                  <a:pt x="126477" y="107826"/>
                  <a:pt x="126477" y="101195"/>
                  <a:pt x="122394" y="97112"/>
                </a:cubicBezTo>
                <a:cubicBezTo>
                  <a:pt x="118311" y="93029"/>
                  <a:pt x="111680" y="93029"/>
                  <a:pt x="107597" y="97112"/>
                </a:cubicBezTo>
                <a:lnTo>
                  <a:pt x="73169" y="131540"/>
                </a:lnTo>
                <a:lnTo>
                  <a:pt x="73169" y="10453"/>
                </a:lnTo>
                <a:cubicBezTo>
                  <a:pt x="73169" y="4671"/>
                  <a:pt x="68498" y="0"/>
                  <a:pt x="62716" y="0"/>
                </a:cubicBezTo>
                <a:cubicBezTo>
                  <a:pt x="56934" y="0"/>
                  <a:pt x="52263" y="4671"/>
                  <a:pt x="52263" y="10453"/>
                </a:cubicBezTo>
                <a:lnTo>
                  <a:pt x="52263" y="131540"/>
                </a:lnTo>
                <a:lnTo>
                  <a:pt x="17835" y="97112"/>
                </a:lnTo>
                <a:cubicBezTo>
                  <a:pt x="13752" y="93029"/>
                  <a:pt x="7121" y="93029"/>
                  <a:pt x="3038" y="97112"/>
                </a:cubicBezTo>
                <a:cubicBezTo>
                  <a:pt x="-1045" y="101195"/>
                  <a:pt x="-1045" y="107826"/>
                  <a:pt x="3038" y="111909"/>
                </a:cubicBezTo>
                <a:lnTo>
                  <a:pt x="55301" y="164172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13" name="Shape 11"/>
          <p:cNvSpPr/>
          <p:nvPr/>
        </p:nvSpPr>
        <p:spPr>
          <a:xfrm>
            <a:off x="351210" y="1940016"/>
            <a:ext cx="11506305" cy="735868"/>
          </a:xfrm>
          <a:custGeom>
            <a:avLst/>
            <a:gdLst/>
            <a:ahLst/>
            <a:cxnLst/>
            <a:rect l="l" t="t" r="r" b="b"/>
            <a:pathLst>
              <a:path w="11506305" h="735868">
                <a:moveTo>
                  <a:pt x="33449" y="0"/>
                </a:moveTo>
                <a:lnTo>
                  <a:pt x="11405962" y="0"/>
                </a:lnTo>
                <a:cubicBezTo>
                  <a:pt x="11461379" y="0"/>
                  <a:pt x="11506305" y="44925"/>
                  <a:pt x="11506305" y="100343"/>
                </a:cubicBezTo>
                <a:lnTo>
                  <a:pt x="11506305" y="635525"/>
                </a:lnTo>
                <a:cubicBezTo>
                  <a:pt x="11506305" y="690943"/>
                  <a:pt x="11461379" y="735868"/>
                  <a:pt x="11405962" y="735868"/>
                </a:cubicBezTo>
                <a:lnTo>
                  <a:pt x="33449" y="735868"/>
                </a:lnTo>
                <a:cubicBezTo>
                  <a:pt x="14975" y="735868"/>
                  <a:pt x="0" y="720893"/>
                  <a:pt x="0" y="702420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173" dist="33449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1210" y="1940016"/>
            <a:ext cx="33449" cy="735868"/>
          </a:xfrm>
          <a:custGeom>
            <a:avLst/>
            <a:gdLst/>
            <a:ahLst/>
            <a:cxnLst/>
            <a:rect l="l" t="t" r="r" b="b"/>
            <a:pathLst>
              <a:path w="33449" h="735868">
                <a:moveTo>
                  <a:pt x="33449" y="0"/>
                </a:moveTo>
                <a:lnTo>
                  <a:pt x="33449" y="0"/>
                </a:lnTo>
                <a:lnTo>
                  <a:pt x="33449" y="735868"/>
                </a:lnTo>
                <a:lnTo>
                  <a:pt x="33449" y="735868"/>
                </a:lnTo>
                <a:cubicBezTo>
                  <a:pt x="14975" y="735868"/>
                  <a:pt x="0" y="720893"/>
                  <a:pt x="0" y="702420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1728" y="2107259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100346" y="0"/>
                </a:moveTo>
                <a:lnTo>
                  <a:pt x="301037" y="0"/>
                </a:lnTo>
                <a:cubicBezTo>
                  <a:pt x="356456" y="0"/>
                  <a:pt x="401383" y="44926"/>
                  <a:pt x="401383" y="100346"/>
                </a:cubicBezTo>
                <a:lnTo>
                  <a:pt x="401383" y="301037"/>
                </a:lnTo>
                <a:cubicBezTo>
                  <a:pt x="401383" y="356456"/>
                  <a:pt x="356456" y="401383"/>
                  <a:pt x="301037" y="401383"/>
                </a:cubicBezTo>
                <a:lnTo>
                  <a:pt x="100346" y="401383"/>
                </a:lnTo>
                <a:cubicBezTo>
                  <a:pt x="44926" y="401383"/>
                  <a:pt x="0" y="356456"/>
                  <a:pt x="0" y="301037"/>
                </a:cubicBezTo>
                <a:lnTo>
                  <a:pt x="0" y="100346"/>
                </a:lnTo>
                <a:cubicBezTo>
                  <a:pt x="0" y="44963"/>
                  <a:pt x="44963" y="0"/>
                  <a:pt x="100346" y="0"/>
                </a:cubicBez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53815" y="2190881"/>
            <a:ext cx="183967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36905" y="2073811"/>
            <a:ext cx="10419226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Analyse Exploratoire (EDA)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36905" y="2341399"/>
            <a:ext cx="10410864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Statistiques, visualisations, détection d'anomalies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554583" y="2224329"/>
            <a:ext cx="125432" cy="167243"/>
          </a:xfrm>
          <a:custGeom>
            <a:avLst/>
            <a:gdLst/>
            <a:ahLst/>
            <a:cxnLst/>
            <a:rect l="l" t="t" r="r" b="b"/>
            <a:pathLst>
              <a:path w="125432" h="167243">
                <a:moveTo>
                  <a:pt x="55334" y="164172"/>
                </a:moveTo>
                <a:cubicBezTo>
                  <a:pt x="59417" y="168255"/>
                  <a:pt x="66048" y="168255"/>
                  <a:pt x="70131" y="164172"/>
                </a:cubicBezTo>
                <a:lnTo>
                  <a:pt x="122394" y="111909"/>
                </a:lnTo>
                <a:cubicBezTo>
                  <a:pt x="126477" y="107826"/>
                  <a:pt x="126477" y="101195"/>
                  <a:pt x="122394" y="97112"/>
                </a:cubicBezTo>
                <a:cubicBezTo>
                  <a:pt x="118311" y="93029"/>
                  <a:pt x="111680" y="93029"/>
                  <a:pt x="107597" y="97112"/>
                </a:cubicBezTo>
                <a:lnTo>
                  <a:pt x="73169" y="131540"/>
                </a:lnTo>
                <a:lnTo>
                  <a:pt x="73169" y="10453"/>
                </a:lnTo>
                <a:cubicBezTo>
                  <a:pt x="73169" y="4671"/>
                  <a:pt x="68498" y="0"/>
                  <a:pt x="62716" y="0"/>
                </a:cubicBezTo>
                <a:cubicBezTo>
                  <a:pt x="56934" y="0"/>
                  <a:pt x="52263" y="4671"/>
                  <a:pt x="52263" y="10453"/>
                </a:cubicBezTo>
                <a:lnTo>
                  <a:pt x="52263" y="131540"/>
                </a:lnTo>
                <a:lnTo>
                  <a:pt x="17835" y="97112"/>
                </a:lnTo>
                <a:cubicBezTo>
                  <a:pt x="13752" y="93029"/>
                  <a:pt x="7121" y="93029"/>
                  <a:pt x="3038" y="97112"/>
                </a:cubicBezTo>
                <a:cubicBezTo>
                  <a:pt x="-1045" y="101195"/>
                  <a:pt x="-1045" y="107826"/>
                  <a:pt x="3038" y="111909"/>
                </a:cubicBezTo>
                <a:lnTo>
                  <a:pt x="55301" y="164172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20" name="Shape 18"/>
          <p:cNvSpPr/>
          <p:nvPr/>
        </p:nvSpPr>
        <p:spPr>
          <a:xfrm>
            <a:off x="351210" y="2776230"/>
            <a:ext cx="11506305" cy="735868"/>
          </a:xfrm>
          <a:custGeom>
            <a:avLst/>
            <a:gdLst/>
            <a:ahLst/>
            <a:cxnLst/>
            <a:rect l="l" t="t" r="r" b="b"/>
            <a:pathLst>
              <a:path w="11506305" h="735868">
                <a:moveTo>
                  <a:pt x="33449" y="0"/>
                </a:moveTo>
                <a:lnTo>
                  <a:pt x="11405962" y="0"/>
                </a:lnTo>
                <a:cubicBezTo>
                  <a:pt x="11461379" y="0"/>
                  <a:pt x="11506305" y="44925"/>
                  <a:pt x="11506305" y="100343"/>
                </a:cubicBezTo>
                <a:lnTo>
                  <a:pt x="11506305" y="635525"/>
                </a:lnTo>
                <a:cubicBezTo>
                  <a:pt x="11506305" y="690943"/>
                  <a:pt x="11461379" y="735868"/>
                  <a:pt x="11405962" y="735868"/>
                </a:cubicBezTo>
                <a:lnTo>
                  <a:pt x="33449" y="735868"/>
                </a:lnTo>
                <a:cubicBezTo>
                  <a:pt x="14975" y="735868"/>
                  <a:pt x="0" y="720893"/>
                  <a:pt x="0" y="702420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173" dist="33449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1210" y="2776230"/>
            <a:ext cx="33449" cy="735868"/>
          </a:xfrm>
          <a:custGeom>
            <a:avLst/>
            <a:gdLst/>
            <a:ahLst/>
            <a:cxnLst/>
            <a:rect l="l" t="t" r="r" b="b"/>
            <a:pathLst>
              <a:path w="33449" h="735868">
                <a:moveTo>
                  <a:pt x="33449" y="0"/>
                </a:moveTo>
                <a:lnTo>
                  <a:pt x="33449" y="0"/>
                </a:lnTo>
                <a:lnTo>
                  <a:pt x="33449" y="735868"/>
                </a:lnTo>
                <a:lnTo>
                  <a:pt x="33449" y="735868"/>
                </a:lnTo>
                <a:cubicBezTo>
                  <a:pt x="14975" y="735868"/>
                  <a:pt x="0" y="720893"/>
                  <a:pt x="0" y="702420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22" name="Shape 20"/>
          <p:cNvSpPr/>
          <p:nvPr/>
        </p:nvSpPr>
        <p:spPr>
          <a:xfrm>
            <a:off x="501728" y="2943473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100346" y="0"/>
                </a:moveTo>
                <a:lnTo>
                  <a:pt x="301037" y="0"/>
                </a:lnTo>
                <a:cubicBezTo>
                  <a:pt x="356456" y="0"/>
                  <a:pt x="401383" y="44926"/>
                  <a:pt x="401383" y="100346"/>
                </a:cubicBezTo>
                <a:lnTo>
                  <a:pt x="401383" y="301037"/>
                </a:lnTo>
                <a:cubicBezTo>
                  <a:pt x="401383" y="356456"/>
                  <a:pt x="356456" y="401383"/>
                  <a:pt x="301037" y="401383"/>
                </a:cubicBezTo>
                <a:lnTo>
                  <a:pt x="100346" y="401383"/>
                </a:lnTo>
                <a:cubicBezTo>
                  <a:pt x="44926" y="401383"/>
                  <a:pt x="0" y="356456"/>
                  <a:pt x="0" y="301037"/>
                </a:cubicBezTo>
                <a:lnTo>
                  <a:pt x="0" y="100346"/>
                </a:lnTo>
                <a:cubicBezTo>
                  <a:pt x="0" y="44963"/>
                  <a:pt x="44963" y="0"/>
                  <a:pt x="100346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23" name="Text 21"/>
          <p:cNvSpPr/>
          <p:nvPr/>
        </p:nvSpPr>
        <p:spPr>
          <a:xfrm>
            <a:off x="653031" y="3027095"/>
            <a:ext cx="183967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36905" y="2910025"/>
            <a:ext cx="10419226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Prétraitement &amp; Nettoyage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36905" y="3177613"/>
            <a:ext cx="10410864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Imputation, encodage, normalisation des données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554583" y="3060543"/>
            <a:ext cx="125432" cy="167243"/>
          </a:xfrm>
          <a:custGeom>
            <a:avLst/>
            <a:gdLst/>
            <a:ahLst/>
            <a:cxnLst/>
            <a:rect l="l" t="t" r="r" b="b"/>
            <a:pathLst>
              <a:path w="125432" h="167243">
                <a:moveTo>
                  <a:pt x="55334" y="164172"/>
                </a:moveTo>
                <a:cubicBezTo>
                  <a:pt x="59417" y="168255"/>
                  <a:pt x="66048" y="168255"/>
                  <a:pt x="70131" y="164172"/>
                </a:cubicBezTo>
                <a:lnTo>
                  <a:pt x="122394" y="111909"/>
                </a:lnTo>
                <a:cubicBezTo>
                  <a:pt x="126477" y="107826"/>
                  <a:pt x="126477" y="101195"/>
                  <a:pt x="122394" y="97112"/>
                </a:cubicBezTo>
                <a:cubicBezTo>
                  <a:pt x="118311" y="93029"/>
                  <a:pt x="111680" y="93029"/>
                  <a:pt x="107597" y="97112"/>
                </a:cubicBezTo>
                <a:lnTo>
                  <a:pt x="73169" y="131540"/>
                </a:lnTo>
                <a:lnTo>
                  <a:pt x="73169" y="10453"/>
                </a:lnTo>
                <a:cubicBezTo>
                  <a:pt x="73169" y="4671"/>
                  <a:pt x="68498" y="0"/>
                  <a:pt x="62716" y="0"/>
                </a:cubicBezTo>
                <a:cubicBezTo>
                  <a:pt x="56934" y="0"/>
                  <a:pt x="52263" y="4671"/>
                  <a:pt x="52263" y="10453"/>
                </a:cubicBezTo>
                <a:lnTo>
                  <a:pt x="52263" y="131540"/>
                </a:lnTo>
                <a:lnTo>
                  <a:pt x="17835" y="97112"/>
                </a:lnTo>
                <a:cubicBezTo>
                  <a:pt x="13752" y="93029"/>
                  <a:pt x="7121" y="93029"/>
                  <a:pt x="3038" y="97112"/>
                </a:cubicBezTo>
                <a:cubicBezTo>
                  <a:pt x="-1045" y="101195"/>
                  <a:pt x="-1045" y="107826"/>
                  <a:pt x="3038" y="111909"/>
                </a:cubicBezTo>
                <a:lnTo>
                  <a:pt x="55301" y="164172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27" name="Shape 25"/>
          <p:cNvSpPr/>
          <p:nvPr/>
        </p:nvSpPr>
        <p:spPr>
          <a:xfrm>
            <a:off x="351210" y="3612444"/>
            <a:ext cx="11506305" cy="735868"/>
          </a:xfrm>
          <a:custGeom>
            <a:avLst/>
            <a:gdLst/>
            <a:ahLst/>
            <a:cxnLst/>
            <a:rect l="l" t="t" r="r" b="b"/>
            <a:pathLst>
              <a:path w="11506305" h="735868">
                <a:moveTo>
                  <a:pt x="33449" y="0"/>
                </a:moveTo>
                <a:lnTo>
                  <a:pt x="11405962" y="0"/>
                </a:lnTo>
                <a:cubicBezTo>
                  <a:pt x="11461379" y="0"/>
                  <a:pt x="11506305" y="44925"/>
                  <a:pt x="11506305" y="100343"/>
                </a:cubicBezTo>
                <a:lnTo>
                  <a:pt x="11506305" y="635525"/>
                </a:lnTo>
                <a:cubicBezTo>
                  <a:pt x="11506305" y="690943"/>
                  <a:pt x="11461379" y="735868"/>
                  <a:pt x="11405962" y="735868"/>
                </a:cubicBezTo>
                <a:lnTo>
                  <a:pt x="33449" y="735868"/>
                </a:lnTo>
                <a:cubicBezTo>
                  <a:pt x="14975" y="735868"/>
                  <a:pt x="0" y="720893"/>
                  <a:pt x="0" y="702420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173" dist="33449" dir="540000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1210" y="3612444"/>
            <a:ext cx="33449" cy="735868"/>
          </a:xfrm>
          <a:custGeom>
            <a:avLst/>
            <a:gdLst/>
            <a:ahLst/>
            <a:cxnLst/>
            <a:rect l="l" t="t" r="r" b="b"/>
            <a:pathLst>
              <a:path w="33449" h="735868">
                <a:moveTo>
                  <a:pt x="33449" y="0"/>
                </a:moveTo>
                <a:lnTo>
                  <a:pt x="33449" y="0"/>
                </a:lnTo>
                <a:lnTo>
                  <a:pt x="33449" y="735868"/>
                </a:lnTo>
                <a:lnTo>
                  <a:pt x="33449" y="735868"/>
                </a:lnTo>
                <a:cubicBezTo>
                  <a:pt x="14975" y="735868"/>
                  <a:pt x="0" y="720893"/>
                  <a:pt x="0" y="702420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29" name="Shape 27"/>
          <p:cNvSpPr/>
          <p:nvPr/>
        </p:nvSpPr>
        <p:spPr>
          <a:xfrm>
            <a:off x="501728" y="3779687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100346" y="0"/>
                </a:moveTo>
                <a:lnTo>
                  <a:pt x="301037" y="0"/>
                </a:lnTo>
                <a:cubicBezTo>
                  <a:pt x="356456" y="0"/>
                  <a:pt x="401383" y="44926"/>
                  <a:pt x="401383" y="100346"/>
                </a:cubicBezTo>
                <a:lnTo>
                  <a:pt x="401383" y="301037"/>
                </a:lnTo>
                <a:cubicBezTo>
                  <a:pt x="401383" y="356456"/>
                  <a:pt x="356456" y="401383"/>
                  <a:pt x="301037" y="401383"/>
                </a:cubicBezTo>
                <a:lnTo>
                  <a:pt x="100346" y="401383"/>
                </a:lnTo>
                <a:cubicBezTo>
                  <a:pt x="44926" y="401383"/>
                  <a:pt x="0" y="356456"/>
                  <a:pt x="0" y="301037"/>
                </a:cubicBezTo>
                <a:lnTo>
                  <a:pt x="0" y="100346"/>
                </a:lnTo>
                <a:cubicBezTo>
                  <a:pt x="0" y="44963"/>
                  <a:pt x="44963" y="0"/>
                  <a:pt x="100346" y="0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30" name="Text 28"/>
          <p:cNvSpPr/>
          <p:nvPr/>
        </p:nvSpPr>
        <p:spPr>
          <a:xfrm>
            <a:off x="653162" y="3863309"/>
            <a:ext cx="183967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36905" y="3746239"/>
            <a:ext cx="10419226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Ingénierie des Caractéristiques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36905" y="4013827"/>
            <a:ext cx="10410864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Création de variables cliniques pertinentes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554583" y="3896757"/>
            <a:ext cx="125432" cy="167243"/>
          </a:xfrm>
          <a:custGeom>
            <a:avLst/>
            <a:gdLst/>
            <a:ahLst/>
            <a:cxnLst/>
            <a:rect l="l" t="t" r="r" b="b"/>
            <a:pathLst>
              <a:path w="125432" h="167243">
                <a:moveTo>
                  <a:pt x="55334" y="164172"/>
                </a:moveTo>
                <a:cubicBezTo>
                  <a:pt x="59417" y="168255"/>
                  <a:pt x="66048" y="168255"/>
                  <a:pt x="70131" y="164172"/>
                </a:cubicBezTo>
                <a:lnTo>
                  <a:pt x="122394" y="111909"/>
                </a:lnTo>
                <a:cubicBezTo>
                  <a:pt x="126477" y="107826"/>
                  <a:pt x="126477" y="101195"/>
                  <a:pt x="122394" y="97112"/>
                </a:cubicBezTo>
                <a:cubicBezTo>
                  <a:pt x="118311" y="93029"/>
                  <a:pt x="111680" y="93029"/>
                  <a:pt x="107597" y="97112"/>
                </a:cubicBezTo>
                <a:lnTo>
                  <a:pt x="73169" y="131540"/>
                </a:lnTo>
                <a:lnTo>
                  <a:pt x="73169" y="10453"/>
                </a:lnTo>
                <a:cubicBezTo>
                  <a:pt x="73169" y="4671"/>
                  <a:pt x="68498" y="0"/>
                  <a:pt x="62716" y="0"/>
                </a:cubicBezTo>
                <a:cubicBezTo>
                  <a:pt x="56934" y="0"/>
                  <a:pt x="52263" y="4671"/>
                  <a:pt x="52263" y="10453"/>
                </a:cubicBezTo>
                <a:lnTo>
                  <a:pt x="52263" y="131540"/>
                </a:lnTo>
                <a:lnTo>
                  <a:pt x="17835" y="97112"/>
                </a:lnTo>
                <a:cubicBezTo>
                  <a:pt x="13752" y="93029"/>
                  <a:pt x="7121" y="93029"/>
                  <a:pt x="3038" y="97112"/>
                </a:cubicBezTo>
                <a:cubicBezTo>
                  <a:pt x="-1045" y="101195"/>
                  <a:pt x="-1045" y="107826"/>
                  <a:pt x="3038" y="111909"/>
                </a:cubicBezTo>
                <a:lnTo>
                  <a:pt x="55301" y="164172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34" name="Shape 32"/>
          <p:cNvSpPr/>
          <p:nvPr/>
        </p:nvSpPr>
        <p:spPr>
          <a:xfrm>
            <a:off x="351210" y="4448658"/>
            <a:ext cx="11506305" cy="735868"/>
          </a:xfrm>
          <a:custGeom>
            <a:avLst/>
            <a:gdLst/>
            <a:ahLst/>
            <a:cxnLst/>
            <a:rect l="l" t="t" r="r" b="b"/>
            <a:pathLst>
              <a:path w="11506305" h="735868">
                <a:moveTo>
                  <a:pt x="33449" y="0"/>
                </a:moveTo>
                <a:lnTo>
                  <a:pt x="11405962" y="0"/>
                </a:lnTo>
                <a:cubicBezTo>
                  <a:pt x="11461379" y="0"/>
                  <a:pt x="11506305" y="44925"/>
                  <a:pt x="11506305" y="100343"/>
                </a:cubicBezTo>
                <a:lnTo>
                  <a:pt x="11506305" y="635525"/>
                </a:lnTo>
                <a:cubicBezTo>
                  <a:pt x="11506305" y="690943"/>
                  <a:pt x="11461379" y="735868"/>
                  <a:pt x="11405962" y="735868"/>
                </a:cubicBezTo>
                <a:lnTo>
                  <a:pt x="33449" y="735868"/>
                </a:lnTo>
                <a:cubicBezTo>
                  <a:pt x="14975" y="735868"/>
                  <a:pt x="0" y="720893"/>
                  <a:pt x="0" y="702420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173" dist="33449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51210" y="4448658"/>
            <a:ext cx="33449" cy="735868"/>
          </a:xfrm>
          <a:custGeom>
            <a:avLst/>
            <a:gdLst/>
            <a:ahLst/>
            <a:cxnLst/>
            <a:rect l="l" t="t" r="r" b="b"/>
            <a:pathLst>
              <a:path w="33449" h="735868">
                <a:moveTo>
                  <a:pt x="33449" y="0"/>
                </a:moveTo>
                <a:lnTo>
                  <a:pt x="33449" y="0"/>
                </a:lnTo>
                <a:lnTo>
                  <a:pt x="33449" y="735868"/>
                </a:lnTo>
                <a:lnTo>
                  <a:pt x="33449" y="735868"/>
                </a:lnTo>
                <a:cubicBezTo>
                  <a:pt x="14975" y="735868"/>
                  <a:pt x="0" y="720893"/>
                  <a:pt x="0" y="702420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36" name="Shape 34"/>
          <p:cNvSpPr/>
          <p:nvPr/>
        </p:nvSpPr>
        <p:spPr>
          <a:xfrm>
            <a:off x="501728" y="4615901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100346" y="0"/>
                </a:moveTo>
                <a:lnTo>
                  <a:pt x="301037" y="0"/>
                </a:lnTo>
                <a:cubicBezTo>
                  <a:pt x="356456" y="0"/>
                  <a:pt x="401383" y="44926"/>
                  <a:pt x="401383" y="100346"/>
                </a:cubicBezTo>
                <a:lnTo>
                  <a:pt x="401383" y="301037"/>
                </a:lnTo>
                <a:cubicBezTo>
                  <a:pt x="401383" y="356456"/>
                  <a:pt x="356456" y="401383"/>
                  <a:pt x="301037" y="401383"/>
                </a:cubicBezTo>
                <a:lnTo>
                  <a:pt x="100346" y="401383"/>
                </a:lnTo>
                <a:cubicBezTo>
                  <a:pt x="44926" y="401383"/>
                  <a:pt x="0" y="356456"/>
                  <a:pt x="0" y="301037"/>
                </a:cubicBezTo>
                <a:lnTo>
                  <a:pt x="0" y="100346"/>
                </a:lnTo>
                <a:cubicBezTo>
                  <a:pt x="0" y="44963"/>
                  <a:pt x="44963" y="0"/>
                  <a:pt x="100346" y="0"/>
                </a:cubicBez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37" name="Text 35"/>
          <p:cNvSpPr/>
          <p:nvPr/>
        </p:nvSpPr>
        <p:spPr>
          <a:xfrm>
            <a:off x="654207" y="4699523"/>
            <a:ext cx="183967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36905" y="4582453"/>
            <a:ext cx="10419226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Entraînement des Modèles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36905" y="4850041"/>
            <a:ext cx="10410864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Comparaison de 4+ algorithmes (Logistic Regression, Random Forest, etc.)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554583" y="4732971"/>
            <a:ext cx="125432" cy="167243"/>
          </a:xfrm>
          <a:custGeom>
            <a:avLst/>
            <a:gdLst/>
            <a:ahLst/>
            <a:cxnLst/>
            <a:rect l="l" t="t" r="r" b="b"/>
            <a:pathLst>
              <a:path w="125432" h="167243">
                <a:moveTo>
                  <a:pt x="55334" y="164172"/>
                </a:moveTo>
                <a:cubicBezTo>
                  <a:pt x="59417" y="168255"/>
                  <a:pt x="66048" y="168255"/>
                  <a:pt x="70131" y="164172"/>
                </a:cubicBezTo>
                <a:lnTo>
                  <a:pt x="122394" y="111909"/>
                </a:lnTo>
                <a:cubicBezTo>
                  <a:pt x="126477" y="107826"/>
                  <a:pt x="126477" y="101195"/>
                  <a:pt x="122394" y="97112"/>
                </a:cubicBezTo>
                <a:cubicBezTo>
                  <a:pt x="118311" y="93029"/>
                  <a:pt x="111680" y="93029"/>
                  <a:pt x="107597" y="97112"/>
                </a:cubicBezTo>
                <a:lnTo>
                  <a:pt x="73169" y="131540"/>
                </a:lnTo>
                <a:lnTo>
                  <a:pt x="73169" y="10453"/>
                </a:lnTo>
                <a:cubicBezTo>
                  <a:pt x="73169" y="4671"/>
                  <a:pt x="68498" y="0"/>
                  <a:pt x="62716" y="0"/>
                </a:cubicBezTo>
                <a:cubicBezTo>
                  <a:pt x="56934" y="0"/>
                  <a:pt x="52263" y="4671"/>
                  <a:pt x="52263" y="10453"/>
                </a:cubicBezTo>
                <a:lnTo>
                  <a:pt x="52263" y="131540"/>
                </a:lnTo>
                <a:lnTo>
                  <a:pt x="17835" y="97112"/>
                </a:lnTo>
                <a:cubicBezTo>
                  <a:pt x="13752" y="93029"/>
                  <a:pt x="7121" y="93029"/>
                  <a:pt x="3038" y="97112"/>
                </a:cubicBezTo>
                <a:cubicBezTo>
                  <a:pt x="-1045" y="101195"/>
                  <a:pt x="-1045" y="107826"/>
                  <a:pt x="3038" y="111909"/>
                </a:cubicBezTo>
                <a:lnTo>
                  <a:pt x="55301" y="164172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41" name="Shape 39"/>
          <p:cNvSpPr/>
          <p:nvPr/>
        </p:nvSpPr>
        <p:spPr>
          <a:xfrm>
            <a:off x="351210" y="5284872"/>
            <a:ext cx="11506305" cy="735868"/>
          </a:xfrm>
          <a:custGeom>
            <a:avLst/>
            <a:gdLst/>
            <a:ahLst/>
            <a:cxnLst/>
            <a:rect l="l" t="t" r="r" b="b"/>
            <a:pathLst>
              <a:path w="11506305" h="735868">
                <a:moveTo>
                  <a:pt x="33449" y="0"/>
                </a:moveTo>
                <a:lnTo>
                  <a:pt x="11405962" y="0"/>
                </a:lnTo>
                <a:cubicBezTo>
                  <a:pt x="11461379" y="0"/>
                  <a:pt x="11506305" y="44925"/>
                  <a:pt x="11506305" y="100343"/>
                </a:cubicBezTo>
                <a:lnTo>
                  <a:pt x="11506305" y="635525"/>
                </a:lnTo>
                <a:cubicBezTo>
                  <a:pt x="11506305" y="690943"/>
                  <a:pt x="11461379" y="735868"/>
                  <a:pt x="11405962" y="735868"/>
                </a:cubicBezTo>
                <a:lnTo>
                  <a:pt x="33449" y="735868"/>
                </a:lnTo>
                <a:cubicBezTo>
                  <a:pt x="14975" y="735868"/>
                  <a:pt x="0" y="720893"/>
                  <a:pt x="0" y="702420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173" dist="33449" dir="540000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51210" y="5284872"/>
            <a:ext cx="33449" cy="735868"/>
          </a:xfrm>
          <a:custGeom>
            <a:avLst/>
            <a:gdLst/>
            <a:ahLst/>
            <a:cxnLst/>
            <a:rect l="l" t="t" r="r" b="b"/>
            <a:pathLst>
              <a:path w="33449" h="735868">
                <a:moveTo>
                  <a:pt x="33449" y="0"/>
                </a:moveTo>
                <a:lnTo>
                  <a:pt x="33449" y="0"/>
                </a:lnTo>
                <a:lnTo>
                  <a:pt x="33449" y="735868"/>
                </a:lnTo>
                <a:lnTo>
                  <a:pt x="33449" y="735868"/>
                </a:lnTo>
                <a:cubicBezTo>
                  <a:pt x="14975" y="735868"/>
                  <a:pt x="0" y="720893"/>
                  <a:pt x="0" y="702420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43" name="Shape 41"/>
          <p:cNvSpPr/>
          <p:nvPr/>
        </p:nvSpPr>
        <p:spPr>
          <a:xfrm>
            <a:off x="501728" y="5452115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100346" y="0"/>
                </a:moveTo>
                <a:lnTo>
                  <a:pt x="301037" y="0"/>
                </a:lnTo>
                <a:cubicBezTo>
                  <a:pt x="356456" y="0"/>
                  <a:pt x="401383" y="44926"/>
                  <a:pt x="401383" y="100346"/>
                </a:cubicBezTo>
                <a:lnTo>
                  <a:pt x="401383" y="301037"/>
                </a:lnTo>
                <a:cubicBezTo>
                  <a:pt x="401383" y="356456"/>
                  <a:pt x="356456" y="401383"/>
                  <a:pt x="301037" y="401383"/>
                </a:cubicBezTo>
                <a:lnTo>
                  <a:pt x="100346" y="401383"/>
                </a:lnTo>
                <a:cubicBezTo>
                  <a:pt x="44926" y="401383"/>
                  <a:pt x="0" y="356456"/>
                  <a:pt x="0" y="301037"/>
                </a:cubicBezTo>
                <a:lnTo>
                  <a:pt x="0" y="100346"/>
                </a:lnTo>
                <a:cubicBezTo>
                  <a:pt x="0" y="44963"/>
                  <a:pt x="44963" y="0"/>
                  <a:pt x="100346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44" name="Text 42"/>
          <p:cNvSpPr/>
          <p:nvPr/>
        </p:nvSpPr>
        <p:spPr>
          <a:xfrm>
            <a:off x="652378" y="5535737"/>
            <a:ext cx="183967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36905" y="5418667"/>
            <a:ext cx="10419226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Évaluation &amp; Optimisation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36905" y="5686255"/>
            <a:ext cx="10410864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RandomizedSearchCV, validation croisée stratifiée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554583" y="5569185"/>
            <a:ext cx="125432" cy="167243"/>
          </a:xfrm>
          <a:custGeom>
            <a:avLst/>
            <a:gdLst/>
            <a:ahLst/>
            <a:cxnLst/>
            <a:rect l="l" t="t" r="r" b="b"/>
            <a:pathLst>
              <a:path w="125432" h="167243">
                <a:moveTo>
                  <a:pt x="55334" y="164172"/>
                </a:moveTo>
                <a:cubicBezTo>
                  <a:pt x="59417" y="168255"/>
                  <a:pt x="66048" y="168255"/>
                  <a:pt x="70131" y="164172"/>
                </a:cubicBezTo>
                <a:lnTo>
                  <a:pt x="122394" y="111909"/>
                </a:lnTo>
                <a:cubicBezTo>
                  <a:pt x="126477" y="107826"/>
                  <a:pt x="126477" y="101195"/>
                  <a:pt x="122394" y="97112"/>
                </a:cubicBezTo>
                <a:cubicBezTo>
                  <a:pt x="118311" y="93029"/>
                  <a:pt x="111680" y="93029"/>
                  <a:pt x="107597" y="97112"/>
                </a:cubicBezTo>
                <a:lnTo>
                  <a:pt x="73169" y="131540"/>
                </a:lnTo>
                <a:lnTo>
                  <a:pt x="73169" y="10453"/>
                </a:lnTo>
                <a:cubicBezTo>
                  <a:pt x="73169" y="4671"/>
                  <a:pt x="68498" y="0"/>
                  <a:pt x="62716" y="0"/>
                </a:cubicBezTo>
                <a:cubicBezTo>
                  <a:pt x="56934" y="0"/>
                  <a:pt x="52263" y="4671"/>
                  <a:pt x="52263" y="10453"/>
                </a:cubicBezTo>
                <a:lnTo>
                  <a:pt x="52263" y="131540"/>
                </a:lnTo>
                <a:lnTo>
                  <a:pt x="17835" y="97112"/>
                </a:lnTo>
                <a:cubicBezTo>
                  <a:pt x="13752" y="93029"/>
                  <a:pt x="7121" y="93029"/>
                  <a:pt x="3038" y="97112"/>
                </a:cubicBezTo>
                <a:cubicBezTo>
                  <a:pt x="-1045" y="101195"/>
                  <a:pt x="-1045" y="107826"/>
                  <a:pt x="3038" y="111909"/>
                </a:cubicBezTo>
                <a:lnTo>
                  <a:pt x="55301" y="164172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48" name="Shape 46"/>
          <p:cNvSpPr/>
          <p:nvPr/>
        </p:nvSpPr>
        <p:spPr>
          <a:xfrm>
            <a:off x="334486" y="6121086"/>
            <a:ext cx="11523029" cy="735868"/>
          </a:xfrm>
          <a:custGeom>
            <a:avLst/>
            <a:gdLst/>
            <a:ahLst/>
            <a:cxnLst/>
            <a:rect l="l" t="t" r="r" b="b"/>
            <a:pathLst>
              <a:path w="11523029" h="735868">
                <a:moveTo>
                  <a:pt x="100343" y="0"/>
                </a:moveTo>
                <a:lnTo>
                  <a:pt x="11422686" y="0"/>
                </a:lnTo>
                <a:cubicBezTo>
                  <a:pt x="11478104" y="0"/>
                  <a:pt x="11523029" y="44925"/>
                  <a:pt x="11523029" y="100343"/>
                </a:cubicBezTo>
                <a:lnTo>
                  <a:pt x="11523029" y="635525"/>
                </a:lnTo>
                <a:cubicBezTo>
                  <a:pt x="11523029" y="690943"/>
                  <a:pt x="11478104" y="735868"/>
                  <a:pt x="11422686" y="735868"/>
                </a:cubicBezTo>
                <a:lnTo>
                  <a:pt x="100343" y="735868"/>
                </a:lnTo>
                <a:cubicBezTo>
                  <a:pt x="44962" y="735868"/>
                  <a:pt x="0" y="690906"/>
                  <a:pt x="0" y="635525"/>
                </a:cubicBezTo>
                <a:lnTo>
                  <a:pt x="0" y="100343"/>
                </a:lnTo>
                <a:cubicBezTo>
                  <a:pt x="0" y="44962"/>
                  <a:pt x="44962" y="0"/>
                  <a:pt x="100343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A4A"/>
              </a:gs>
              <a:gs pos="100000">
                <a:srgbClr val="4A6D7C"/>
              </a:gs>
            </a:gsLst>
            <a:lin ang="0" scaled="1"/>
          </a:gradFill>
          <a:ln/>
          <a:effectLst>
            <a:outerShdw sx="100000" sy="100000" kx="0" ky="0" algn="bl" rotWithShape="0" blurRad="50173" dist="33449" dir="540000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8280" y="6288329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100346" y="0"/>
                </a:moveTo>
                <a:lnTo>
                  <a:pt x="301037" y="0"/>
                </a:lnTo>
                <a:cubicBezTo>
                  <a:pt x="356456" y="0"/>
                  <a:pt x="401383" y="44926"/>
                  <a:pt x="401383" y="100346"/>
                </a:cubicBezTo>
                <a:lnTo>
                  <a:pt x="401383" y="301037"/>
                </a:lnTo>
                <a:cubicBezTo>
                  <a:pt x="401383" y="356456"/>
                  <a:pt x="356456" y="401383"/>
                  <a:pt x="301037" y="401383"/>
                </a:cubicBezTo>
                <a:lnTo>
                  <a:pt x="100346" y="401383"/>
                </a:lnTo>
                <a:cubicBezTo>
                  <a:pt x="44926" y="401383"/>
                  <a:pt x="0" y="356456"/>
                  <a:pt x="0" y="301037"/>
                </a:cubicBezTo>
                <a:lnTo>
                  <a:pt x="0" y="100346"/>
                </a:lnTo>
                <a:cubicBezTo>
                  <a:pt x="0" y="44963"/>
                  <a:pt x="44963" y="0"/>
                  <a:pt x="100346" y="0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50" name="Text 48"/>
          <p:cNvSpPr/>
          <p:nvPr/>
        </p:nvSpPr>
        <p:spPr>
          <a:xfrm>
            <a:off x="626115" y="6371951"/>
            <a:ext cx="167243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03457" y="6254881"/>
            <a:ext cx="10410864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Conclusions &amp; Perspectives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03457" y="6522469"/>
            <a:ext cx="10402502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des erreurs cliniques et recommandations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496048" y="6388675"/>
            <a:ext cx="200691" cy="200691"/>
          </a:xfrm>
          <a:custGeom>
            <a:avLst/>
            <a:gdLst/>
            <a:ahLst/>
            <a:cxnLst/>
            <a:rect l="l" t="t" r="r" b="b"/>
            <a:pathLst>
              <a:path w="200691" h="200691">
                <a:moveTo>
                  <a:pt x="100346" y="200691"/>
                </a:moveTo>
                <a:cubicBezTo>
                  <a:pt x="155728" y="200691"/>
                  <a:pt x="200691" y="155728"/>
                  <a:pt x="200691" y="100346"/>
                </a:cubicBezTo>
                <a:cubicBezTo>
                  <a:pt x="200691" y="44963"/>
                  <a:pt x="155728" y="0"/>
                  <a:pt x="100346" y="0"/>
                </a:cubicBezTo>
                <a:cubicBezTo>
                  <a:pt x="44963" y="0"/>
                  <a:pt x="0" y="44963"/>
                  <a:pt x="0" y="100346"/>
                </a:cubicBezTo>
                <a:cubicBezTo>
                  <a:pt x="0" y="155728"/>
                  <a:pt x="44963" y="200691"/>
                  <a:pt x="100346" y="200691"/>
                </a:cubicBezTo>
                <a:close/>
                <a:moveTo>
                  <a:pt x="133428" y="83373"/>
                </a:moveTo>
                <a:lnTo>
                  <a:pt x="102070" y="133546"/>
                </a:lnTo>
                <a:cubicBezTo>
                  <a:pt x="100424" y="136172"/>
                  <a:pt x="97602" y="137819"/>
                  <a:pt x="94505" y="137975"/>
                </a:cubicBezTo>
                <a:cubicBezTo>
                  <a:pt x="91409" y="138132"/>
                  <a:pt x="88430" y="136721"/>
                  <a:pt x="86587" y="134212"/>
                </a:cubicBezTo>
                <a:lnTo>
                  <a:pt x="67773" y="109126"/>
                </a:lnTo>
                <a:cubicBezTo>
                  <a:pt x="64637" y="104971"/>
                  <a:pt x="65499" y="99091"/>
                  <a:pt x="69654" y="95956"/>
                </a:cubicBezTo>
                <a:cubicBezTo>
                  <a:pt x="73809" y="92820"/>
                  <a:pt x="79689" y="93682"/>
                  <a:pt x="82824" y="97837"/>
                </a:cubicBezTo>
                <a:lnTo>
                  <a:pt x="93408" y="111948"/>
                </a:lnTo>
                <a:lnTo>
                  <a:pt x="117475" y="73417"/>
                </a:lnTo>
                <a:cubicBezTo>
                  <a:pt x="120219" y="69027"/>
                  <a:pt x="126020" y="67655"/>
                  <a:pt x="130449" y="70438"/>
                </a:cubicBezTo>
                <a:cubicBezTo>
                  <a:pt x="134879" y="73221"/>
                  <a:pt x="136211" y="78983"/>
                  <a:pt x="133428" y="83412"/>
                </a:cubicBezTo>
                <a:close/>
              </a:path>
            </a:pathLst>
          </a:custGeom>
          <a:solidFill>
            <a:srgbClr val="D95D5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8094" y="400308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104428" y="0"/>
                </a:moveTo>
                <a:lnTo>
                  <a:pt x="313285" y="0"/>
                </a:lnTo>
                <a:cubicBezTo>
                  <a:pt x="370959" y="0"/>
                  <a:pt x="417713" y="46754"/>
                  <a:pt x="417713" y="104428"/>
                </a:cubicBezTo>
                <a:lnTo>
                  <a:pt x="417713" y="313285"/>
                </a:lnTo>
                <a:cubicBezTo>
                  <a:pt x="417713" y="370959"/>
                  <a:pt x="370959" y="417713"/>
                  <a:pt x="313285" y="417713"/>
                </a:cubicBezTo>
                <a:lnTo>
                  <a:pt x="104428" y="417713"/>
                </a:lnTo>
                <a:cubicBezTo>
                  <a:pt x="46754" y="417713"/>
                  <a:pt x="0" y="370959"/>
                  <a:pt x="0" y="313285"/>
                </a:cubicBezTo>
                <a:lnTo>
                  <a:pt x="0" y="104428"/>
                </a:lnTo>
                <a:cubicBezTo>
                  <a:pt x="0" y="46793"/>
                  <a:pt x="46793" y="0"/>
                  <a:pt x="104428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9927" y="522141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141413" y="70707"/>
                </a:moveTo>
                <a:cubicBezTo>
                  <a:pt x="141413" y="86310"/>
                  <a:pt x="136348" y="100723"/>
                  <a:pt x="127816" y="112417"/>
                </a:cubicBezTo>
                <a:lnTo>
                  <a:pt x="170852" y="155487"/>
                </a:lnTo>
                <a:cubicBezTo>
                  <a:pt x="175101" y="159736"/>
                  <a:pt x="175101" y="166637"/>
                  <a:pt x="170852" y="170886"/>
                </a:cubicBezTo>
                <a:cubicBezTo>
                  <a:pt x="166603" y="175135"/>
                  <a:pt x="159702" y="175135"/>
                  <a:pt x="155453" y="170886"/>
                </a:cubicBezTo>
                <a:lnTo>
                  <a:pt x="112417" y="127816"/>
                </a:lnTo>
                <a:cubicBezTo>
                  <a:pt x="100723" y="136348"/>
                  <a:pt x="86310" y="141413"/>
                  <a:pt x="70707" y="141413"/>
                </a:cubicBezTo>
                <a:cubicBezTo>
                  <a:pt x="31648" y="141413"/>
                  <a:pt x="0" y="109765"/>
                  <a:pt x="0" y="70707"/>
                </a:cubicBezTo>
                <a:cubicBezTo>
                  <a:pt x="0" y="31648"/>
                  <a:pt x="31648" y="0"/>
                  <a:pt x="70707" y="0"/>
                </a:cubicBezTo>
                <a:cubicBezTo>
                  <a:pt x="109765" y="0"/>
                  <a:pt x="141413" y="31648"/>
                  <a:pt x="141413" y="70707"/>
                </a:cubicBezTo>
                <a:close/>
                <a:moveTo>
                  <a:pt x="70707" y="119657"/>
                </a:moveTo>
                <a:cubicBezTo>
                  <a:pt x="97723" y="119657"/>
                  <a:pt x="119657" y="97723"/>
                  <a:pt x="119657" y="70707"/>
                </a:cubicBezTo>
                <a:cubicBezTo>
                  <a:pt x="119657" y="43690"/>
                  <a:pt x="97723" y="21756"/>
                  <a:pt x="70707" y="21756"/>
                </a:cubicBezTo>
                <a:cubicBezTo>
                  <a:pt x="43690" y="21756"/>
                  <a:pt x="21756" y="43690"/>
                  <a:pt x="21756" y="70707"/>
                </a:cubicBezTo>
                <a:cubicBezTo>
                  <a:pt x="21756" y="97723"/>
                  <a:pt x="43690" y="119657"/>
                  <a:pt x="70707" y="119657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4" name="Text 2"/>
          <p:cNvSpPr/>
          <p:nvPr/>
        </p:nvSpPr>
        <p:spPr>
          <a:xfrm>
            <a:off x="870236" y="348094"/>
            <a:ext cx="261070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spc="48" kern="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0236" y="522141"/>
            <a:ext cx="2706433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7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Analyse Exploratoire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8094" y="939854"/>
            <a:ext cx="1156543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Identification des prédicteurs clés et insights cliniques majeurs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8094" y="1287949"/>
            <a:ext cx="5673936" cy="3620180"/>
          </a:xfrm>
          <a:custGeom>
            <a:avLst/>
            <a:gdLst/>
            <a:ahLst/>
            <a:cxnLst/>
            <a:rect l="l" t="t" r="r" b="b"/>
            <a:pathLst>
              <a:path w="5673936" h="3620180">
                <a:moveTo>
                  <a:pt x="104442" y="0"/>
                </a:moveTo>
                <a:lnTo>
                  <a:pt x="5569494" y="0"/>
                </a:lnTo>
                <a:cubicBezTo>
                  <a:pt x="5627175" y="0"/>
                  <a:pt x="5673936" y="46760"/>
                  <a:pt x="5673936" y="104442"/>
                </a:cubicBezTo>
                <a:lnTo>
                  <a:pt x="5673936" y="3515738"/>
                </a:lnTo>
                <a:cubicBezTo>
                  <a:pt x="5673936" y="3573420"/>
                  <a:pt x="5627175" y="3620180"/>
                  <a:pt x="5569494" y="3620180"/>
                </a:cubicBezTo>
                <a:lnTo>
                  <a:pt x="104442" y="3620180"/>
                </a:lnTo>
                <a:cubicBezTo>
                  <a:pt x="46760" y="3620180"/>
                  <a:pt x="0" y="3573420"/>
                  <a:pt x="0" y="3515738"/>
                </a:cubicBezTo>
                <a:lnTo>
                  <a:pt x="0" y="104442"/>
                </a:lnTo>
                <a:cubicBezTo>
                  <a:pt x="0" y="46799"/>
                  <a:pt x="46799" y="0"/>
                  <a:pt x="10444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2214" dist="34809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7332" y="1427186"/>
            <a:ext cx="348094" cy="348094"/>
          </a:xfrm>
          <a:custGeom>
            <a:avLst/>
            <a:gdLst/>
            <a:ahLst/>
            <a:cxnLst/>
            <a:rect l="l" t="t" r="r" b="b"/>
            <a:pathLst>
              <a:path w="348094" h="348094">
                <a:moveTo>
                  <a:pt x="69619" y="0"/>
                </a:moveTo>
                <a:lnTo>
                  <a:pt x="278475" y="0"/>
                </a:lnTo>
                <a:cubicBezTo>
                  <a:pt x="316899" y="0"/>
                  <a:pt x="348094" y="31195"/>
                  <a:pt x="348094" y="69619"/>
                </a:cubicBezTo>
                <a:lnTo>
                  <a:pt x="348094" y="278475"/>
                </a:lnTo>
                <a:cubicBezTo>
                  <a:pt x="348094" y="316925"/>
                  <a:pt x="316925" y="348094"/>
                  <a:pt x="278475" y="348094"/>
                </a:cubicBezTo>
                <a:lnTo>
                  <a:pt x="69619" y="348094"/>
                </a:lnTo>
                <a:cubicBezTo>
                  <a:pt x="31195" y="348094"/>
                  <a:pt x="0" y="316899"/>
                  <a:pt x="0" y="278475"/>
                </a:cubicBezTo>
                <a:lnTo>
                  <a:pt x="0" y="69619"/>
                </a:lnTo>
                <a:cubicBezTo>
                  <a:pt x="0" y="31169"/>
                  <a:pt x="31169" y="0"/>
                  <a:pt x="69619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85233" y="1522912"/>
            <a:ext cx="156642" cy="156642"/>
          </a:xfrm>
          <a:custGeom>
            <a:avLst/>
            <a:gdLst/>
            <a:ahLst/>
            <a:cxnLst/>
            <a:rect l="l" t="t" r="r" b="b"/>
            <a:pathLst>
              <a:path w="156642" h="156642">
                <a:moveTo>
                  <a:pt x="19580" y="19580"/>
                </a:moveTo>
                <a:cubicBezTo>
                  <a:pt x="19580" y="14165"/>
                  <a:pt x="15205" y="9790"/>
                  <a:pt x="9790" y="9790"/>
                </a:cubicBezTo>
                <a:cubicBezTo>
                  <a:pt x="4375" y="9790"/>
                  <a:pt x="0" y="14165"/>
                  <a:pt x="0" y="19580"/>
                </a:cubicBezTo>
                <a:lnTo>
                  <a:pt x="0" y="122377"/>
                </a:lnTo>
                <a:cubicBezTo>
                  <a:pt x="0" y="135900"/>
                  <a:pt x="10953" y="146852"/>
                  <a:pt x="24475" y="146852"/>
                </a:cubicBezTo>
                <a:lnTo>
                  <a:pt x="146852" y="146852"/>
                </a:lnTo>
                <a:cubicBezTo>
                  <a:pt x="152267" y="146852"/>
                  <a:pt x="156642" y="142477"/>
                  <a:pt x="156642" y="137062"/>
                </a:cubicBezTo>
                <a:cubicBezTo>
                  <a:pt x="156642" y="131647"/>
                  <a:pt x="152267" y="127272"/>
                  <a:pt x="146852" y="127272"/>
                </a:cubicBezTo>
                <a:lnTo>
                  <a:pt x="24475" y="127272"/>
                </a:lnTo>
                <a:cubicBezTo>
                  <a:pt x="21783" y="127272"/>
                  <a:pt x="19580" y="125069"/>
                  <a:pt x="19580" y="122377"/>
                </a:cubicBezTo>
                <a:lnTo>
                  <a:pt x="19580" y="19580"/>
                </a:lnTo>
                <a:close/>
                <a:moveTo>
                  <a:pt x="143976" y="46075"/>
                </a:moveTo>
                <a:cubicBezTo>
                  <a:pt x="147801" y="42251"/>
                  <a:pt x="147801" y="36040"/>
                  <a:pt x="143976" y="32216"/>
                </a:cubicBezTo>
                <a:cubicBezTo>
                  <a:pt x="140152" y="28391"/>
                  <a:pt x="133941" y="28391"/>
                  <a:pt x="130117" y="32216"/>
                </a:cubicBezTo>
                <a:lnTo>
                  <a:pt x="97901" y="64462"/>
                </a:lnTo>
                <a:lnTo>
                  <a:pt x="80340" y="46932"/>
                </a:lnTo>
                <a:cubicBezTo>
                  <a:pt x="76516" y="43107"/>
                  <a:pt x="70306" y="43107"/>
                  <a:pt x="66481" y="46932"/>
                </a:cubicBezTo>
                <a:lnTo>
                  <a:pt x="37111" y="76302"/>
                </a:lnTo>
                <a:cubicBezTo>
                  <a:pt x="33287" y="80126"/>
                  <a:pt x="33287" y="86337"/>
                  <a:pt x="37111" y="90161"/>
                </a:cubicBezTo>
                <a:cubicBezTo>
                  <a:pt x="40935" y="93985"/>
                  <a:pt x="47146" y="93985"/>
                  <a:pt x="50970" y="90161"/>
                </a:cubicBezTo>
                <a:lnTo>
                  <a:pt x="73426" y="67705"/>
                </a:lnTo>
                <a:lnTo>
                  <a:pt x="90987" y="85266"/>
                </a:lnTo>
                <a:cubicBezTo>
                  <a:pt x="94811" y="89090"/>
                  <a:pt x="101022" y="89090"/>
                  <a:pt x="104846" y="85266"/>
                </a:cubicBezTo>
                <a:lnTo>
                  <a:pt x="144007" y="46105"/>
                </a:ln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10" name="Text 8"/>
          <p:cNvSpPr/>
          <p:nvPr/>
        </p:nvSpPr>
        <p:spPr>
          <a:xfrm>
            <a:off x="939854" y="1479400"/>
            <a:ext cx="166215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Principaux Prédicteurs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7332" y="1879709"/>
            <a:ext cx="5395460" cy="522141"/>
          </a:xfrm>
          <a:custGeom>
            <a:avLst/>
            <a:gdLst/>
            <a:ahLst/>
            <a:cxnLst/>
            <a:rect l="l" t="t" r="r" b="b"/>
            <a:pathLst>
              <a:path w="5395460" h="522141">
                <a:moveTo>
                  <a:pt x="69617" y="0"/>
                </a:moveTo>
                <a:lnTo>
                  <a:pt x="5325843" y="0"/>
                </a:lnTo>
                <a:cubicBezTo>
                  <a:pt x="5364292" y="0"/>
                  <a:pt x="5395460" y="31169"/>
                  <a:pt x="5395460" y="69617"/>
                </a:cubicBezTo>
                <a:lnTo>
                  <a:pt x="5395460" y="452524"/>
                </a:lnTo>
                <a:cubicBezTo>
                  <a:pt x="5395460" y="490973"/>
                  <a:pt x="5364292" y="522141"/>
                  <a:pt x="5325843" y="522141"/>
                </a:cubicBezTo>
                <a:lnTo>
                  <a:pt x="69617" y="522141"/>
                </a:lnTo>
                <a:cubicBezTo>
                  <a:pt x="31169" y="522141"/>
                  <a:pt x="0" y="490973"/>
                  <a:pt x="0" y="452524"/>
                </a:cubicBezTo>
                <a:lnTo>
                  <a:pt x="0" y="69617"/>
                </a:lnTo>
                <a:cubicBezTo>
                  <a:pt x="0" y="31194"/>
                  <a:pt x="31194" y="0"/>
                  <a:pt x="6961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56951" y="2001542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69619" y="0"/>
                </a:moveTo>
                <a:lnTo>
                  <a:pt x="208857" y="0"/>
                </a:lnTo>
                <a:cubicBezTo>
                  <a:pt x="247280" y="0"/>
                  <a:pt x="278475" y="31195"/>
                  <a:pt x="278475" y="69619"/>
                </a:cubicBezTo>
                <a:lnTo>
                  <a:pt x="278475" y="208857"/>
                </a:lnTo>
                <a:cubicBezTo>
                  <a:pt x="278475" y="247280"/>
                  <a:pt x="247280" y="278475"/>
                  <a:pt x="208857" y="278475"/>
                </a:cubicBezTo>
                <a:lnTo>
                  <a:pt x="69619" y="278475"/>
                </a:lnTo>
                <a:cubicBezTo>
                  <a:pt x="31195" y="278475"/>
                  <a:pt x="0" y="247280"/>
                  <a:pt x="0" y="20885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13" name="Text 11"/>
          <p:cNvSpPr/>
          <p:nvPr/>
        </p:nvSpPr>
        <p:spPr>
          <a:xfrm>
            <a:off x="671781" y="2053756"/>
            <a:ext cx="11313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9854" y="1949328"/>
            <a:ext cx="494293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thal (thalassémie)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9854" y="2158184"/>
            <a:ext cx="4934236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Coefficient: </a:t>
            </a:r>
            <a:pPr>
              <a:lnSpc>
                <a:spcPct val="120000"/>
              </a:lnSpc>
            </a:pPr>
            <a:r>
              <a:rPr lang="en-US" sz="959" b="1" dirty="0">
                <a:solidFill>
                  <a:srgbClr val="D95D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+0.53</a:t>
            </a:r>
            <a:pPr>
              <a:lnSpc>
                <a:spcPct val="120000"/>
              </a:lnSpc>
            </a:pPr>
            <a:r>
              <a:rPr lang="en-US" sz="959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Anomalie sévère associée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7332" y="2471469"/>
            <a:ext cx="5395460" cy="522141"/>
          </a:xfrm>
          <a:custGeom>
            <a:avLst/>
            <a:gdLst/>
            <a:ahLst/>
            <a:cxnLst/>
            <a:rect l="l" t="t" r="r" b="b"/>
            <a:pathLst>
              <a:path w="5395460" h="522141">
                <a:moveTo>
                  <a:pt x="69617" y="0"/>
                </a:moveTo>
                <a:lnTo>
                  <a:pt x="5325843" y="0"/>
                </a:lnTo>
                <a:cubicBezTo>
                  <a:pt x="5364292" y="0"/>
                  <a:pt x="5395460" y="31169"/>
                  <a:pt x="5395460" y="69617"/>
                </a:cubicBezTo>
                <a:lnTo>
                  <a:pt x="5395460" y="452524"/>
                </a:lnTo>
                <a:cubicBezTo>
                  <a:pt x="5395460" y="490973"/>
                  <a:pt x="5364292" y="522141"/>
                  <a:pt x="5325843" y="522141"/>
                </a:cubicBezTo>
                <a:lnTo>
                  <a:pt x="69617" y="522141"/>
                </a:lnTo>
                <a:cubicBezTo>
                  <a:pt x="31169" y="522141"/>
                  <a:pt x="0" y="490973"/>
                  <a:pt x="0" y="452524"/>
                </a:cubicBezTo>
                <a:lnTo>
                  <a:pt x="0" y="69617"/>
                </a:lnTo>
                <a:cubicBezTo>
                  <a:pt x="0" y="31194"/>
                  <a:pt x="31194" y="0"/>
                  <a:pt x="6961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56951" y="2593302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69619" y="0"/>
                </a:moveTo>
                <a:lnTo>
                  <a:pt x="208857" y="0"/>
                </a:lnTo>
                <a:cubicBezTo>
                  <a:pt x="247280" y="0"/>
                  <a:pt x="278475" y="31195"/>
                  <a:pt x="278475" y="69619"/>
                </a:cubicBezTo>
                <a:lnTo>
                  <a:pt x="278475" y="208857"/>
                </a:lnTo>
                <a:cubicBezTo>
                  <a:pt x="278475" y="247280"/>
                  <a:pt x="247280" y="278475"/>
                  <a:pt x="208857" y="278475"/>
                </a:cubicBezTo>
                <a:lnTo>
                  <a:pt x="69619" y="278475"/>
                </a:lnTo>
                <a:cubicBezTo>
                  <a:pt x="31195" y="278475"/>
                  <a:pt x="0" y="247280"/>
                  <a:pt x="0" y="20885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60767" y="2645516"/>
            <a:ext cx="13053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9854" y="2541088"/>
            <a:ext cx="494293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 (vaisseaux colorés)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9854" y="2749944"/>
            <a:ext cx="4934236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Coefficient: </a:t>
            </a:r>
            <a:pPr>
              <a:lnSpc>
                <a:spcPct val="120000"/>
              </a:lnSpc>
            </a:pPr>
            <a:r>
              <a:rPr lang="en-US" sz="959" b="1" dirty="0">
                <a:solidFill>
                  <a:srgbClr val="D95D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+0.47</a:t>
            </a:r>
            <a:pPr>
              <a:lnSpc>
                <a:spcPct val="120000"/>
              </a:lnSpc>
            </a:pPr>
            <a:r>
              <a:rPr lang="en-US" sz="959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Sténoses coronaires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7332" y="3063229"/>
            <a:ext cx="5395460" cy="522141"/>
          </a:xfrm>
          <a:custGeom>
            <a:avLst/>
            <a:gdLst/>
            <a:ahLst/>
            <a:cxnLst/>
            <a:rect l="l" t="t" r="r" b="b"/>
            <a:pathLst>
              <a:path w="5395460" h="522141">
                <a:moveTo>
                  <a:pt x="69617" y="0"/>
                </a:moveTo>
                <a:lnTo>
                  <a:pt x="5325843" y="0"/>
                </a:lnTo>
                <a:cubicBezTo>
                  <a:pt x="5364292" y="0"/>
                  <a:pt x="5395460" y="31169"/>
                  <a:pt x="5395460" y="69617"/>
                </a:cubicBezTo>
                <a:lnTo>
                  <a:pt x="5395460" y="452524"/>
                </a:lnTo>
                <a:cubicBezTo>
                  <a:pt x="5395460" y="490973"/>
                  <a:pt x="5364292" y="522141"/>
                  <a:pt x="5325843" y="522141"/>
                </a:cubicBezTo>
                <a:lnTo>
                  <a:pt x="69617" y="522141"/>
                </a:lnTo>
                <a:cubicBezTo>
                  <a:pt x="31169" y="522141"/>
                  <a:pt x="0" y="490973"/>
                  <a:pt x="0" y="452524"/>
                </a:cubicBezTo>
                <a:lnTo>
                  <a:pt x="0" y="69617"/>
                </a:lnTo>
                <a:cubicBezTo>
                  <a:pt x="0" y="31194"/>
                  <a:pt x="31194" y="0"/>
                  <a:pt x="6961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2" name="Shape 20"/>
          <p:cNvSpPr/>
          <p:nvPr/>
        </p:nvSpPr>
        <p:spPr>
          <a:xfrm>
            <a:off x="556951" y="3185062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69619" y="0"/>
                </a:moveTo>
                <a:lnTo>
                  <a:pt x="208857" y="0"/>
                </a:lnTo>
                <a:cubicBezTo>
                  <a:pt x="247280" y="0"/>
                  <a:pt x="278475" y="31195"/>
                  <a:pt x="278475" y="69619"/>
                </a:cubicBezTo>
                <a:lnTo>
                  <a:pt x="278475" y="208857"/>
                </a:lnTo>
                <a:cubicBezTo>
                  <a:pt x="278475" y="247280"/>
                  <a:pt x="247280" y="278475"/>
                  <a:pt x="208857" y="278475"/>
                </a:cubicBezTo>
                <a:lnTo>
                  <a:pt x="69619" y="278475"/>
                </a:lnTo>
                <a:cubicBezTo>
                  <a:pt x="31195" y="278475"/>
                  <a:pt x="0" y="247280"/>
                  <a:pt x="0" y="20885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23" name="Text 21"/>
          <p:cNvSpPr/>
          <p:nvPr/>
        </p:nvSpPr>
        <p:spPr>
          <a:xfrm>
            <a:off x="660223" y="3237276"/>
            <a:ext cx="13053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9854" y="3132848"/>
            <a:ext cx="494293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oldpeak (dépression ST)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9854" y="3341704"/>
            <a:ext cx="4934236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Coefficient: </a:t>
            </a:r>
            <a:pPr>
              <a:lnSpc>
                <a:spcPct val="120000"/>
              </a:lnSpc>
            </a:pPr>
            <a:r>
              <a:rPr lang="en-US" sz="959" b="1" dirty="0">
                <a:solidFill>
                  <a:srgbClr val="D95D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+0.43</a:t>
            </a:r>
            <a:pPr>
              <a:lnSpc>
                <a:spcPct val="120000"/>
              </a:lnSpc>
            </a:pPr>
            <a:r>
              <a:rPr lang="en-US" sz="959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Ischémie myocardique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7332" y="3654989"/>
            <a:ext cx="5395460" cy="522141"/>
          </a:xfrm>
          <a:custGeom>
            <a:avLst/>
            <a:gdLst/>
            <a:ahLst/>
            <a:cxnLst/>
            <a:rect l="l" t="t" r="r" b="b"/>
            <a:pathLst>
              <a:path w="5395460" h="522141">
                <a:moveTo>
                  <a:pt x="69617" y="0"/>
                </a:moveTo>
                <a:lnTo>
                  <a:pt x="5325843" y="0"/>
                </a:lnTo>
                <a:cubicBezTo>
                  <a:pt x="5364292" y="0"/>
                  <a:pt x="5395460" y="31169"/>
                  <a:pt x="5395460" y="69617"/>
                </a:cubicBezTo>
                <a:lnTo>
                  <a:pt x="5395460" y="452524"/>
                </a:lnTo>
                <a:cubicBezTo>
                  <a:pt x="5395460" y="490973"/>
                  <a:pt x="5364292" y="522141"/>
                  <a:pt x="5325843" y="522141"/>
                </a:cubicBezTo>
                <a:lnTo>
                  <a:pt x="69617" y="522141"/>
                </a:lnTo>
                <a:cubicBezTo>
                  <a:pt x="31169" y="522141"/>
                  <a:pt x="0" y="490973"/>
                  <a:pt x="0" y="452524"/>
                </a:cubicBezTo>
                <a:lnTo>
                  <a:pt x="0" y="69617"/>
                </a:lnTo>
                <a:cubicBezTo>
                  <a:pt x="0" y="31194"/>
                  <a:pt x="31194" y="0"/>
                  <a:pt x="6961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7" name="Shape 25"/>
          <p:cNvSpPr/>
          <p:nvPr/>
        </p:nvSpPr>
        <p:spPr>
          <a:xfrm>
            <a:off x="556951" y="3776822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69619" y="0"/>
                </a:moveTo>
                <a:lnTo>
                  <a:pt x="208857" y="0"/>
                </a:lnTo>
                <a:cubicBezTo>
                  <a:pt x="247280" y="0"/>
                  <a:pt x="278475" y="31195"/>
                  <a:pt x="278475" y="69619"/>
                </a:cubicBezTo>
                <a:lnTo>
                  <a:pt x="278475" y="208857"/>
                </a:lnTo>
                <a:cubicBezTo>
                  <a:pt x="278475" y="247280"/>
                  <a:pt x="247280" y="278475"/>
                  <a:pt x="208857" y="278475"/>
                </a:cubicBezTo>
                <a:lnTo>
                  <a:pt x="69619" y="278475"/>
                </a:lnTo>
                <a:cubicBezTo>
                  <a:pt x="31195" y="278475"/>
                  <a:pt x="0" y="247280"/>
                  <a:pt x="0" y="20885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28" name="Text 26"/>
          <p:cNvSpPr/>
          <p:nvPr/>
        </p:nvSpPr>
        <p:spPr>
          <a:xfrm>
            <a:off x="660291" y="3829036"/>
            <a:ext cx="13053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9854" y="3724608"/>
            <a:ext cx="494293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 (type de douleur)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39854" y="3933465"/>
            <a:ext cx="4934236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Coefficient: </a:t>
            </a:r>
            <a:pPr>
              <a:lnSpc>
                <a:spcPct val="120000"/>
              </a:lnSpc>
            </a:pPr>
            <a:r>
              <a:rPr lang="en-US" sz="959" b="1" dirty="0">
                <a:solidFill>
                  <a:srgbClr val="D95D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+0.43</a:t>
            </a:r>
            <a:pPr>
              <a:lnSpc>
                <a:spcPct val="120000"/>
              </a:lnSpc>
            </a:pPr>
            <a:r>
              <a:rPr lang="en-US" sz="959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Douleur asymptomatique = risque élevé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7332" y="4246749"/>
            <a:ext cx="5395460" cy="522141"/>
          </a:xfrm>
          <a:custGeom>
            <a:avLst/>
            <a:gdLst/>
            <a:ahLst/>
            <a:cxnLst/>
            <a:rect l="l" t="t" r="r" b="b"/>
            <a:pathLst>
              <a:path w="5395460" h="522141">
                <a:moveTo>
                  <a:pt x="69617" y="0"/>
                </a:moveTo>
                <a:lnTo>
                  <a:pt x="5325843" y="0"/>
                </a:lnTo>
                <a:cubicBezTo>
                  <a:pt x="5364292" y="0"/>
                  <a:pt x="5395460" y="31169"/>
                  <a:pt x="5395460" y="69617"/>
                </a:cubicBezTo>
                <a:lnTo>
                  <a:pt x="5395460" y="452524"/>
                </a:lnTo>
                <a:cubicBezTo>
                  <a:pt x="5395460" y="490973"/>
                  <a:pt x="5364292" y="522141"/>
                  <a:pt x="5325843" y="522141"/>
                </a:cubicBezTo>
                <a:lnTo>
                  <a:pt x="69617" y="522141"/>
                </a:lnTo>
                <a:cubicBezTo>
                  <a:pt x="31169" y="522141"/>
                  <a:pt x="0" y="490973"/>
                  <a:pt x="0" y="452524"/>
                </a:cubicBezTo>
                <a:lnTo>
                  <a:pt x="0" y="69617"/>
                </a:lnTo>
                <a:cubicBezTo>
                  <a:pt x="0" y="31194"/>
                  <a:pt x="31194" y="0"/>
                  <a:pt x="6961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2" name="Shape 30"/>
          <p:cNvSpPr/>
          <p:nvPr/>
        </p:nvSpPr>
        <p:spPr>
          <a:xfrm>
            <a:off x="556951" y="4368582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69619" y="0"/>
                </a:moveTo>
                <a:lnTo>
                  <a:pt x="208857" y="0"/>
                </a:lnTo>
                <a:cubicBezTo>
                  <a:pt x="247280" y="0"/>
                  <a:pt x="278475" y="31195"/>
                  <a:pt x="278475" y="69619"/>
                </a:cubicBezTo>
                <a:lnTo>
                  <a:pt x="278475" y="208857"/>
                </a:lnTo>
                <a:cubicBezTo>
                  <a:pt x="278475" y="247280"/>
                  <a:pt x="247280" y="278475"/>
                  <a:pt x="208857" y="278475"/>
                </a:cubicBezTo>
                <a:lnTo>
                  <a:pt x="69619" y="278475"/>
                </a:lnTo>
                <a:cubicBezTo>
                  <a:pt x="31195" y="278475"/>
                  <a:pt x="0" y="247280"/>
                  <a:pt x="0" y="20885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33" name="Text 31"/>
          <p:cNvSpPr/>
          <p:nvPr/>
        </p:nvSpPr>
        <p:spPr>
          <a:xfrm>
            <a:off x="661039" y="4420797"/>
            <a:ext cx="13053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9854" y="4316368"/>
            <a:ext cx="494293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thalach (FC max)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39854" y="4525225"/>
            <a:ext cx="4934236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Coefficient: </a:t>
            </a:r>
            <a:pPr>
              <a:lnSpc>
                <a:spcPct val="120000"/>
              </a:lnSpc>
            </a:pPr>
            <a:r>
              <a:rPr lang="en-US" sz="959" b="1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-0.42</a:t>
            </a:r>
            <a:pPr>
              <a:lnSpc>
                <a:spcPct val="120000"/>
              </a:lnSpc>
            </a:pPr>
            <a:r>
              <a:rPr lang="en-US" sz="959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Protecteur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48094" y="5047366"/>
            <a:ext cx="5673936" cy="1810090"/>
          </a:xfrm>
          <a:custGeom>
            <a:avLst/>
            <a:gdLst/>
            <a:ahLst/>
            <a:cxnLst/>
            <a:rect l="l" t="t" r="r" b="b"/>
            <a:pathLst>
              <a:path w="5673936" h="1810090">
                <a:moveTo>
                  <a:pt x="104424" y="0"/>
                </a:moveTo>
                <a:lnTo>
                  <a:pt x="5569512" y="0"/>
                </a:lnTo>
                <a:cubicBezTo>
                  <a:pt x="5627184" y="0"/>
                  <a:pt x="5673936" y="46752"/>
                  <a:pt x="5673936" y="104424"/>
                </a:cubicBezTo>
                <a:lnTo>
                  <a:pt x="5673936" y="1705666"/>
                </a:lnTo>
                <a:cubicBezTo>
                  <a:pt x="5673936" y="1763338"/>
                  <a:pt x="5627184" y="1810090"/>
                  <a:pt x="5569512" y="1810090"/>
                </a:cubicBezTo>
                <a:lnTo>
                  <a:pt x="104424" y="1810090"/>
                </a:lnTo>
                <a:cubicBezTo>
                  <a:pt x="46752" y="1810090"/>
                  <a:pt x="0" y="1763338"/>
                  <a:pt x="0" y="1705666"/>
                </a:cubicBezTo>
                <a:lnTo>
                  <a:pt x="0" y="104424"/>
                </a:lnTo>
                <a:cubicBezTo>
                  <a:pt x="0" y="46752"/>
                  <a:pt x="46752" y="0"/>
                  <a:pt x="104424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A4A"/>
              </a:gs>
              <a:gs pos="100000">
                <a:srgbClr val="4A6D7C"/>
              </a:gs>
            </a:gsLst>
            <a:lin ang="0" scaled="1"/>
          </a:gradFill>
          <a:ln/>
          <a:effectLst>
            <a:outerShdw sx="100000" sy="100000" kx="0" ky="0" algn="bl" rotWithShape="0" blurRad="52214" dist="34809" dir="540000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7332" y="5186604"/>
            <a:ext cx="348094" cy="348094"/>
          </a:xfrm>
          <a:custGeom>
            <a:avLst/>
            <a:gdLst/>
            <a:ahLst/>
            <a:cxnLst/>
            <a:rect l="l" t="t" r="r" b="b"/>
            <a:pathLst>
              <a:path w="348094" h="348094">
                <a:moveTo>
                  <a:pt x="69619" y="0"/>
                </a:moveTo>
                <a:lnTo>
                  <a:pt x="278475" y="0"/>
                </a:lnTo>
                <a:cubicBezTo>
                  <a:pt x="316899" y="0"/>
                  <a:pt x="348094" y="31195"/>
                  <a:pt x="348094" y="69619"/>
                </a:cubicBezTo>
                <a:lnTo>
                  <a:pt x="348094" y="278475"/>
                </a:lnTo>
                <a:cubicBezTo>
                  <a:pt x="348094" y="316925"/>
                  <a:pt x="316925" y="348094"/>
                  <a:pt x="278475" y="348094"/>
                </a:cubicBezTo>
                <a:lnTo>
                  <a:pt x="69619" y="348094"/>
                </a:lnTo>
                <a:cubicBezTo>
                  <a:pt x="31195" y="348094"/>
                  <a:pt x="0" y="316899"/>
                  <a:pt x="0" y="278475"/>
                </a:cubicBezTo>
                <a:lnTo>
                  <a:pt x="0" y="69619"/>
                </a:lnTo>
                <a:cubicBezTo>
                  <a:pt x="0" y="31169"/>
                  <a:pt x="31169" y="0"/>
                  <a:pt x="69619" y="0"/>
                </a:cubicBezTo>
                <a:close/>
              </a:path>
            </a:pathLst>
          </a:custGeom>
          <a:solidFill>
            <a:srgbClr val="D95D5D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65653" y="5282330"/>
            <a:ext cx="195803" cy="156642"/>
          </a:xfrm>
          <a:custGeom>
            <a:avLst/>
            <a:gdLst/>
            <a:ahLst/>
            <a:cxnLst/>
            <a:rect l="l" t="t" r="r" b="b"/>
            <a:pathLst>
              <a:path w="195803" h="156642">
                <a:moveTo>
                  <a:pt x="117482" y="9790"/>
                </a:moveTo>
                <a:lnTo>
                  <a:pt x="156642" y="9790"/>
                </a:lnTo>
                <a:cubicBezTo>
                  <a:pt x="162058" y="9790"/>
                  <a:pt x="166433" y="14165"/>
                  <a:pt x="166433" y="19580"/>
                </a:cubicBezTo>
                <a:cubicBezTo>
                  <a:pt x="166433" y="24995"/>
                  <a:pt x="162058" y="29370"/>
                  <a:pt x="156642" y="29370"/>
                </a:cubicBezTo>
                <a:lnTo>
                  <a:pt x="121887" y="29370"/>
                </a:lnTo>
                <a:cubicBezTo>
                  <a:pt x="120296" y="37264"/>
                  <a:pt x="114881" y="43780"/>
                  <a:pt x="107692" y="46901"/>
                </a:cubicBezTo>
                <a:lnTo>
                  <a:pt x="107692" y="137062"/>
                </a:lnTo>
                <a:lnTo>
                  <a:pt x="156642" y="137062"/>
                </a:lnTo>
                <a:cubicBezTo>
                  <a:pt x="162058" y="137062"/>
                  <a:pt x="166433" y="141437"/>
                  <a:pt x="166433" y="146852"/>
                </a:cubicBezTo>
                <a:cubicBezTo>
                  <a:pt x="166433" y="152267"/>
                  <a:pt x="162058" y="156642"/>
                  <a:pt x="156642" y="156642"/>
                </a:cubicBezTo>
                <a:lnTo>
                  <a:pt x="39161" y="156642"/>
                </a:lnTo>
                <a:cubicBezTo>
                  <a:pt x="33745" y="156642"/>
                  <a:pt x="29370" y="152267"/>
                  <a:pt x="29370" y="146852"/>
                </a:cubicBezTo>
                <a:cubicBezTo>
                  <a:pt x="29370" y="141437"/>
                  <a:pt x="33745" y="137062"/>
                  <a:pt x="39161" y="137062"/>
                </a:cubicBezTo>
                <a:lnTo>
                  <a:pt x="88111" y="137062"/>
                </a:lnTo>
                <a:lnTo>
                  <a:pt x="88111" y="46901"/>
                </a:lnTo>
                <a:cubicBezTo>
                  <a:pt x="80922" y="43750"/>
                  <a:pt x="75507" y="37233"/>
                  <a:pt x="73916" y="29370"/>
                </a:cubicBezTo>
                <a:lnTo>
                  <a:pt x="39161" y="29370"/>
                </a:lnTo>
                <a:cubicBezTo>
                  <a:pt x="33745" y="29370"/>
                  <a:pt x="29370" y="24995"/>
                  <a:pt x="29370" y="19580"/>
                </a:cubicBezTo>
                <a:cubicBezTo>
                  <a:pt x="29370" y="14165"/>
                  <a:pt x="33745" y="9790"/>
                  <a:pt x="39161" y="9790"/>
                </a:cubicBezTo>
                <a:lnTo>
                  <a:pt x="78321" y="9790"/>
                </a:lnTo>
                <a:cubicBezTo>
                  <a:pt x="82788" y="3855"/>
                  <a:pt x="89886" y="0"/>
                  <a:pt x="97901" y="0"/>
                </a:cubicBezTo>
                <a:cubicBezTo>
                  <a:pt x="105917" y="0"/>
                  <a:pt x="113015" y="3855"/>
                  <a:pt x="117482" y="9790"/>
                </a:cubicBezTo>
                <a:close/>
                <a:moveTo>
                  <a:pt x="134492" y="97901"/>
                </a:moveTo>
                <a:lnTo>
                  <a:pt x="178793" y="97901"/>
                </a:lnTo>
                <a:lnTo>
                  <a:pt x="156642" y="59903"/>
                </a:lnTo>
                <a:lnTo>
                  <a:pt x="134492" y="97901"/>
                </a:lnTo>
                <a:close/>
                <a:moveTo>
                  <a:pt x="156642" y="127272"/>
                </a:moveTo>
                <a:cubicBezTo>
                  <a:pt x="137399" y="127272"/>
                  <a:pt x="121398" y="116870"/>
                  <a:pt x="118094" y="103133"/>
                </a:cubicBezTo>
                <a:cubicBezTo>
                  <a:pt x="117298" y="99768"/>
                  <a:pt x="118400" y="96311"/>
                  <a:pt x="120143" y="93312"/>
                </a:cubicBezTo>
                <a:lnTo>
                  <a:pt x="149269" y="43383"/>
                </a:lnTo>
                <a:cubicBezTo>
                  <a:pt x="150799" y="40751"/>
                  <a:pt x="153614" y="39161"/>
                  <a:pt x="156642" y="39161"/>
                </a:cubicBezTo>
                <a:cubicBezTo>
                  <a:pt x="159671" y="39161"/>
                  <a:pt x="162486" y="40782"/>
                  <a:pt x="164016" y="43383"/>
                </a:cubicBezTo>
                <a:lnTo>
                  <a:pt x="193141" y="93312"/>
                </a:lnTo>
                <a:cubicBezTo>
                  <a:pt x="194885" y="96311"/>
                  <a:pt x="195987" y="99768"/>
                  <a:pt x="195191" y="103133"/>
                </a:cubicBezTo>
                <a:cubicBezTo>
                  <a:pt x="191887" y="116839"/>
                  <a:pt x="175886" y="127272"/>
                  <a:pt x="156642" y="127272"/>
                </a:cubicBezTo>
                <a:close/>
                <a:moveTo>
                  <a:pt x="38793" y="59903"/>
                </a:moveTo>
                <a:lnTo>
                  <a:pt x="16643" y="97901"/>
                </a:lnTo>
                <a:lnTo>
                  <a:pt x="60974" y="97901"/>
                </a:lnTo>
                <a:lnTo>
                  <a:pt x="38793" y="59903"/>
                </a:lnTo>
                <a:close/>
                <a:moveTo>
                  <a:pt x="275" y="103133"/>
                </a:moveTo>
                <a:cubicBezTo>
                  <a:pt x="-520" y="99768"/>
                  <a:pt x="581" y="96311"/>
                  <a:pt x="2325" y="93312"/>
                </a:cubicBezTo>
                <a:lnTo>
                  <a:pt x="31451" y="43383"/>
                </a:lnTo>
                <a:cubicBezTo>
                  <a:pt x="32981" y="40751"/>
                  <a:pt x="35795" y="39161"/>
                  <a:pt x="38824" y="39161"/>
                </a:cubicBezTo>
                <a:cubicBezTo>
                  <a:pt x="41853" y="39161"/>
                  <a:pt x="44668" y="40782"/>
                  <a:pt x="46197" y="43383"/>
                </a:cubicBezTo>
                <a:lnTo>
                  <a:pt x="75323" y="93312"/>
                </a:lnTo>
                <a:cubicBezTo>
                  <a:pt x="77067" y="96311"/>
                  <a:pt x="78168" y="99768"/>
                  <a:pt x="77373" y="103133"/>
                </a:cubicBezTo>
                <a:cubicBezTo>
                  <a:pt x="74069" y="116839"/>
                  <a:pt x="58068" y="127272"/>
                  <a:pt x="38824" y="127272"/>
                </a:cubicBezTo>
                <a:cubicBezTo>
                  <a:pt x="19580" y="127272"/>
                  <a:pt x="3580" y="116870"/>
                  <a:pt x="275" y="103133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39" name="Text 37"/>
          <p:cNvSpPr/>
          <p:nvPr/>
        </p:nvSpPr>
        <p:spPr>
          <a:xfrm>
            <a:off x="939854" y="5238818"/>
            <a:ext cx="1696959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Déséquilibre de Classes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87332" y="5639126"/>
            <a:ext cx="5395460" cy="313285"/>
          </a:xfrm>
          <a:custGeom>
            <a:avLst/>
            <a:gdLst/>
            <a:ahLst/>
            <a:cxnLst/>
            <a:rect l="l" t="t" r="r" b="b"/>
            <a:pathLst>
              <a:path w="5395460" h="313285">
                <a:moveTo>
                  <a:pt x="69618" y="0"/>
                </a:moveTo>
                <a:lnTo>
                  <a:pt x="5325842" y="0"/>
                </a:lnTo>
                <a:cubicBezTo>
                  <a:pt x="5364291" y="0"/>
                  <a:pt x="5395460" y="31169"/>
                  <a:pt x="5395460" y="69618"/>
                </a:cubicBezTo>
                <a:lnTo>
                  <a:pt x="5395460" y="243667"/>
                </a:lnTo>
                <a:cubicBezTo>
                  <a:pt x="5395460" y="282116"/>
                  <a:pt x="5364291" y="313285"/>
                  <a:pt x="5325842" y="313285"/>
                </a:cubicBezTo>
                <a:lnTo>
                  <a:pt x="69618" y="313285"/>
                </a:lnTo>
                <a:cubicBezTo>
                  <a:pt x="31169" y="313285"/>
                  <a:pt x="0" y="282116"/>
                  <a:pt x="0" y="243667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56951" y="5708745"/>
            <a:ext cx="26107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UCI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949261" y="5708745"/>
            <a:ext cx="93115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46% — Équilibré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87332" y="6022030"/>
            <a:ext cx="5395460" cy="313285"/>
          </a:xfrm>
          <a:custGeom>
            <a:avLst/>
            <a:gdLst/>
            <a:ahLst/>
            <a:cxnLst/>
            <a:rect l="l" t="t" r="r" b="b"/>
            <a:pathLst>
              <a:path w="5395460" h="313285">
                <a:moveTo>
                  <a:pt x="69618" y="0"/>
                </a:moveTo>
                <a:lnTo>
                  <a:pt x="5325842" y="0"/>
                </a:lnTo>
                <a:cubicBezTo>
                  <a:pt x="5364291" y="0"/>
                  <a:pt x="5395460" y="31169"/>
                  <a:pt x="5395460" y="69618"/>
                </a:cubicBezTo>
                <a:lnTo>
                  <a:pt x="5395460" y="243667"/>
                </a:lnTo>
                <a:cubicBezTo>
                  <a:pt x="5395460" y="282116"/>
                  <a:pt x="5364291" y="313285"/>
                  <a:pt x="5325842" y="313285"/>
                </a:cubicBezTo>
                <a:lnTo>
                  <a:pt x="69618" y="313285"/>
                </a:lnTo>
                <a:cubicBezTo>
                  <a:pt x="31169" y="313285"/>
                  <a:pt x="0" y="282116"/>
                  <a:pt x="0" y="243667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D95D5D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56951" y="6091649"/>
            <a:ext cx="73970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Framingham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772494" y="6091649"/>
            <a:ext cx="1105199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D95D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15% — Déséquilibré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87332" y="6404934"/>
            <a:ext cx="5395460" cy="313285"/>
          </a:xfrm>
          <a:custGeom>
            <a:avLst/>
            <a:gdLst/>
            <a:ahLst/>
            <a:cxnLst/>
            <a:rect l="l" t="t" r="r" b="b"/>
            <a:pathLst>
              <a:path w="5395460" h="313285">
                <a:moveTo>
                  <a:pt x="69618" y="0"/>
                </a:moveTo>
                <a:lnTo>
                  <a:pt x="5325842" y="0"/>
                </a:lnTo>
                <a:cubicBezTo>
                  <a:pt x="5364291" y="0"/>
                  <a:pt x="5395460" y="31169"/>
                  <a:pt x="5395460" y="69618"/>
                </a:cubicBezTo>
                <a:lnTo>
                  <a:pt x="5395460" y="243667"/>
                </a:lnTo>
                <a:cubicBezTo>
                  <a:pt x="5395460" y="282116"/>
                  <a:pt x="5364291" y="313285"/>
                  <a:pt x="5325842" y="313285"/>
                </a:cubicBezTo>
                <a:lnTo>
                  <a:pt x="69618" y="313285"/>
                </a:lnTo>
                <a:cubicBezTo>
                  <a:pt x="31169" y="313285"/>
                  <a:pt x="0" y="282116"/>
                  <a:pt x="0" y="243667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56951" y="6474552"/>
            <a:ext cx="43511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Kaggle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945997" y="6474552"/>
            <a:ext cx="93115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50% — Équilibré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65075" y="1287949"/>
            <a:ext cx="5673936" cy="5569507"/>
          </a:xfrm>
          <a:custGeom>
            <a:avLst/>
            <a:gdLst/>
            <a:ahLst/>
            <a:cxnLst/>
            <a:rect l="l" t="t" r="r" b="b"/>
            <a:pathLst>
              <a:path w="5673936" h="5569507">
                <a:moveTo>
                  <a:pt x="104428" y="0"/>
                </a:moveTo>
                <a:lnTo>
                  <a:pt x="5569507" y="0"/>
                </a:lnTo>
                <a:cubicBezTo>
                  <a:pt x="5627182" y="0"/>
                  <a:pt x="5673936" y="46754"/>
                  <a:pt x="5673936" y="104428"/>
                </a:cubicBezTo>
                <a:lnTo>
                  <a:pt x="5673936" y="5465079"/>
                </a:lnTo>
                <a:cubicBezTo>
                  <a:pt x="5673936" y="5522753"/>
                  <a:pt x="5627182" y="5569507"/>
                  <a:pt x="5569507" y="5569507"/>
                </a:cubicBezTo>
                <a:lnTo>
                  <a:pt x="104428" y="5569507"/>
                </a:lnTo>
                <a:cubicBezTo>
                  <a:pt x="46754" y="5569507"/>
                  <a:pt x="0" y="5522753"/>
                  <a:pt x="0" y="5465079"/>
                </a:cubicBezTo>
                <a:lnTo>
                  <a:pt x="0" y="104428"/>
                </a:lnTo>
                <a:cubicBezTo>
                  <a:pt x="0" y="46793"/>
                  <a:pt x="46793" y="0"/>
                  <a:pt x="10442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2214" dist="34809" dir="5400000">
              <a:srgbClr val="000000">
                <a:alpha val="1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04313" y="1427186"/>
            <a:ext cx="348094" cy="348094"/>
          </a:xfrm>
          <a:custGeom>
            <a:avLst/>
            <a:gdLst/>
            <a:ahLst/>
            <a:cxnLst/>
            <a:rect l="l" t="t" r="r" b="b"/>
            <a:pathLst>
              <a:path w="348094" h="348094">
                <a:moveTo>
                  <a:pt x="69619" y="0"/>
                </a:moveTo>
                <a:lnTo>
                  <a:pt x="278475" y="0"/>
                </a:lnTo>
                <a:cubicBezTo>
                  <a:pt x="316899" y="0"/>
                  <a:pt x="348094" y="31195"/>
                  <a:pt x="348094" y="69619"/>
                </a:cubicBezTo>
                <a:lnTo>
                  <a:pt x="348094" y="278475"/>
                </a:lnTo>
                <a:cubicBezTo>
                  <a:pt x="348094" y="316925"/>
                  <a:pt x="316925" y="348094"/>
                  <a:pt x="278475" y="348094"/>
                </a:cubicBezTo>
                <a:lnTo>
                  <a:pt x="69619" y="348094"/>
                </a:lnTo>
                <a:cubicBezTo>
                  <a:pt x="31195" y="348094"/>
                  <a:pt x="0" y="316899"/>
                  <a:pt x="0" y="278475"/>
                </a:cubicBezTo>
                <a:lnTo>
                  <a:pt x="0" y="69619"/>
                </a:lnTo>
                <a:cubicBezTo>
                  <a:pt x="0" y="31169"/>
                  <a:pt x="31169" y="0"/>
                  <a:pt x="69619" y="0"/>
                </a:cubicBezTo>
                <a:close/>
              </a:path>
            </a:pathLst>
          </a:custGeom>
          <a:solidFill>
            <a:srgbClr val="4A6D7C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21794" y="1522912"/>
            <a:ext cx="117482" cy="156642"/>
          </a:xfrm>
          <a:custGeom>
            <a:avLst/>
            <a:gdLst/>
            <a:ahLst/>
            <a:cxnLst/>
            <a:rect l="l" t="t" r="r" b="b"/>
            <a:pathLst>
              <a:path w="117482" h="156642">
                <a:moveTo>
                  <a:pt x="89610" y="117482"/>
                </a:moveTo>
                <a:cubicBezTo>
                  <a:pt x="91844" y="110659"/>
                  <a:pt x="96311" y="104479"/>
                  <a:pt x="101359" y="99156"/>
                </a:cubicBezTo>
                <a:cubicBezTo>
                  <a:pt x="111363" y="88631"/>
                  <a:pt x="117482" y="74405"/>
                  <a:pt x="117482" y="58741"/>
                </a:cubicBezTo>
                <a:cubicBezTo>
                  <a:pt x="117482" y="26311"/>
                  <a:pt x="91171" y="0"/>
                  <a:pt x="58741" y="0"/>
                </a:cubicBezTo>
                <a:cubicBezTo>
                  <a:pt x="26311" y="0"/>
                  <a:pt x="0" y="26311"/>
                  <a:pt x="0" y="58741"/>
                </a:cubicBezTo>
                <a:cubicBezTo>
                  <a:pt x="0" y="74405"/>
                  <a:pt x="6119" y="88631"/>
                  <a:pt x="16123" y="99156"/>
                </a:cubicBezTo>
                <a:cubicBezTo>
                  <a:pt x="21171" y="104479"/>
                  <a:pt x="25669" y="110659"/>
                  <a:pt x="27871" y="117482"/>
                </a:cubicBezTo>
                <a:lnTo>
                  <a:pt x="89580" y="117482"/>
                </a:lnTo>
                <a:close/>
                <a:moveTo>
                  <a:pt x="88111" y="132167"/>
                </a:moveTo>
                <a:lnTo>
                  <a:pt x="29370" y="132167"/>
                </a:lnTo>
                <a:lnTo>
                  <a:pt x="29370" y="137062"/>
                </a:lnTo>
                <a:cubicBezTo>
                  <a:pt x="29370" y="150585"/>
                  <a:pt x="40323" y="161537"/>
                  <a:pt x="53846" y="161537"/>
                </a:cubicBezTo>
                <a:lnTo>
                  <a:pt x="63636" y="161537"/>
                </a:lnTo>
                <a:cubicBezTo>
                  <a:pt x="77159" y="161537"/>
                  <a:pt x="88111" y="150585"/>
                  <a:pt x="88111" y="137062"/>
                </a:cubicBezTo>
                <a:lnTo>
                  <a:pt x="88111" y="132167"/>
                </a:lnTo>
                <a:close/>
                <a:moveTo>
                  <a:pt x="56293" y="34266"/>
                </a:moveTo>
                <a:cubicBezTo>
                  <a:pt x="44117" y="34266"/>
                  <a:pt x="34266" y="44117"/>
                  <a:pt x="34266" y="56293"/>
                </a:cubicBezTo>
                <a:cubicBezTo>
                  <a:pt x="34266" y="60362"/>
                  <a:pt x="30992" y="63636"/>
                  <a:pt x="26923" y="63636"/>
                </a:cubicBezTo>
                <a:cubicBezTo>
                  <a:pt x="22854" y="63636"/>
                  <a:pt x="19580" y="60362"/>
                  <a:pt x="19580" y="56293"/>
                </a:cubicBezTo>
                <a:cubicBezTo>
                  <a:pt x="19580" y="36009"/>
                  <a:pt x="36009" y="19580"/>
                  <a:pt x="56293" y="19580"/>
                </a:cubicBezTo>
                <a:cubicBezTo>
                  <a:pt x="60362" y="19580"/>
                  <a:pt x="63636" y="22854"/>
                  <a:pt x="63636" y="26923"/>
                </a:cubicBezTo>
                <a:cubicBezTo>
                  <a:pt x="63636" y="30992"/>
                  <a:pt x="60362" y="34266"/>
                  <a:pt x="56293" y="34266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52" name="Text 50"/>
          <p:cNvSpPr/>
          <p:nvPr/>
        </p:nvSpPr>
        <p:spPr>
          <a:xfrm>
            <a:off x="6756835" y="1479400"/>
            <a:ext cx="1322758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Insights Cliniques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04313" y="2071161"/>
            <a:ext cx="5395460" cy="652677"/>
          </a:xfrm>
          <a:custGeom>
            <a:avLst/>
            <a:gdLst/>
            <a:ahLst/>
            <a:cxnLst/>
            <a:rect l="l" t="t" r="r" b="b"/>
            <a:pathLst>
              <a:path w="5395460" h="652677">
                <a:moveTo>
                  <a:pt x="69621" y="0"/>
                </a:moveTo>
                <a:lnTo>
                  <a:pt x="5325839" y="0"/>
                </a:lnTo>
                <a:cubicBezTo>
                  <a:pt x="5364290" y="0"/>
                  <a:pt x="5395460" y="31170"/>
                  <a:pt x="5395460" y="69621"/>
                </a:cubicBezTo>
                <a:lnTo>
                  <a:pt x="5395460" y="583056"/>
                </a:lnTo>
                <a:cubicBezTo>
                  <a:pt x="5395460" y="621506"/>
                  <a:pt x="5364290" y="652677"/>
                  <a:pt x="5325839" y="652677"/>
                </a:cubicBezTo>
                <a:lnTo>
                  <a:pt x="69621" y="652677"/>
                </a:lnTo>
                <a:cubicBezTo>
                  <a:pt x="31196" y="652677"/>
                  <a:pt x="0" y="621481"/>
                  <a:pt x="0" y="583056"/>
                </a:cubicBezTo>
                <a:lnTo>
                  <a:pt x="0" y="69621"/>
                </a:lnTo>
                <a:cubicBezTo>
                  <a:pt x="0" y="31196"/>
                  <a:pt x="31196" y="0"/>
                  <a:pt x="6962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4" name="Shape 52"/>
          <p:cNvSpPr/>
          <p:nvPr/>
        </p:nvSpPr>
        <p:spPr>
          <a:xfrm>
            <a:off x="6408741" y="2192994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69619" y="0"/>
                </a:moveTo>
                <a:lnTo>
                  <a:pt x="208857" y="0"/>
                </a:lnTo>
                <a:cubicBezTo>
                  <a:pt x="247280" y="0"/>
                  <a:pt x="278475" y="31195"/>
                  <a:pt x="278475" y="69619"/>
                </a:cubicBezTo>
                <a:lnTo>
                  <a:pt x="278475" y="208857"/>
                </a:lnTo>
                <a:cubicBezTo>
                  <a:pt x="278475" y="247280"/>
                  <a:pt x="247280" y="278475"/>
                  <a:pt x="208857" y="278475"/>
                </a:cubicBezTo>
                <a:lnTo>
                  <a:pt x="69619" y="278475"/>
                </a:lnTo>
                <a:cubicBezTo>
                  <a:pt x="31195" y="278475"/>
                  <a:pt x="0" y="247280"/>
                  <a:pt x="0" y="20885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78360" y="2262612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87024" y="8702"/>
                </a:moveTo>
                <a:cubicBezTo>
                  <a:pt x="87024" y="3889"/>
                  <a:pt x="90912" y="0"/>
                  <a:pt x="95726" y="0"/>
                </a:cubicBezTo>
                <a:lnTo>
                  <a:pt x="130535" y="0"/>
                </a:lnTo>
                <a:cubicBezTo>
                  <a:pt x="135349" y="0"/>
                  <a:pt x="139238" y="3889"/>
                  <a:pt x="139238" y="8702"/>
                </a:cubicBezTo>
                <a:lnTo>
                  <a:pt x="139238" y="43512"/>
                </a:lnTo>
                <a:cubicBezTo>
                  <a:pt x="139238" y="48325"/>
                  <a:pt x="135349" y="52214"/>
                  <a:pt x="130535" y="52214"/>
                </a:cubicBezTo>
                <a:cubicBezTo>
                  <a:pt x="125722" y="52214"/>
                  <a:pt x="121833" y="48325"/>
                  <a:pt x="121833" y="43512"/>
                </a:cubicBezTo>
                <a:lnTo>
                  <a:pt x="121833" y="29724"/>
                </a:lnTo>
                <a:lnTo>
                  <a:pt x="95998" y="55559"/>
                </a:lnTo>
                <a:cubicBezTo>
                  <a:pt x="101301" y="63282"/>
                  <a:pt x="104428" y="72610"/>
                  <a:pt x="104428" y="82700"/>
                </a:cubicBezTo>
                <a:cubicBezTo>
                  <a:pt x="104428" y="109133"/>
                  <a:pt x="82999" y="130563"/>
                  <a:pt x="56565" y="130563"/>
                </a:cubicBezTo>
                <a:cubicBezTo>
                  <a:pt x="30132" y="130563"/>
                  <a:pt x="8702" y="109106"/>
                  <a:pt x="8702" y="82672"/>
                </a:cubicBezTo>
                <a:cubicBezTo>
                  <a:pt x="8702" y="56239"/>
                  <a:pt x="30132" y="34809"/>
                  <a:pt x="56565" y="34809"/>
                </a:cubicBezTo>
                <a:cubicBezTo>
                  <a:pt x="66627" y="34809"/>
                  <a:pt x="75982" y="37910"/>
                  <a:pt x="83706" y="43240"/>
                </a:cubicBezTo>
                <a:lnTo>
                  <a:pt x="109541" y="17405"/>
                </a:lnTo>
                <a:lnTo>
                  <a:pt x="95753" y="17405"/>
                </a:lnTo>
                <a:cubicBezTo>
                  <a:pt x="90940" y="17405"/>
                  <a:pt x="87051" y="13516"/>
                  <a:pt x="87051" y="8702"/>
                </a:cubicBezTo>
                <a:close/>
                <a:moveTo>
                  <a:pt x="56565" y="113131"/>
                </a:moveTo>
                <a:cubicBezTo>
                  <a:pt x="73376" y="113131"/>
                  <a:pt x="87024" y="99483"/>
                  <a:pt x="87024" y="82672"/>
                </a:cubicBezTo>
                <a:cubicBezTo>
                  <a:pt x="87024" y="65862"/>
                  <a:pt x="73376" y="52214"/>
                  <a:pt x="56565" y="52214"/>
                </a:cubicBezTo>
                <a:cubicBezTo>
                  <a:pt x="39755" y="52214"/>
                  <a:pt x="26107" y="65862"/>
                  <a:pt x="26107" y="82672"/>
                </a:cubicBezTo>
                <a:cubicBezTo>
                  <a:pt x="26107" y="99483"/>
                  <a:pt x="39755" y="113131"/>
                  <a:pt x="56565" y="113131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56" name="Text 54"/>
          <p:cNvSpPr/>
          <p:nvPr/>
        </p:nvSpPr>
        <p:spPr>
          <a:xfrm>
            <a:off x="6791645" y="2175589"/>
            <a:ext cx="318506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Sexe masculin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791645" y="2419255"/>
            <a:ext cx="3176360" cy="20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9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Prévalence significativement plus élevée chez les hommes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04313" y="3208994"/>
            <a:ext cx="5395460" cy="652677"/>
          </a:xfrm>
          <a:custGeom>
            <a:avLst/>
            <a:gdLst/>
            <a:ahLst/>
            <a:cxnLst/>
            <a:rect l="l" t="t" r="r" b="b"/>
            <a:pathLst>
              <a:path w="5395460" h="652677">
                <a:moveTo>
                  <a:pt x="69621" y="0"/>
                </a:moveTo>
                <a:lnTo>
                  <a:pt x="5325839" y="0"/>
                </a:lnTo>
                <a:cubicBezTo>
                  <a:pt x="5364290" y="0"/>
                  <a:pt x="5395460" y="31170"/>
                  <a:pt x="5395460" y="69621"/>
                </a:cubicBezTo>
                <a:lnTo>
                  <a:pt x="5395460" y="583056"/>
                </a:lnTo>
                <a:cubicBezTo>
                  <a:pt x="5395460" y="621506"/>
                  <a:pt x="5364290" y="652677"/>
                  <a:pt x="5325839" y="652677"/>
                </a:cubicBezTo>
                <a:lnTo>
                  <a:pt x="69621" y="652677"/>
                </a:lnTo>
                <a:cubicBezTo>
                  <a:pt x="31196" y="652677"/>
                  <a:pt x="0" y="621481"/>
                  <a:pt x="0" y="583056"/>
                </a:cubicBezTo>
                <a:lnTo>
                  <a:pt x="0" y="69621"/>
                </a:lnTo>
                <a:cubicBezTo>
                  <a:pt x="0" y="31196"/>
                  <a:pt x="31196" y="0"/>
                  <a:pt x="6962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9" name="Shape 57"/>
          <p:cNvSpPr/>
          <p:nvPr/>
        </p:nvSpPr>
        <p:spPr>
          <a:xfrm>
            <a:off x="6408741" y="3330827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69619" y="0"/>
                </a:moveTo>
                <a:lnTo>
                  <a:pt x="208857" y="0"/>
                </a:lnTo>
                <a:cubicBezTo>
                  <a:pt x="247280" y="0"/>
                  <a:pt x="278475" y="31195"/>
                  <a:pt x="278475" y="69619"/>
                </a:cubicBezTo>
                <a:lnTo>
                  <a:pt x="278475" y="208857"/>
                </a:lnTo>
                <a:cubicBezTo>
                  <a:pt x="278475" y="247280"/>
                  <a:pt x="247280" y="278475"/>
                  <a:pt x="208857" y="278475"/>
                </a:cubicBezTo>
                <a:lnTo>
                  <a:pt x="69619" y="278475"/>
                </a:lnTo>
                <a:cubicBezTo>
                  <a:pt x="31195" y="278475"/>
                  <a:pt x="0" y="247280"/>
                  <a:pt x="0" y="20885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1A3A4A">
              <a:alpha val="1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487062" y="3400445"/>
            <a:ext cx="121833" cy="139238"/>
          </a:xfrm>
          <a:custGeom>
            <a:avLst/>
            <a:gdLst/>
            <a:ahLst/>
            <a:cxnLst/>
            <a:rect l="l" t="t" r="r" b="b"/>
            <a:pathLst>
              <a:path w="121833" h="139238">
                <a:moveTo>
                  <a:pt x="23496" y="-2855"/>
                </a:moveTo>
                <a:lnTo>
                  <a:pt x="16806" y="8594"/>
                </a:lnTo>
                <a:cubicBezTo>
                  <a:pt x="15773" y="10361"/>
                  <a:pt x="15229" y="12401"/>
                  <a:pt x="15229" y="14468"/>
                </a:cubicBezTo>
                <a:lnTo>
                  <a:pt x="15229" y="15229"/>
                </a:lnTo>
                <a:cubicBezTo>
                  <a:pt x="15229" y="21239"/>
                  <a:pt x="20097" y="26107"/>
                  <a:pt x="26107" y="26107"/>
                </a:cubicBezTo>
                <a:cubicBezTo>
                  <a:pt x="32117" y="26107"/>
                  <a:pt x="36985" y="21239"/>
                  <a:pt x="36985" y="15229"/>
                </a:cubicBezTo>
                <a:lnTo>
                  <a:pt x="36985" y="14468"/>
                </a:lnTo>
                <a:cubicBezTo>
                  <a:pt x="36985" y="12401"/>
                  <a:pt x="36441" y="10388"/>
                  <a:pt x="35408" y="8594"/>
                </a:cubicBezTo>
                <a:lnTo>
                  <a:pt x="28718" y="-2855"/>
                </a:lnTo>
                <a:cubicBezTo>
                  <a:pt x="28174" y="-3780"/>
                  <a:pt x="27168" y="-4351"/>
                  <a:pt x="26107" y="-4351"/>
                </a:cubicBezTo>
                <a:cubicBezTo>
                  <a:pt x="25046" y="-4351"/>
                  <a:pt x="24040" y="-3780"/>
                  <a:pt x="23496" y="-2855"/>
                </a:cubicBezTo>
                <a:close/>
                <a:moveTo>
                  <a:pt x="58306" y="-2855"/>
                </a:moveTo>
                <a:lnTo>
                  <a:pt x="51616" y="8594"/>
                </a:lnTo>
                <a:cubicBezTo>
                  <a:pt x="50582" y="10361"/>
                  <a:pt x="50039" y="12401"/>
                  <a:pt x="50039" y="14468"/>
                </a:cubicBezTo>
                <a:lnTo>
                  <a:pt x="50039" y="15229"/>
                </a:lnTo>
                <a:cubicBezTo>
                  <a:pt x="50039" y="21239"/>
                  <a:pt x="54906" y="26107"/>
                  <a:pt x="60916" y="26107"/>
                </a:cubicBezTo>
                <a:cubicBezTo>
                  <a:pt x="66927" y="26107"/>
                  <a:pt x="71794" y="21239"/>
                  <a:pt x="71794" y="15229"/>
                </a:cubicBezTo>
                <a:lnTo>
                  <a:pt x="71794" y="14468"/>
                </a:lnTo>
                <a:cubicBezTo>
                  <a:pt x="71794" y="12401"/>
                  <a:pt x="71251" y="10388"/>
                  <a:pt x="70217" y="8594"/>
                </a:cubicBezTo>
                <a:lnTo>
                  <a:pt x="63527" y="-2855"/>
                </a:lnTo>
                <a:cubicBezTo>
                  <a:pt x="62983" y="-3780"/>
                  <a:pt x="61977" y="-4351"/>
                  <a:pt x="60916" y="-4351"/>
                </a:cubicBezTo>
                <a:cubicBezTo>
                  <a:pt x="59856" y="-4351"/>
                  <a:pt x="58850" y="-3780"/>
                  <a:pt x="58306" y="-2855"/>
                </a:cubicBezTo>
                <a:close/>
                <a:moveTo>
                  <a:pt x="86425" y="8594"/>
                </a:moveTo>
                <a:cubicBezTo>
                  <a:pt x="85392" y="10361"/>
                  <a:pt x="84848" y="12401"/>
                  <a:pt x="84848" y="14468"/>
                </a:cubicBezTo>
                <a:lnTo>
                  <a:pt x="84848" y="15229"/>
                </a:lnTo>
                <a:cubicBezTo>
                  <a:pt x="84848" y="21239"/>
                  <a:pt x="89716" y="26107"/>
                  <a:pt x="95726" y="26107"/>
                </a:cubicBezTo>
                <a:cubicBezTo>
                  <a:pt x="101736" y="26107"/>
                  <a:pt x="106604" y="21239"/>
                  <a:pt x="106604" y="15229"/>
                </a:cubicBezTo>
                <a:lnTo>
                  <a:pt x="106604" y="14468"/>
                </a:lnTo>
                <a:cubicBezTo>
                  <a:pt x="106604" y="12401"/>
                  <a:pt x="106060" y="10388"/>
                  <a:pt x="105027" y="8594"/>
                </a:cubicBezTo>
                <a:lnTo>
                  <a:pt x="98337" y="-2855"/>
                </a:lnTo>
                <a:cubicBezTo>
                  <a:pt x="97793" y="-3780"/>
                  <a:pt x="96787" y="-4351"/>
                  <a:pt x="95726" y="-4351"/>
                </a:cubicBezTo>
                <a:cubicBezTo>
                  <a:pt x="94665" y="-4351"/>
                  <a:pt x="93659" y="-3780"/>
                  <a:pt x="93115" y="-2855"/>
                </a:cubicBezTo>
                <a:lnTo>
                  <a:pt x="86425" y="8594"/>
                </a:lnTo>
                <a:close/>
                <a:moveTo>
                  <a:pt x="34809" y="43512"/>
                </a:moveTo>
                <a:cubicBezTo>
                  <a:pt x="34809" y="38698"/>
                  <a:pt x="30921" y="34809"/>
                  <a:pt x="26107" y="34809"/>
                </a:cubicBezTo>
                <a:cubicBezTo>
                  <a:pt x="21294" y="34809"/>
                  <a:pt x="17405" y="38698"/>
                  <a:pt x="17405" y="43512"/>
                </a:cubicBezTo>
                <a:lnTo>
                  <a:pt x="17405" y="58061"/>
                </a:lnTo>
                <a:cubicBezTo>
                  <a:pt x="7261" y="61624"/>
                  <a:pt x="0" y="71305"/>
                  <a:pt x="0" y="82672"/>
                </a:cubicBezTo>
                <a:lnTo>
                  <a:pt x="0" y="88329"/>
                </a:lnTo>
                <a:cubicBezTo>
                  <a:pt x="5684" y="88682"/>
                  <a:pt x="11313" y="90314"/>
                  <a:pt x="16399" y="93224"/>
                </a:cubicBezTo>
                <a:lnTo>
                  <a:pt x="18329" y="94339"/>
                </a:lnTo>
                <a:cubicBezTo>
                  <a:pt x="25482" y="98418"/>
                  <a:pt x="34347" y="97983"/>
                  <a:pt x="41064" y="93197"/>
                </a:cubicBezTo>
                <a:cubicBezTo>
                  <a:pt x="52948" y="84712"/>
                  <a:pt x="68885" y="84712"/>
                  <a:pt x="80769" y="93197"/>
                </a:cubicBezTo>
                <a:cubicBezTo>
                  <a:pt x="87459" y="97983"/>
                  <a:pt x="96351" y="98445"/>
                  <a:pt x="103504" y="94339"/>
                </a:cubicBezTo>
                <a:lnTo>
                  <a:pt x="105434" y="93224"/>
                </a:lnTo>
                <a:cubicBezTo>
                  <a:pt x="110520" y="90314"/>
                  <a:pt x="116122" y="88682"/>
                  <a:pt x="121833" y="88329"/>
                </a:cubicBezTo>
                <a:lnTo>
                  <a:pt x="121833" y="82672"/>
                </a:lnTo>
                <a:cubicBezTo>
                  <a:pt x="121833" y="71305"/>
                  <a:pt x="114572" y="61624"/>
                  <a:pt x="104428" y="58061"/>
                </a:cubicBezTo>
                <a:lnTo>
                  <a:pt x="104428" y="43512"/>
                </a:lnTo>
                <a:cubicBezTo>
                  <a:pt x="104428" y="38698"/>
                  <a:pt x="100539" y="34809"/>
                  <a:pt x="95726" y="34809"/>
                </a:cubicBezTo>
                <a:cubicBezTo>
                  <a:pt x="90912" y="34809"/>
                  <a:pt x="87024" y="38698"/>
                  <a:pt x="87024" y="43512"/>
                </a:cubicBezTo>
                <a:lnTo>
                  <a:pt x="87024" y="56565"/>
                </a:lnTo>
                <a:lnTo>
                  <a:pt x="69619" y="56565"/>
                </a:lnTo>
                <a:lnTo>
                  <a:pt x="69619" y="43512"/>
                </a:lnTo>
                <a:cubicBezTo>
                  <a:pt x="69619" y="38698"/>
                  <a:pt x="65730" y="34809"/>
                  <a:pt x="60916" y="34809"/>
                </a:cubicBezTo>
                <a:cubicBezTo>
                  <a:pt x="56103" y="34809"/>
                  <a:pt x="52214" y="38698"/>
                  <a:pt x="52214" y="43512"/>
                </a:cubicBezTo>
                <a:lnTo>
                  <a:pt x="52214" y="56565"/>
                </a:lnTo>
                <a:lnTo>
                  <a:pt x="34809" y="56565"/>
                </a:lnTo>
                <a:lnTo>
                  <a:pt x="34809" y="43512"/>
                </a:lnTo>
                <a:close/>
                <a:moveTo>
                  <a:pt x="121833" y="101437"/>
                </a:moveTo>
                <a:cubicBezTo>
                  <a:pt x="118379" y="101763"/>
                  <a:pt x="115007" y="102797"/>
                  <a:pt x="111907" y="104564"/>
                </a:cubicBezTo>
                <a:lnTo>
                  <a:pt x="109976" y="105679"/>
                </a:lnTo>
                <a:cubicBezTo>
                  <a:pt x="98391" y="112288"/>
                  <a:pt x="84032" y="111581"/>
                  <a:pt x="73181" y="103830"/>
                </a:cubicBezTo>
                <a:cubicBezTo>
                  <a:pt x="65839" y="98581"/>
                  <a:pt x="55994" y="98581"/>
                  <a:pt x="48652" y="103830"/>
                </a:cubicBezTo>
                <a:cubicBezTo>
                  <a:pt x="37801" y="111581"/>
                  <a:pt x="23442" y="112315"/>
                  <a:pt x="11857" y="105679"/>
                </a:cubicBezTo>
                <a:lnTo>
                  <a:pt x="9926" y="104564"/>
                </a:lnTo>
                <a:cubicBezTo>
                  <a:pt x="6826" y="102797"/>
                  <a:pt x="3454" y="101736"/>
                  <a:pt x="0" y="101437"/>
                </a:cubicBezTo>
                <a:lnTo>
                  <a:pt x="0" y="121833"/>
                </a:lnTo>
                <a:cubicBezTo>
                  <a:pt x="0" y="131433"/>
                  <a:pt x="7805" y="139238"/>
                  <a:pt x="17405" y="139238"/>
                </a:cubicBezTo>
                <a:lnTo>
                  <a:pt x="104428" y="139238"/>
                </a:lnTo>
                <a:cubicBezTo>
                  <a:pt x="114028" y="139238"/>
                  <a:pt x="121833" y="131433"/>
                  <a:pt x="121833" y="121833"/>
                </a:cubicBezTo>
                <a:lnTo>
                  <a:pt x="121833" y="101437"/>
                </a:ln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61" name="Text 59"/>
          <p:cNvSpPr/>
          <p:nvPr/>
        </p:nvSpPr>
        <p:spPr>
          <a:xfrm>
            <a:off x="6791645" y="3313422"/>
            <a:ext cx="2532385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Âge &gt; 55 ans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791645" y="3557088"/>
            <a:ext cx="2523683" cy="20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9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Risque exponentiellement croissant avec l'âge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04313" y="4346827"/>
            <a:ext cx="5395460" cy="652677"/>
          </a:xfrm>
          <a:custGeom>
            <a:avLst/>
            <a:gdLst/>
            <a:ahLst/>
            <a:cxnLst/>
            <a:rect l="l" t="t" r="r" b="b"/>
            <a:pathLst>
              <a:path w="5395460" h="652677">
                <a:moveTo>
                  <a:pt x="69621" y="0"/>
                </a:moveTo>
                <a:lnTo>
                  <a:pt x="5325839" y="0"/>
                </a:lnTo>
                <a:cubicBezTo>
                  <a:pt x="5364290" y="0"/>
                  <a:pt x="5395460" y="31170"/>
                  <a:pt x="5395460" y="69621"/>
                </a:cubicBezTo>
                <a:lnTo>
                  <a:pt x="5395460" y="583056"/>
                </a:lnTo>
                <a:cubicBezTo>
                  <a:pt x="5395460" y="621506"/>
                  <a:pt x="5364290" y="652677"/>
                  <a:pt x="5325839" y="652677"/>
                </a:cubicBezTo>
                <a:lnTo>
                  <a:pt x="69621" y="652677"/>
                </a:lnTo>
                <a:cubicBezTo>
                  <a:pt x="31196" y="652677"/>
                  <a:pt x="0" y="621481"/>
                  <a:pt x="0" y="583056"/>
                </a:cubicBezTo>
                <a:lnTo>
                  <a:pt x="0" y="69621"/>
                </a:lnTo>
                <a:cubicBezTo>
                  <a:pt x="0" y="31196"/>
                  <a:pt x="31196" y="0"/>
                  <a:pt x="6962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4" name="Shape 62"/>
          <p:cNvSpPr/>
          <p:nvPr/>
        </p:nvSpPr>
        <p:spPr>
          <a:xfrm>
            <a:off x="6408741" y="4468660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69619" y="0"/>
                </a:moveTo>
                <a:lnTo>
                  <a:pt x="208857" y="0"/>
                </a:lnTo>
                <a:cubicBezTo>
                  <a:pt x="247280" y="0"/>
                  <a:pt x="278475" y="31195"/>
                  <a:pt x="278475" y="69619"/>
                </a:cubicBezTo>
                <a:lnTo>
                  <a:pt x="278475" y="208857"/>
                </a:lnTo>
                <a:cubicBezTo>
                  <a:pt x="278475" y="247280"/>
                  <a:pt x="247280" y="278475"/>
                  <a:pt x="208857" y="278475"/>
                </a:cubicBezTo>
                <a:lnTo>
                  <a:pt x="69619" y="278475"/>
                </a:lnTo>
                <a:cubicBezTo>
                  <a:pt x="31195" y="278475"/>
                  <a:pt x="0" y="247280"/>
                  <a:pt x="0" y="20885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6478360" y="4538278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69619" y="0"/>
                </a:moveTo>
                <a:cubicBezTo>
                  <a:pt x="73616" y="0"/>
                  <a:pt x="77288" y="2203"/>
                  <a:pt x="79191" y="5711"/>
                </a:cubicBezTo>
                <a:lnTo>
                  <a:pt x="137932" y="114490"/>
                </a:lnTo>
                <a:cubicBezTo>
                  <a:pt x="139754" y="117863"/>
                  <a:pt x="139673" y="121942"/>
                  <a:pt x="137715" y="125232"/>
                </a:cubicBezTo>
                <a:cubicBezTo>
                  <a:pt x="135757" y="128523"/>
                  <a:pt x="132194" y="130535"/>
                  <a:pt x="128360" y="130535"/>
                </a:cubicBezTo>
                <a:lnTo>
                  <a:pt x="10878" y="130535"/>
                </a:lnTo>
                <a:cubicBezTo>
                  <a:pt x="7043" y="130535"/>
                  <a:pt x="3508" y="128523"/>
                  <a:pt x="1523" y="125232"/>
                </a:cubicBezTo>
                <a:cubicBezTo>
                  <a:pt x="-462" y="121942"/>
                  <a:pt x="-517" y="117863"/>
                  <a:pt x="1305" y="114490"/>
                </a:cubicBezTo>
                <a:lnTo>
                  <a:pt x="60046" y="5711"/>
                </a:lnTo>
                <a:cubicBezTo>
                  <a:pt x="61950" y="2203"/>
                  <a:pt x="65621" y="0"/>
                  <a:pt x="69619" y="0"/>
                </a:cubicBezTo>
                <a:close/>
                <a:moveTo>
                  <a:pt x="69619" y="45687"/>
                </a:moveTo>
                <a:cubicBezTo>
                  <a:pt x="66002" y="45687"/>
                  <a:pt x="63092" y="48597"/>
                  <a:pt x="63092" y="52214"/>
                </a:cubicBezTo>
                <a:lnTo>
                  <a:pt x="63092" y="82672"/>
                </a:lnTo>
                <a:cubicBezTo>
                  <a:pt x="63092" y="86289"/>
                  <a:pt x="66002" y="89199"/>
                  <a:pt x="69619" y="89199"/>
                </a:cubicBezTo>
                <a:cubicBezTo>
                  <a:pt x="73236" y="89199"/>
                  <a:pt x="76146" y="86289"/>
                  <a:pt x="76146" y="82672"/>
                </a:cubicBezTo>
                <a:lnTo>
                  <a:pt x="76146" y="52214"/>
                </a:lnTo>
                <a:cubicBezTo>
                  <a:pt x="76146" y="48597"/>
                  <a:pt x="73236" y="45687"/>
                  <a:pt x="69619" y="45687"/>
                </a:cubicBezTo>
                <a:close/>
                <a:moveTo>
                  <a:pt x="76880" y="104428"/>
                </a:moveTo>
                <a:cubicBezTo>
                  <a:pt x="77045" y="101733"/>
                  <a:pt x="75701" y="99169"/>
                  <a:pt x="73390" y="97771"/>
                </a:cubicBezTo>
                <a:cubicBezTo>
                  <a:pt x="71080" y="96374"/>
                  <a:pt x="68185" y="96374"/>
                  <a:pt x="65874" y="97771"/>
                </a:cubicBezTo>
                <a:cubicBezTo>
                  <a:pt x="63564" y="99169"/>
                  <a:pt x="62220" y="101733"/>
                  <a:pt x="62385" y="104428"/>
                </a:cubicBezTo>
                <a:cubicBezTo>
                  <a:pt x="62220" y="107123"/>
                  <a:pt x="63564" y="109688"/>
                  <a:pt x="65874" y="111085"/>
                </a:cubicBezTo>
                <a:cubicBezTo>
                  <a:pt x="68185" y="112483"/>
                  <a:pt x="71080" y="112483"/>
                  <a:pt x="73390" y="111085"/>
                </a:cubicBezTo>
                <a:cubicBezTo>
                  <a:pt x="75701" y="109688"/>
                  <a:pt x="77045" y="107123"/>
                  <a:pt x="76880" y="104428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66" name="Text 64"/>
          <p:cNvSpPr/>
          <p:nvPr/>
        </p:nvSpPr>
        <p:spPr>
          <a:xfrm>
            <a:off x="6791645" y="4451255"/>
            <a:ext cx="2427957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Douleur asymptomatique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791645" y="4694921"/>
            <a:ext cx="2419255" cy="20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9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Paradoxalement associée au risque maximal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04313" y="5484660"/>
            <a:ext cx="5395460" cy="652677"/>
          </a:xfrm>
          <a:custGeom>
            <a:avLst/>
            <a:gdLst/>
            <a:ahLst/>
            <a:cxnLst/>
            <a:rect l="l" t="t" r="r" b="b"/>
            <a:pathLst>
              <a:path w="5395460" h="652677">
                <a:moveTo>
                  <a:pt x="69621" y="0"/>
                </a:moveTo>
                <a:lnTo>
                  <a:pt x="5325839" y="0"/>
                </a:lnTo>
                <a:cubicBezTo>
                  <a:pt x="5364290" y="0"/>
                  <a:pt x="5395460" y="31170"/>
                  <a:pt x="5395460" y="69621"/>
                </a:cubicBezTo>
                <a:lnTo>
                  <a:pt x="5395460" y="583056"/>
                </a:lnTo>
                <a:cubicBezTo>
                  <a:pt x="5395460" y="621506"/>
                  <a:pt x="5364290" y="652677"/>
                  <a:pt x="5325839" y="652677"/>
                </a:cubicBezTo>
                <a:lnTo>
                  <a:pt x="69621" y="652677"/>
                </a:lnTo>
                <a:cubicBezTo>
                  <a:pt x="31196" y="652677"/>
                  <a:pt x="0" y="621481"/>
                  <a:pt x="0" y="583056"/>
                </a:cubicBezTo>
                <a:lnTo>
                  <a:pt x="0" y="69621"/>
                </a:lnTo>
                <a:cubicBezTo>
                  <a:pt x="0" y="31196"/>
                  <a:pt x="31196" y="0"/>
                  <a:pt x="6962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9" name="Shape 67"/>
          <p:cNvSpPr/>
          <p:nvPr/>
        </p:nvSpPr>
        <p:spPr>
          <a:xfrm>
            <a:off x="6408741" y="5606493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69619" y="0"/>
                </a:moveTo>
                <a:lnTo>
                  <a:pt x="208857" y="0"/>
                </a:lnTo>
                <a:cubicBezTo>
                  <a:pt x="247280" y="0"/>
                  <a:pt x="278475" y="31195"/>
                  <a:pt x="278475" y="69619"/>
                </a:cubicBezTo>
                <a:lnTo>
                  <a:pt x="278475" y="208857"/>
                </a:lnTo>
                <a:cubicBezTo>
                  <a:pt x="278475" y="247280"/>
                  <a:pt x="247280" y="278475"/>
                  <a:pt x="208857" y="278475"/>
                </a:cubicBezTo>
                <a:lnTo>
                  <a:pt x="69619" y="278475"/>
                </a:lnTo>
                <a:cubicBezTo>
                  <a:pt x="31195" y="278475"/>
                  <a:pt x="0" y="247280"/>
                  <a:pt x="0" y="20885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4A6D7C">
              <a:alpha val="10196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6478360" y="5676111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69619" y="29343"/>
                </a:moveTo>
                <a:lnTo>
                  <a:pt x="65540" y="23687"/>
                </a:lnTo>
                <a:cubicBezTo>
                  <a:pt x="58741" y="14277"/>
                  <a:pt x="47836" y="8702"/>
                  <a:pt x="36196" y="8702"/>
                </a:cubicBezTo>
                <a:cubicBezTo>
                  <a:pt x="16208" y="8702"/>
                  <a:pt x="0" y="24910"/>
                  <a:pt x="0" y="44899"/>
                </a:cubicBezTo>
                <a:lnTo>
                  <a:pt x="0" y="45606"/>
                </a:lnTo>
                <a:cubicBezTo>
                  <a:pt x="0" y="52024"/>
                  <a:pt x="1686" y="58659"/>
                  <a:pt x="4514" y="65268"/>
                </a:cubicBezTo>
                <a:lnTo>
                  <a:pt x="33341" y="65268"/>
                </a:lnTo>
                <a:cubicBezTo>
                  <a:pt x="34211" y="65268"/>
                  <a:pt x="35000" y="64751"/>
                  <a:pt x="35353" y="63935"/>
                </a:cubicBezTo>
                <a:lnTo>
                  <a:pt x="44001" y="43185"/>
                </a:lnTo>
                <a:cubicBezTo>
                  <a:pt x="45007" y="40792"/>
                  <a:pt x="47346" y="39215"/>
                  <a:pt x="49930" y="39161"/>
                </a:cubicBezTo>
                <a:cubicBezTo>
                  <a:pt x="52513" y="39106"/>
                  <a:pt x="54906" y="40629"/>
                  <a:pt x="55967" y="42995"/>
                </a:cubicBezTo>
                <a:lnTo>
                  <a:pt x="69918" y="73970"/>
                </a:lnTo>
                <a:lnTo>
                  <a:pt x="81177" y="51453"/>
                </a:lnTo>
                <a:cubicBezTo>
                  <a:pt x="82292" y="49250"/>
                  <a:pt x="84549" y="47836"/>
                  <a:pt x="87024" y="47836"/>
                </a:cubicBezTo>
                <a:cubicBezTo>
                  <a:pt x="89498" y="47836"/>
                  <a:pt x="91755" y="49223"/>
                  <a:pt x="92870" y="51453"/>
                </a:cubicBezTo>
                <a:lnTo>
                  <a:pt x="99180" y="64044"/>
                </a:lnTo>
                <a:cubicBezTo>
                  <a:pt x="99560" y="64778"/>
                  <a:pt x="100295" y="65240"/>
                  <a:pt x="101138" y="65240"/>
                </a:cubicBezTo>
                <a:lnTo>
                  <a:pt x="134751" y="65240"/>
                </a:lnTo>
                <a:cubicBezTo>
                  <a:pt x="137606" y="58632"/>
                  <a:pt x="139265" y="51997"/>
                  <a:pt x="139265" y="45579"/>
                </a:cubicBezTo>
                <a:lnTo>
                  <a:pt x="139265" y="44872"/>
                </a:lnTo>
                <a:cubicBezTo>
                  <a:pt x="139238" y="24910"/>
                  <a:pt x="123030" y="8702"/>
                  <a:pt x="103041" y="8702"/>
                </a:cubicBezTo>
                <a:cubicBezTo>
                  <a:pt x="91429" y="8702"/>
                  <a:pt x="80497" y="14277"/>
                  <a:pt x="73698" y="23687"/>
                </a:cubicBezTo>
                <a:lnTo>
                  <a:pt x="69619" y="29316"/>
                </a:lnTo>
                <a:close/>
                <a:moveTo>
                  <a:pt x="127707" y="78321"/>
                </a:moveTo>
                <a:lnTo>
                  <a:pt x="101110" y="78321"/>
                </a:lnTo>
                <a:cubicBezTo>
                  <a:pt x="95345" y="78321"/>
                  <a:pt x="90069" y="75058"/>
                  <a:pt x="87486" y="69891"/>
                </a:cubicBezTo>
                <a:lnTo>
                  <a:pt x="87024" y="68966"/>
                </a:lnTo>
                <a:lnTo>
                  <a:pt x="75466" y="92109"/>
                </a:lnTo>
                <a:cubicBezTo>
                  <a:pt x="74351" y="94366"/>
                  <a:pt x="72012" y="95780"/>
                  <a:pt x="69483" y="95726"/>
                </a:cubicBezTo>
                <a:cubicBezTo>
                  <a:pt x="66954" y="95672"/>
                  <a:pt x="64697" y="94176"/>
                  <a:pt x="63663" y="91891"/>
                </a:cubicBezTo>
                <a:lnTo>
                  <a:pt x="50256" y="62113"/>
                </a:lnTo>
                <a:lnTo>
                  <a:pt x="47401" y="68966"/>
                </a:lnTo>
                <a:cubicBezTo>
                  <a:pt x="45035" y="74650"/>
                  <a:pt x="39487" y="78348"/>
                  <a:pt x="33341" y="78348"/>
                </a:cubicBezTo>
                <a:lnTo>
                  <a:pt x="11531" y="78348"/>
                </a:lnTo>
                <a:cubicBezTo>
                  <a:pt x="24367" y="98418"/>
                  <a:pt x="44980" y="116884"/>
                  <a:pt x="57871" y="126728"/>
                </a:cubicBezTo>
                <a:cubicBezTo>
                  <a:pt x="61243" y="129284"/>
                  <a:pt x="65376" y="130563"/>
                  <a:pt x="69592" y="130563"/>
                </a:cubicBezTo>
                <a:cubicBezTo>
                  <a:pt x="73807" y="130563"/>
                  <a:pt x="77968" y="129312"/>
                  <a:pt x="81313" y="126728"/>
                </a:cubicBezTo>
                <a:cubicBezTo>
                  <a:pt x="94257" y="116856"/>
                  <a:pt x="114871" y="98391"/>
                  <a:pt x="127707" y="78321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71" name="Text 69"/>
          <p:cNvSpPr/>
          <p:nvPr/>
        </p:nvSpPr>
        <p:spPr>
          <a:xfrm>
            <a:off x="6791645" y="5589088"/>
            <a:ext cx="2567195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FC maximale élevée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791645" y="5832754"/>
            <a:ext cx="2558493" cy="20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9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Facteur protecteur (bonne condition physique)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304313" y="6435392"/>
            <a:ext cx="5395460" cy="8702"/>
          </a:xfrm>
          <a:custGeom>
            <a:avLst/>
            <a:gdLst/>
            <a:ahLst/>
            <a:cxnLst/>
            <a:rect l="l" t="t" r="r" b="b"/>
            <a:pathLst>
              <a:path w="5395460" h="8702">
                <a:moveTo>
                  <a:pt x="0" y="0"/>
                </a:moveTo>
                <a:lnTo>
                  <a:pt x="5395460" y="0"/>
                </a:lnTo>
                <a:lnTo>
                  <a:pt x="5395460" y="8702"/>
                </a:lnTo>
                <a:lnTo>
                  <a:pt x="0" y="8702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4" name="Shape 72"/>
          <p:cNvSpPr/>
          <p:nvPr/>
        </p:nvSpPr>
        <p:spPr>
          <a:xfrm>
            <a:off x="6321717" y="6570278"/>
            <a:ext cx="121833" cy="121833"/>
          </a:xfrm>
          <a:custGeom>
            <a:avLst/>
            <a:gdLst/>
            <a:ahLst/>
            <a:cxnLst/>
            <a:rect l="l" t="t" r="r" b="b"/>
            <a:pathLst>
              <a:path w="121833" h="121833">
                <a:moveTo>
                  <a:pt x="60916" y="121833"/>
                </a:moveTo>
                <a:cubicBezTo>
                  <a:pt x="94537" y="121833"/>
                  <a:pt x="121833" y="94537"/>
                  <a:pt x="121833" y="60916"/>
                </a:cubicBezTo>
                <a:cubicBezTo>
                  <a:pt x="121833" y="27296"/>
                  <a:pt x="94537" y="0"/>
                  <a:pt x="60916" y="0"/>
                </a:cubicBezTo>
                <a:cubicBezTo>
                  <a:pt x="27296" y="0"/>
                  <a:pt x="0" y="27296"/>
                  <a:pt x="0" y="60916"/>
                </a:cubicBezTo>
                <a:cubicBezTo>
                  <a:pt x="0" y="94537"/>
                  <a:pt x="27296" y="121833"/>
                  <a:pt x="60916" y="121833"/>
                </a:cubicBezTo>
                <a:close/>
                <a:moveTo>
                  <a:pt x="53302" y="38073"/>
                </a:moveTo>
                <a:cubicBezTo>
                  <a:pt x="53302" y="33870"/>
                  <a:pt x="56714" y="30458"/>
                  <a:pt x="60916" y="30458"/>
                </a:cubicBezTo>
                <a:cubicBezTo>
                  <a:pt x="65119" y="30458"/>
                  <a:pt x="68531" y="33870"/>
                  <a:pt x="68531" y="38073"/>
                </a:cubicBezTo>
                <a:cubicBezTo>
                  <a:pt x="68531" y="42275"/>
                  <a:pt x="65119" y="45687"/>
                  <a:pt x="60916" y="45687"/>
                </a:cubicBezTo>
                <a:cubicBezTo>
                  <a:pt x="56714" y="45687"/>
                  <a:pt x="53302" y="42275"/>
                  <a:pt x="53302" y="38073"/>
                </a:cubicBezTo>
                <a:close/>
                <a:moveTo>
                  <a:pt x="51398" y="53302"/>
                </a:moveTo>
                <a:lnTo>
                  <a:pt x="62820" y="53302"/>
                </a:lnTo>
                <a:cubicBezTo>
                  <a:pt x="65985" y="53302"/>
                  <a:pt x="68531" y="55848"/>
                  <a:pt x="68531" y="59013"/>
                </a:cubicBezTo>
                <a:lnTo>
                  <a:pt x="68531" y="79953"/>
                </a:lnTo>
                <a:lnTo>
                  <a:pt x="70435" y="79953"/>
                </a:lnTo>
                <a:cubicBezTo>
                  <a:pt x="73599" y="79953"/>
                  <a:pt x="76146" y="82499"/>
                  <a:pt x="76146" y="85664"/>
                </a:cubicBezTo>
                <a:cubicBezTo>
                  <a:pt x="76146" y="88829"/>
                  <a:pt x="73599" y="91375"/>
                  <a:pt x="70435" y="91375"/>
                </a:cubicBezTo>
                <a:lnTo>
                  <a:pt x="51398" y="91375"/>
                </a:lnTo>
                <a:cubicBezTo>
                  <a:pt x="48233" y="91375"/>
                  <a:pt x="45687" y="88829"/>
                  <a:pt x="45687" y="85664"/>
                </a:cubicBezTo>
                <a:cubicBezTo>
                  <a:pt x="45687" y="82499"/>
                  <a:pt x="48233" y="79953"/>
                  <a:pt x="51398" y="79953"/>
                </a:cubicBezTo>
                <a:lnTo>
                  <a:pt x="57109" y="79953"/>
                </a:lnTo>
                <a:lnTo>
                  <a:pt x="57109" y="64724"/>
                </a:lnTo>
                <a:lnTo>
                  <a:pt x="51398" y="64724"/>
                </a:lnTo>
                <a:cubicBezTo>
                  <a:pt x="48233" y="64724"/>
                  <a:pt x="45687" y="62178"/>
                  <a:pt x="45687" y="59013"/>
                </a:cubicBezTo>
                <a:cubicBezTo>
                  <a:pt x="45687" y="55848"/>
                  <a:pt x="48233" y="53302"/>
                  <a:pt x="51398" y="53302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75" name="Text 73"/>
          <p:cNvSpPr/>
          <p:nvPr/>
        </p:nvSpPr>
        <p:spPr>
          <a:xfrm>
            <a:off x="6508660" y="6544171"/>
            <a:ext cx="525203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Données issues de l'analyse de corrélation UCI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8928" y="435767"/>
            <a:ext cx="454713" cy="454713"/>
          </a:xfrm>
          <a:custGeom>
            <a:avLst/>
            <a:gdLst/>
            <a:ahLst/>
            <a:cxnLst/>
            <a:rect l="l" t="t" r="r" b="b"/>
            <a:pathLst>
              <a:path w="454713" h="454713">
                <a:moveTo>
                  <a:pt x="113678" y="0"/>
                </a:moveTo>
                <a:lnTo>
                  <a:pt x="341035" y="0"/>
                </a:lnTo>
                <a:cubicBezTo>
                  <a:pt x="403818" y="0"/>
                  <a:pt x="454713" y="50896"/>
                  <a:pt x="454713" y="113678"/>
                </a:cubicBezTo>
                <a:lnTo>
                  <a:pt x="454713" y="341035"/>
                </a:lnTo>
                <a:cubicBezTo>
                  <a:pt x="454713" y="403818"/>
                  <a:pt x="403818" y="454713"/>
                  <a:pt x="341035" y="454713"/>
                </a:cubicBezTo>
                <a:lnTo>
                  <a:pt x="113678" y="454713"/>
                </a:lnTo>
                <a:cubicBezTo>
                  <a:pt x="50896" y="454713"/>
                  <a:pt x="0" y="403818"/>
                  <a:pt x="0" y="341035"/>
                </a:cubicBezTo>
                <a:lnTo>
                  <a:pt x="0" y="113678"/>
                </a:lnTo>
                <a:cubicBezTo>
                  <a:pt x="0" y="50938"/>
                  <a:pt x="50938" y="0"/>
                  <a:pt x="113678" y="0"/>
                </a:cubicBezTo>
                <a:close/>
              </a:path>
            </a:pathLst>
          </a:custGeom>
          <a:solidFill>
            <a:srgbClr val="4A6D7C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7869" y="568392"/>
            <a:ext cx="236830" cy="189464"/>
          </a:xfrm>
          <a:custGeom>
            <a:avLst/>
            <a:gdLst/>
            <a:ahLst/>
            <a:cxnLst/>
            <a:rect l="l" t="t" r="r" b="b"/>
            <a:pathLst>
              <a:path w="236830" h="189464">
                <a:moveTo>
                  <a:pt x="153902" y="77895"/>
                </a:moveTo>
                <a:cubicBezTo>
                  <a:pt x="158417" y="76674"/>
                  <a:pt x="163154" y="78820"/>
                  <a:pt x="165189" y="83001"/>
                </a:cubicBezTo>
                <a:lnTo>
                  <a:pt x="172072" y="96915"/>
                </a:lnTo>
                <a:cubicBezTo>
                  <a:pt x="175883" y="97433"/>
                  <a:pt x="179621" y="98469"/>
                  <a:pt x="183136" y="99913"/>
                </a:cubicBezTo>
                <a:lnTo>
                  <a:pt x="196088" y="91291"/>
                </a:lnTo>
                <a:cubicBezTo>
                  <a:pt x="199973" y="88700"/>
                  <a:pt x="205117" y="89218"/>
                  <a:pt x="208410" y="92512"/>
                </a:cubicBezTo>
                <a:lnTo>
                  <a:pt x="215515" y="99617"/>
                </a:lnTo>
                <a:cubicBezTo>
                  <a:pt x="218809" y="102910"/>
                  <a:pt x="219327" y="108091"/>
                  <a:pt x="216736" y="111939"/>
                </a:cubicBezTo>
                <a:lnTo>
                  <a:pt x="208114" y="124854"/>
                </a:lnTo>
                <a:cubicBezTo>
                  <a:pt x="208817" y="126593"/>
                  <a:pt x="209446" y="128406"/>
                  <a:pt x="209964" y="130293"/>
                </a:cubicBezTo>
                <a:cubicBezTo>
                  <a:pt x="210483" y="132181"/>
                  <a:pt x="210816" y="134031"/>
                  <a:pt x="211075" y="135918"/>
                </a:cubicBezTo>
                <a:lnTo>
                  <a:pt x="225025" y="142801"/>
                </a:lnTo>
                <a:cubicBezTo>
                  <a:pt x="229207" y="144873"/>
                  <a:pt x="231353" y="149610"/>
                  <a:pt x="230132" y="154087"/>
                </a:cubicBezTo>
                <a:lnTo>
                  <a:pt x="227542" y="163783"/>
                </a:lnTo>
                <a:cubicBezTo>
                  <a:pt x="226321" y="168260"/>
                  <a:pt x="222139" y="171295"/>
                  <a:pt x="217476" y="170999"/>
                </a:cubicBezTo>
                <a:lnTo>
                  <a:pt x="201934" y="169999"/>
                </a:lnTo>
                <a:cubicBezTo>
                  <a:pt x="199603" y="172997"/>
                  <a:pt x="196902" y="175772"/>
                  <a:pt x="193830" y="178140"/>
                </a:cubicBezTo>
                <a:lnTo>
                  <a:pt x="194830" y="193645"/>
                </a:lnTo>
                <a:cubicBezTo>
                  <a:pt x="195126" y="198308"/>
                  <a:pt x="192091" y="202527"/>
                  <a:pt x="187614" y="203711"/>
                </a:cubicBezTo>
                <a:lnTo>
                  <a:pt x="177918" y="206301"/>
                </a:lnTo>
                <a:cubicBezTo>
                  <a:pt x="173404" y="207522"/>
                  <a:pt x="168704" y="205376"/>
                  <a:pt x="166632" y="201194"/>
                </a:cubicBezTo>
                <a:lnTo>
                  <a:pt x="159749" y="187281"/>
                </a:lnTo>
                <a:cubicBezTo>
                  <a:pt x="155938" y="186763"/>
                  <a:pt x="152200" y="185726"/>
                  <a:pt x="148685" y="184283"/>
                </a:cubicBezTo>
                <a:lnTo>
                  <a:pt x="135733" y="192905"/>
                </a:lnTo>
                <a:cubicBezTo>
                  <a:pt x="131848" y="195496"/>
                  <a:pt x="126704" y="194978"/>
                  <a:pt x="123411" y="191684"/>
                </a:cubicBezTo>
                <a:lnTo>
                  <a:pt x="116306" y="184579"/>
                </a:lnTo>
                <a:cubicBezTo>
                  <a:pt x="113012" y="181286"/>
                  <a:pt x="112494" y="176142"/>
                  <a:pt x="115084" y="172257"/>
                </a:cubicBezTo>
                <a:lnTo>
                  <a:pt x="123707" y="159305"/>
                </a:lnTo>
                <a:cubicBezTo>
                  <a:pt x="123003" y="157566"/>
                  <a:pt x="122374" y="155753"/>
                  <a:pt x="121856" y="153865"/>
                </a:cubicBezTo>
                <a:cubicBezTo>
                  <a:pt x="121338" y="151978"/>
                  <a:pt x="121005" y="150091"/>
                  <a:pt x="120746" y="148241"/>
                </a:cubicBezTo>
                <a:lnTo>
                  <a:pt x="106795" y="141358"/>
                </a:lnTo>
                <a:cubicBezTo>
                  <a:pt x="102614" y="139286"/>
                  <a:pt x="100505" y="134549"/>
                  <a:pt x="101689" y="130071"/>
                </a:cubicBezTo>
                <a:lnTo>
                  <a:pt x="104279" y="120376"/>
                </a:lnTo>
                <a:cubicBezTo>
                  <a:pt x="105500" y="115899"/>
                  <a:pt x="109682" y="112864"/>
                  <a:pt x="114344" y="113160"/>
                </a:cubicBezTo>
                <a:lnTo>
                  <a:pt x="129849" y="114159"/>
                </a:lnTo>
                <a:cubicBezTo>
                  <a:pt x="132181" y="111162"/>
                  <a:pt x="134882" y="108387"/>
                  <a:pt x="137953" y="106018"/>
                </a:cubicBezTo>
                <a:lnTo>
                  <a:pt x="136954" y="90550"/>
                </a:lnTo>
                <a:cubicBezTo>
                  <a:pt x="136658" y="85888"/>
                  <a:pt x="139693" y="81669"/>
                  <a:pt x="144170" y="80485"/>
                </a:cubicBezTo>
                <a:lnTo>
                  <a:pt x="153865" y="77895"/>
                </a:lnTo>
                <a:close/>
                <a:moveTo>
                  <a:pt x="165929" y="125816"/>
                </a:moveTo>
                <a:cubicBezTo>
                  <a:pt x="156943" y="125826"/>
                  <a:pt x="149655" y="133130"/>
                  <a:pt x="149665" y="142116"/>
                </a:cubicBezTo>
                <a:cubicBezTo>
                  <a:pt x="149676" y="151103"/>
                  <a:pt x="156980" y="158390"/>
                  <a:pt x="165966" y="158380"/>
                </a:cubicBezTo>
                <a:cubicBezTo>
                  <a:pt x="174952" y="158370"/>
                  <a:pt x="182240" y="151066"/>
                  <a:pt x="182229" y="142079"/>
                </a:cubicBezTo>
                <a:cubicBezTo>
                  <a:pt x="182219" y="133093"/>
                  <a:pt x="174915" y="125806"/>
                  <a:pt x="165929" y="125816"/>
                </a:cubicBezTo>
                <a:close/>
                <a:moveTo>
                  <a:pt x="83223" y="-16837"/>
                </a:moveTo>
                <a:lnTo>
                  <a:pt x="92919" y="-14247"/>
                </a:lnTo>
                <a:cubicBezTo>
                  <a:pt x="97396" y="-13026"/>
                  <a:pt x="100431" y="-8807"/>
                  <a:pt x="100135" y="-4182"/>
                </a:cubicBezTo>
                <a:lnTo>
                  <a:pt x="99135" y="11286"/>
                </a:lnTo>
                <a:cubicBezTo>
                  <a:pt x="102207" y="13655"/>
                  <a:pt x="104908" y="16393"/>
                  <a:pt x="107240" y="19427"/>
                </a:cubicBezTo>
                <a:lnTo>
                  <a:pt x="122781" y="18428"/>
                </a:lnTo>
                <a:cubicBezTo>
                  <a:pt x="127407" y="18132"/>
                  <a:pt x="131626" y="21167"/>
                  <a:pt x="132847" y="25644"/>
                </a:cubicBezTo>
                <a:lnTo>
                  <a:pt x="135437" y="35339"/>
                </a:lnTo>
                <a:cubicBezTo>
                  <a:pt x="136621" y="39817"/>
                  <a:pt x="134512" y="44554"/>
                  <a:pt x="130330" y="46626"/>
                </a:cubicBezTo>
                <a:lnTo>
                  <a:pt x="116380" y="53509"/>
                </a:lnTo>
                <a:cubicBezTo>
                  <a:pt x="116121" y="55396"/>
                  <a:pt x="115751" y="57283"/>
                  <a:pt x="115270" y="59133"/>
                </a:cubicBezTo>
                <a:cubicBezTo>
                  <a:pt x="114788" y="60984"/>
                  <a:pt x="114122" y="62834"/>
                  <a:pt x="113419" y="64573"/>
                </a:cubicBezTo>
                <a:lnTo>
                  <a:pt x="122041" y="77525"/>
                </a:lnTo>
                <a:cubicBezTo>
                  <a:pt x="124632" y="81410"/>
                  <a:pt x="124114" y="86554"/>
                  <a:pt x="120820" y="89847"/>
                </a:cubicBezTo>
                <a:lnTo>
                  <a:pt x="113715" y="96952"/>
                </a:lnTo>
                <a:cubicBezTo>
                  <a:pt x="110422" y="100246"/>
                  <a:pt x="105278" y="100764"/>
                  <a:pt x="101393" y="98173"/>
                </a:cubicBezTo>
                <a:lnTo>
                  <a:pt x="88441" y="89551"/>
                </a:lnTo>
                <a:cubicBezTo>
                  <a:pt x="84926" y="90994"/>
                  <a:pt x="81188" y="92031"/>
                  <a:pt x="77377" y="92549"/>
                </a:cubicBezTo>
                <a:lnTo>
                  <a:pt x="70494" y="106462"/>
                </a:lnTo>
                <a:cubicBezTo>
                  <a:pt x="68422" y="110644"/>
                  <a:pt x="63685" y="112753"/>
                  <a:pt x="59207" y="111569"/>
                </a:cubicBezTo>
                <a:lnTo>
                  <a:pt x="49512" y="108979"/>
                </a:lnTo>
                <a:cubicBezTo>
                  <a:pt x="44998" y="107758"/>
                  <a:pt x="42000" y="103539"/>
                  <a:pt x="42296" y="98913"/>
                </a:cubicBezTo>
                <a:lnTo>
                  <a:pt x="43295" y="83409"/>
                </a:lnTo>
                <a:cubicBezTo>
                  <a:pt x="40224" y="81040"/>
                  <a:pt x="37523" y="78302"/>
                  <a:pt x="35191" y="75267"/>
                </a:cubicBezTo>
                <a:lnTo>
                  <a:pt x="19649" y="76267"/>
                </a:lnTo>
                <a:cubicBezTo>
                  <a:pt x="15024" y="76563"/>
                  <a:pt x="10805" y="73528"/>
                  <a:pt x="9584" y="69051"/>
                </a:cubicBezTo>
                <a:lnTo>
                  <a:pt x="6994" y="59355"/>
                </a:lnTo>
                <a:cubicBezTo>
                  <a:pt x="5810" y="54878"/>
                  <a:pt x="7919" y="50141"/>
                  <a:pt x="12101" y="48069"/>
                </a:cubicBezTo>
                <a:lnTo>
                  <a:pt x="26051" y="41186"/>
                </a:lnTo>
                <a:cubicBezTo>
                  <a:pt x="26310" y="39299"/>
                  <a:pt x="26680" y="37449"/>
                  <a:pt x="27161" y="35561"/>
                </a:cubicBezTo>
                <a:cubicBezTo>
                  <a:pt x="27679" y="33674"/>
                  <a:pt x="28272" y="31861"/>
                  <a:pt x="29012" y="30122"/>
                </a:cubicBezTo>
                <a:lnTo>
                  <a:pt x="20390" y="17207"/>
                </a:lnTo>
                <a:cubicBezTo>
                  <a:pt x="17799" y="13322"/>
                  <a:pt x="18317" y="8178"/>
                  <a:pt x="21611" y="4885"/>
                </a:cubicBezTo>
                <a:lnTo>
                  <a:pt x="28716" y="-2220"/>
                </a:lnTo>
                <a:cubicBezTo>
                  <a:pt x="32009" y="-5514"/>
                  <a:pt x="37153" y="-6032"/>
                  <a:pt x="41038" y="-3441"/>
                </a:cubicBezTo>
                <a:lnTo>
                  <a:pt x="53990" y="5181"/>
                </a:lnTo>
                <a:cubicBezTo>
                  <a:pt x="57505" y="3737"/>
                  <a:pt x="61243" y="2701"/>
                  <a:pt x="65054" y="2183"/>
                </a:cubicBezTo>
                <a:lnTo>
                  <a:pt x="71937" y="-11730"/>
                </a:lnTo>
                <a:cubicBezTo>
                  <a:pt x="74009" y="-15912"/>
                  <a:pt x="78709" y="-18021"/>
                  <a:pt x="83223" y="-16837"/>
                </a:cubicBezTo>
                <a:close/>
                <a:moveTo>
                  <a:pt x="71197" y="31084"/>
                </a:moveTo>
                <a:cubicBezTo>
                  <a:pt x="62211" y="31084"/>
                  <a:pt x="54915" y="38380"/>
                  <a:pt x="54915" y="47366"/>
                </a:cubicBezTo>
                <a:cubicBezTo>
                  <a:pt x="54915" y="56352"/>
                  <a:pt x="62211" y="63648"/>
                  <a:pt x="71197" y="63648"/>
                </a:cubicBezTo>
                <a:cubicBezTo>
                  <a:pt x="80183" y="63648"/>
                  <a:pt x="87479" y="56352"/>
                  <a:pt x="87479" y="47366"/>
                </a:cubicBezTo>
                <a:cubicBezTo>
                  <a:pt x="87479" y="38380"/>
                  <a:pt x="80183" y="31084"/>
                  <a:pt x="71197" y="31084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4" name="Text 2"/>
          <p:cNvSpPr/>
          <p:nvPr/>
        </p:nvSpPr>
        <p:spPr>
          <a:xfrm>
            <a:off x="947319" y="378928"/>
            <a:ext cx="370401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spc="52" kern="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Préparation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7319" y="568392"/>
            <a:ext cx="3808224" cy="37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5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Prétraitement &amp; Ingénierie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8928" y="1174676"/>
            <a:ext cx="5646023" cy="5683916"/>
          </a:xfrm>
          <a:custGeom>
            <a:avLst/>
            <a:gdLst/>
            <a:ahLst/>
            <a:cxnLst/>
            <a:rect l="l" t="t" r="r" b="b"/>
            <a:pathLst>
              <a:path w="5646023" h="5683916">
                <a:moveTo>
                  <a:pt x="113654" y="0"/>
                </a:moveTo>
                <a:lnTo>
                  <a:pt x="5532369" y="0"/>
                </a:lnTo>
                <a:cubicBezTo>
                  <a:pt x="5595138" y="0"/>
                  <a:pt x="5646023" y="50885"/>
                  <a:pt x="5646023" y="113654"/>
                </a:cubicBezTo>
                <a:lnTo>
                  <a:pt x="5646023" y="5570262"/>
                </a:lnTo>
                <a:cubicBezTo>
                  <a:pt x="5646023" y="5633031"/>
                  <a:pt x="5595138" y="5683916"/>
                  <a:pt x="5532369" y="5683916"/>
                </a:cubicBezTo>
                <a:lnTo>
                  <a:pt x="113654" y="5683916"/>
                </a:lnTo>
                <a:cubicBezTo>
                  <a:pt x="50885" y="5683916"/>
                  <a:pt x="0" y="5633031"/>
                  <a:pt x="0" y="5570262"/>
                </a:cubicBezTo>
                <a:lnTo>
                  <a:pt x="0" y="113654"/>
                </a:lnTo>
                <a:cubicBezTo>
                  <a:pt x="0" y="50885"/>
                  <a:pt x="50885" y="0"/>
                  <a:pt x="11365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6839" dist="37893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499" y="1326247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6415" y="1430452"/>
            <a:ext cx="191832" cy="170517"/>
          </a:xfrm>
          <a:custGeom>
            <a:avLst/>
            <a:gdLst/>
            <a:ahLst/>
            <a:cxnLst/>
            <a:rect l="l" t="t" r="r" b="b"/>
            <a:pathLst>
              <a:path w="191832" h="170517">
                <a:moveTo>
                  <a:pt x="169652" y="32838"/>
                </a:moveTo>
                <a:cubicBezTo>
                  <a:pt x="172183" y="30307"/>
                  <a:pt x="176412" y="30940"/>
                  <a:pt x="177678" y="34270"/>
                </a:cubicBezTo>
                <a:cubicBezTo>
                  <a:pt x="179943" y="40165"/>
                  <a:pt x="181175" y="46593"/>
                  <a:pt x="181175" y="53287"/>
                </a:cubicBezTo>
                <a:cubicBezTo>
                  <a:pt x="181175" y="82728"/>
                  <a:pt x="157329" y="106573"/>
                  <a:pt x="127888" y="106573"/>
                </a:cubicBezTo>
                <a:cubicBezTo>
                  <a:pt x="122060" y="106573"/>
                  <a:pt x="116431" y="105641"/>
                  <a:pt x="111169" y="103909"/>
                </a:cubicBezTo>
                <a:lnTo>
                  <a:pt x="48924" y="166155"/>
                </a:lnTo>
                <a:cubicBezTo>
                  <a:pt x="39565" y="175513"/>
                  <a:pt x="24379" y="175513"/>
                  <a:pt x="15020" y="166155"/>
                </a:cubicBezTo>
                <a:cubicBezTo>
                  <a:pt x="5662" y="156796"/>
                  <a:pt x="5662" y="141609"/>
                  <a:pt x="15020" y="132251"/>
                </a:cubicBezTo>
                <a:lnTo>
                  <a:pt x="77266" y="70005"/>
                </a:lnTo>
                <a:cubicBezTo>
                  <a:pt x="75534" y="64743"/>
                  <a:pt x="74601" y="59148"/>
                  <a:pt x="74601" y="53287"/>
                </a:cubicBezTo>
                <a:cubicBezTo>
                  <a:pt x="74601" y="23846"/>
                  <a:pt x="98447" y="0"/>
                  <a:pt x="127888" y="0"/>
                </a:cubicBezTo>
                <a:cubicBezTo>
                  <a:pt x="134582" y="0"/>
                  <a:pt x="141010" y="1232"/>
                  <a:pt x="146905" y="3497"/>
                </a:cubicBezTo>
                <a:cubicBezTo>
                  <a:pt x="150235" y="4763"/>
                  <a:pt x="150835" y="8992"/>
                  <a:pt x="148337" y="11523"/>
                </a:cubicBezTo>
                <a:lnTo>
                  <a:pt x="118796" y="41064"/>
                </a:lnTo>
                <a:cubicBezTo>
                  <a:pt x="117797" y="42063"/>
                  <a:pt x="117231" y="43429"/>
                  <a:pt x="117231" y="44827"/>
                </a:cubicBezTo>
                <a:lnTo>
                  <a:pt x="117231" y="58615"/>
                </a:lnTo>
                <a:cubicBezTo>
                  <a:pt x="117231" y="61546"/>
                  <a:pt x="119629" y="63944"/>
                  <a:pt x="122559" y="63944"/>
                </a:cubicBezTo>
                <a:lnTo>
                  <a:pt x="136347" y="63944"/>
                </a:lnTo>
                <a:cubicBezTo>
                  <a:pt x="137746" y="63944"/>
                  <a:pt x="139112" y="63378"/>
                  <a:pt x="140111" y="62379"/>
                </a:cubicBezTo>
                <a:lnTo>
                  <a:pt x="169652" y="32838"/>
                </a:ln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9" name="Text 7"/>
          <p:cNvSpPr/>
          <p:nvPr/>
        </p:nvSpPr>
        <p:spPr>
          <a:xfrm>
            <a:off x="1023105" y="1383086"/>
            <a:ext cx="2216727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Transformations Appliquées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0499" y="1818853"/>
            <a:ext cx="5342881" cy="454713"/>
          </a:xfrm>
          <a:custGeom>
            <a:avLst/>
            <a:gdLst/>
            <a:ahLst/>
            <a:cxnLst/>
            <a:rect l="l" t="t" r="r" b="b"/>
            <a:pathLst>
              <a:path w="5342881" h="454713">
                <a:moveTo>
                  <a:pt x="75787" y="0"/>
                </a:moveTo>
                <a:lnTo>
                  <a:pt x="5267094" y="0"/>
                </a:lnTo>
                <a:cubicBezTo>
                  <a:pt x="5308950" y="0"/>
                  <a:pt x="5342881" y="33931"/>
                  <a:pt x="5342881" y="75787"/>
                </a:cubicBezTo>
                <a:lnTo>
                  <a:pt x="5342881" y="378926"/>
                </a:lnTo>
                <a:cubicBezTo>
                  <a:pt x="5342881" y="420782"/>
                  <a:pt x="5308950" y="454713"/>
                  <a:pt x="5267094" y="454713"/>
                </a:cubicBezTo>
                <a:lnTo>
                  <a:pt x="75787" y="454713"/>
                </a:lnTo>
                <a:cubicBezTo>
                  <a:pt x="33931" y="454713"/>
                  <a:pt x="0" y="420782"/>
                  <a:pt x="0" y="378926"/>
                </a:cubicBezTo>
                <a:lnTo>
                  <a:pt x="0" y="75787"/>
                </a:lnTo>
                <a:cubicBezTo>
                  <a:pt x="0" y="33959"/>
                  <a:pt x="33959" y="0"/>
                  <a:pt x="7578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606284" y="1894639"/>
            <a:ext cx="303142" cy="303142"/>
          </a:xfrm>
          <a:custGeom>
            <a:avLst/>
            <a:gdLst/>
            <a:ahLst/>
            <a:cxnLst/>
            <a:rect l="l" t="t" r="r" b="b"/>
            <a:pathLst>
              <a:path w="303142" h="303142">
                <a:moveTo>
                  <a:pt x="75786" y="0"/>
                </a:moveTo>
                <a:lnTo>
                  <a:pt x="227357" y="0"/>
                </a:lnTo>
                <a:cubicBezTo>
                  <a:pt x="269212" y="0"/>
                  <a:pt x="303142" y="33930"/>
                  <a:pt x="303142" y="75786"/>
                </a:cubicBezTo>
                <a:lnTo>
                  <a:pt x="303142" y="227357"/>
                </a:lnTo>
                <a:cubicBezTo>
                  <a:pt x="303142" y="269212"/>
                  <a:pt x="269212" y="303142"/>
                  <a:pt x="227357" y="303142"/>
                </a:cubicBezTo>
                <a:lnTo>
                  <a:pt x="75786" y="303142"/>
                </a:lnTo>
                <a:cubicBezTo>
                  <a:pt x="33930" y="303142"/>
                  <a:pt x="0" y="269212"/>
                  <a:pt x="0" y="227357"/>
                </a:cubicBezTo>
                <a:lnTo>
                  <a:pt x="0" y="75786"/>
                </a:lnTo>
                <a:cubicBezTo>
                  <a:pt x="0" y="33930"/>
                  <a:pt x="33930" y="0"/>
                  <a:pt x="75786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85622" y="1979897"/>
            <a:ext cx="149203" cy="132625"/>
          </a:xfrm>
          <a:custGeom>
            <a:avLst/>
            <a:gdLst/>
            <a:ahLst/>
            <a:cxnLst/>
            <a:rect l="l" t="t" r="r" b="b"/>
            <a:pathLst>
              <a:path w="149203" h="132625">
                <a:moveTo>
                  <a:pt x="80222" y="18547"/>
                </a:moveTo>
                <a:lnTo>
                  <a:pt x="63541" y="35228"/>
                </a:lnTo>
                <a:lnTo>
                  <a:pt x="72192" y="43880"/>
                </a:lnTo>
                <a:cubicBezTo>
                  <a:pt x="75430" y="47118"/>
                  <a:pt x="75430" y="52376"/>
                  <a:pt x="72192" y="55614"/>
                </a:cubicBezTo>
                <a:cubicBezTo>
                  <a:pt x="68954" y="58852"/>
                  <a:pt x="63696" y="58852"/>
                  <a:pt x="60458" y="55614"/>
                </a:cubicBezTo>
                <a:lnTo>
                  <a:pt x="51807" y="46963"/>
                </a:lnTo>
                <a:lnTo>
                  <a:pt x="26836" y="71933"/>
                </a:lnTo>
                <a:cubicBezTo>
                  <a:pt x="26085" y="72685"/>
                  <a:pt x="25515" y="73617"/>
                  <a:pt x="25204" y="74601"/>
                </a:cubicBezTo>
                <a:lnTo>
                  <a:pt x="108483" y="74601"/>
                </a:lnTo>
                <a:lnTo>
                  <a:pt x="122393" y="60691"/>
                </a:lnTo>
                <a:cubicBezTo>
                  <a:pt x="123662" y="59422"/>
                  <a:pt x="124362" y="57712"/>
                  <a:pt x="124362" y="55951"/>
                </a:cubicBezTo>
                <a:cubicBezTo>
                  <a:pt x="124362" y="54190"/>
                  <a:pt x="123662" y="52454"/>
                  <a:pt x="122393" y="51211"/>
                </a:cubicBezTo>
                <a:lnTo>
                  <a:pt x="89703" y="18547"/>
                </a:lnTo>
                <a:cubicBezTo>
                  <a:pt x="88460" y="17277"/>
                  <a:pt x="86750" y="16578"/>
                  <a:pt x="84963" y="16578"/>
                </a:cubicBezTo>
                <a:cubicBezTo>
                  <a:pt x="83175" y="16578"/>
                  <a:pt x="81466" y="17277"/>
                  <a:pt x="80222" y="18547"/>
                </a:cubicBezTo>
                <a:close/>
                <a:moveTo>
                  <a:pt x="15102" y="60199"/>
                </a:moveTo>
                <a:lnTo>
                  <a:pt x="40072" y="35228"/>
                </a:lnTo>
                <a:lnTo>
                  <a:pt x="27276" y="22432"/>
                </a:lnTo>
                <a:cubicBezTo>
                  <a:pt x="24038" y="19194"/>
                  <a:pt x="24038" y="13936"/>
                  <a:pt x="27276" y="10698"/>
                </a:cubicBezTo>
                <a:cubicBezTo>
                  <a:pt x="30514" y="7460"/>
                  <a:pt x="35772" y="7460"/>
                  <a:pt x="39010" y="10698"/>
                </a:cubicBezTo>
                <a:lnTo>
                  <a:pt x="51807" y="23494"/>
                </a:lnTo>
                <a:lnTo>
                  <a:pt x="68488" y="6813"/>
                </a:lnTo>
                <a:cubicBezTo>
                  <a:pt x="72866" y="2461"/>
                  <a:pt x="78772" y="0"/>
                  <a:pt x="84963" y="0"/>
                </a:cubicBezTo>
                <a:cubicBezTo>
                  <a:pt x="91154" y="0"/>
                  <a:pt x="97060" y="2461"/>
                  <a:pt x="101437" y="6813"/>
                </a:cubicBezTo>
                <a:lnTo>
                  <a:pt x="134101" y="39477"/>
                </a:lnTo>
                <a:cubicBezTo>
                  <a:pt x="138453" y="43854"/>
                  <a:pt x="140914" y="49760"/>
                  <a:pt x="140914" y="55951"/>
                </a:cubicBezTo>
                <a:cubicBezTo>
                  <a:pt x="140914" y="62142"/>
                  <a:pt x="138453" y="68048"/>
                  <a:pt x="134101" y="72426"/>
                </a:cubicBezTo>
                <a:lnTo>
                  <a:pt x="80715" y="125812"/>
                </a:lnTo>
                <a:cubicBezTo>
                  <a:pt x="76337" y="130164"/>
                  <a:pt x="70431" y="132625"/>
                  <a:pt x="64240" y="132625"/>
                </a:cubicBezTo>
                <a:cubicBezTo>
                  <a:pt x="58049" y="132625"/>
                  <a:pt x="52143" y="130164"/>
                  <a:pt x="47766" y="125812"/>
                </a:cubicBezTo>
                <a:lnTo>
                  <a:pt x="15102" y="93148"/>
                </a:lnTo>
                <a:cubicBezTo>
                  <a:pt x="10750" y="88770"/>
                  <a:pt x="8289" y="82865"/>
                  <a:pt x="8289" y="76674"/>
                </a:cubicBezTo>
                <a:cubicBezTo>
                  <a:pt x="8289" y="70483"/>
                  <a:pt x="10750" y="64577"/>
                  <a:pt x="15102" y="60199"/>
                </a:cubicBezTo>
                <a:close/>
                <a:moveTo>
                  <a:pt x="132625" y="140914"/>
                </a:moveTo>
                <a:cubicBezTo>
                  <a:pt x="123481" y="140914"/>
                  <a:pt x="116047" y="133480"/>
                  <a:pt x="116047" y="124336"/>
                </a:cubicBezTo>
                <a:cubicBezTo>
                  <a:pt x="116047" y="117808"/>
                  <a:pt x="124491" y="103717"/>
                  <a:pt x="129309" y="96179"/>
                </a:cubicBezTo>
                <a:cubicBezTo>
                  <a:pt x="130863" y="93744"/>
                  <a:pt x="134360" y="93744"/>
                  <a:pt x="135914" y="96179"/>
                </a:cubicBezTo>
                <a:cubicBezTo>
                  <a:pt x="140758" y="103717"/>
                  <a:pt x="149177" y="117808"/>
                  <a:pt x="149177" y="124336"/>
                </a:cubicBezTo>
                <a:cubicBezTo>
                  <a:pt x="149177" y="133480"/>
                  <a:pt x="141743" y="140914"/>
                  <a:pt x="132599" y="140914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13" name="Text 11"/>
          <p:cNvSpPr/>
          <p:nvPr/>
        </p:nvSpPr>
        <p:spPr>
          <a:xfrm>
            <a:off x="1023105" y="1951478"/>
            <a:ext cx="701016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Imputation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89520" y="1932531"/>
            <a:ext cx="1023105" cy="227357"/>
          </a:xfrm>
          <a:custGeom>
            <a:avLst/>
            <a:gdLst/>
            <a:ahLst/>
            <a:cxnLst/>
            <a:rect l="l" t="t" r="r" b="b"/>
            <a:pathLst>
              <a:path w="1023105" h="227357">
                <a:moveTo>
                  <a:pt x="37894" y="0"/>
                </a:moveTo>
                <a:lnTo>
                  <a:pt x="985211" y="0"/>
                </a:lnTo>
                <a:cubicBezTo>
                  <a:pt x="1006139" y="0"/>
                  <a:pt x="1023105" y="16966"/>
                  <a:pt x="1023105" y="37894"/>
                </a:cubicBezTo>
                <a:lnTo>
                  <a:pt x="1023105" y="189463"/>
                </a:lnTo>
                <a:cubicBezTo>
                  <a:pt x="1023105" y="210391"/>
                  <a:pt x="1006139" y="227357"/>
                  <a:pt x="985211" y="227357"/>
                </a:cubicBezTo>
                <a:lnTo>
                  <a:pt x="37894" y="227357"/>
                </a:lnTo>
                <a:cubicBezTo>
                  <a:pt x="16966" y="227357"/>
                  <a:pt x="0" y="210391"/>
                  <a:pt x="0" y="189463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4189520" y="1932531"/>
            <a:ext cx="1079944" cy="227357"/>
          </a:xfrm>
          <a:prstGeom prst="rect">
            <a:avLst/>
          </a:prstGeom>
          <a:noFill/>
          <a:ln/>
        </p:spPr>
        <p:txBody>
          <a:bodyPr wrap="square" lIns="75786" tIns="37893" rIns="75786" bIns="37893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UCI, Framingham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84858" y="1951478"/>
            <a:ext cx="57786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Médiane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499" y="2349352"/>
            <a:ext cx="5342881" cy="454713"/>
          </a:xfrm>
          <a:custGeom>
            <a:avLst/>
            <a:gdLst/>
            <a:ahLst/>
            <a:cxnLst/>
            <a:rect l="l" t="t" r="r" b="b"/>
            <a:pathLst>
              <a:path w="5342881" h="454713">
                <a:moveTo>
                  <a:pt x="75787" y="0"/>
                </a:moveTo>
                <a:lnTo>
                  <a:pt x="5267094" y="0"/>
                </a:lnTo>
                <a:cubicBezTo>
                  <a:pt x="5308950" y="0"/>
                  <a:pt x="5342881" y="33931"/>
                  <a:pt x="5342881" y="75787"/>
                </a:cubicBezTo>
                <a:lnTo>
                  <a:pt x="5342881" y="378926"/>
                </a:lnTo>
                <a:cubicBezTo>
                  <a:pt x="5342881" y="420782"/>
                  <a:pt x="5308950" y="454713"/>
                  <a:pt x="5267094" y="454713"/>
                </a:cubicBezTo>
                <a:lnTo>
                  <a:pt x="75787" y="454713"/>
                </a:lnTo>
                <a:cubicBezTo>
                  <a:pt x="33931" y="454713"/>
                  <a:pt x="0" y="420782"/>
                  <a:pt x="0" y="378926"/>
                </a:cubicBezTo>
                <a:lnTo>
                  <a:pt x="0" y="75787"/>
                </a:lnTo>
                <a:cubicBezTo>
                  <a:pt x="0" y="33959"/>
                  <a:pt x="33959" y="0"/>
                  <a:pt x="7578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06284" y="2425138"/>
            <a:ext cx="303142" cy="303142"/>
          </a:xfrm>
          <a:custGeom>
            <a:avLst/>
            <a:gdLst/>
            <a:ahLst/>
            <a:cxnLst/>
            <a:rect l="l" t="t" r="r" b="b"/>
            <a:pathLst>
              <a:path w="303142" h="303142">
                <a:moveTo>
                  <a:pt x="75786" y="0"/>
                </a:moveTo>
                <a:lnTo>
                  <a:pt x="227357" y="0"/>
                </a:lnTo>
                <a:cubicBezTo>
                  <a:pt x="269212" y="0"/>
                  <a:pt x="303142" y="33930"/>
                  <a:pt x="303142" y="75786"/>
                </a:cubicBezTo>
                <a:lnTo>
                  <a:pt x="303142" y="227357"/>
                </a:lnTo>
                <a:cubicBezTo>
                  <a:pt x="303142" y="269212"/>
                  <a:pt x="269212" y="303142"/>
                  <a:pt x="227357" y="303142"/>
                </a:cubicBezTo>
                <a:lnTo>
                  <a:pt x="75786" y="303142"/>
                </a:lnTo>
                <a:cubicBezTo>
                  <a:pt x="33930" y="303142"/>
                  <a:pt x="0" y="269212"/>
                  <a:pt x="0" y="227357"/>
                </a:cubicBezTo>
                <a:lnTo>
                  <a:pt x="0" y="75786"/>
                </a:lnTo>
                <a:cubicBezTo>
                  <a:pt x="0" y="33930"/>
                  <a:pt x="33930" y="0"/>
                  <a:pt x="75786" y="0"/>
                </a:cubicBezTo>
                <a:close/>
              </a:path>
            </a:pathLst>
          </a:custGeom>
          <a:solidFill>
            <a:srgbClr val="1A3A4A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85622" y="2510396"/>
            <a:ext cx="149203" cy="132625"/>
          </a:xfrm>
          <a:custGeom>
            <a:avLst/>
            <a:gdLst/>
            <a:ahLst/>
            <a:cxnLst/>
            <a:rect l="l" t="t" r="r" b="b"/>
            <a:pathLst>
              <a:path w="149203" h="132625">
                <a:moveTo>
                  <a:pt x="49734" y="16578"/>
                </a:moveTo>
                <a:cubicBezTo>
                  <a:pt x="22277" y="16578"/>
                  <a:pt x="0" y="38855"/>
                  <a:pt x="0" y="66312"/>
                </a:cubicBezTo>
                <a:cubicBezTo>
                  <a:pt x="0" y="93770"/>
                  <a:pt x="22277" y="116047"/>
                  <a:pt x="49734" y="116047"/>
                </a:cubicBezTo>
                <a:lnTo>
                  <a:pt x="99469" y="116047"/>
                </a:lnTo>
                <a:cubicBezTo>
                  <a:pt x="126926" y="116047"/>
                  <a:pt x="149203" y="93770"/>
                  <a:pt x="149203" y="66312"/>
                </a:cubicBezTo>
                <a:cubicBezTo>
                  <a:pt x="149203" y="38855"/>
                  <a:pt x="126926" y="16578"/>
                  <a:pt x="99469" y="16578"/>
                </a:cubicBezTo>
                <a:lnTo>
                  <a:pt x="49734" y="16578"/>
                </a:lnTo>
                <a:close/>
                <a:moveTo>
                  <a:pt x="99469" y="41445"/>
                </a:moveTo>
                <a:cubicBezTo>
                  <a:pt x="113193" y="41445"/>
                  <a:pt x="124336" y="52588"/>
                  <a:pt x="124336" y="66312"/>
                </a:cubicBezTo>
                <a:cubicBezTo>
                  <a:pt x="124336" y="80037"/>
                  <a:pt x="113193" y="91179"/>
                  <a:pt x="99469" y="91179"/>
                </a:cubicBezTo>
                <a:cubicBezTo>
                  <a:pt x="85744" y="91179"/>
                  <a:pt x="74601" y="80037"/>
                  <a:pt x="74601" y="66312"/>
                </a:cubicBezTo>
                <a:cubicBezTo>
                  <a:pt x="74601" y="52588"/>
                  <a:pt x="85744" y="41445"/>
                  <a:pt x="99469" y="41445"/>
                </a:cubicBez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23105" y="2481977"/>
            <a:ext cx="1060998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Binarisation cible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6367" y="2463030"/>
            <a:ext cx="341035" cy="227357"/>
          </a:xfrm>
          <a:custGeom>
            <a:avLst/>
            <a:gdLst/>
            <a:ahLst/>
            <a:cxnLst/>
            <a:rect l="l" t="t" r="r" b="b"/>
            <a:pathLst>
              <a:path w="341035" h="227357">
                <a:moveTo>
                  <a:pt x="37894" y="0"/>
                </a:moveTo>
                <a:lnTo>
                  <a:pt x="303141" y="0"/>
                </a:lnTo>
                <a:cubicBezTo>
                  <a:pt x="324055" y="0"/>
                  <a:pt x="341035" y="16980"/>
                  <a:pt x="341035" y="37894"/>
                </a:cubicBezTo>
                <a:lnTo>
                  <a:pt x="341035" y="189463"/>
                </a:lnTo>
                <a:cubicBezTo>
                  <a:pt x="341035" y="210377"/>
                  <a:pt x="324055" y="227357"/>
                  <a:pt x="303141" y="227357"/>
                </a:cubicBezTo>
                <a:lnTo>
                  <a:pt x="37894" y="227357"/>
                </a:lnTo>
                <a:cubicBezTo>
                  <a:pt x="16966" y="227357"/>
                  <a:pt x="0" y="210391"/>
                  <a:pt x="0" y="189463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6367" y="2463030"/>
            <a:ext cx="397874" cy="227357"/>
          </a:xfrm>
          <a:prstGeom prst="rect">
            <a:avLst/>
          </a:prstGeom>
          <a:noFill/>
          <a:ln/>
        </p:spPr>
        <p:txBody>
          <a:bodyPr wrap="square" lIns="75786" tIns="37893" rIns="75786" bIns="37893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92447" y="2481977"/>
            <a:ext cx="871534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&gt; 0 → 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0499" y="2879851"/>
            <a:ext cx="5342881" cy="454713"/>
          </a:xfrm>
          <a:custGeom>
            <a:avLst/>
            <a:gdLst/>
            <a:ahLst/>
            <a:cxnLst/>
            <a:rect l="l" t="t" r="r" b="b"/>
            <a:pathLst>
              <a:path w="5342881" h="454713">
                <a:moveTo>
                  <a:pt x="75787" y="0"/>
                </a:moveTo>
                <a:lnTo>
                  <a:pt x="5267094" y="0"/>
                </a:lnTo>
                <a:cubicBezTo>
                  <a:pt x="5308950" y="0"/>
                  <a:pt x="5342881" y="33931"/>
                  <a:pt x="5342881" y="75787"/>
                </a:cubicBezTo>
                <a:lnTo>
                  <a:pt x="5342881" y="378926"/>
                </a:lnTo>
                <a:cubicBezTo>
                  <a:pt x="5342881" y="420782"/>
                  <a:pt x="5308950" y="454713"/>
                  <a:pt x="5267094" y="454713"/>
                </a:cubicBezTo>
                <a:lnTo>
                  <a:pt x="75787" y="454713"/>
                </a:lnTo>
                <a:cubicBezTo>
                  <a:pt x="33931" y="454713"/>
                  <a:pt x="0" y="420782"/>
                  <a:pt x="0" y="378926"/>
                </a:cubicBezTo>
                <a:lnTo>
                  <a:pt x="0" y="75787"/>
                </a:lnTo>
                <a:cubicBezTo>
                  <a:pt x="0" y="33959"/>
                  <a:pt x="33959" y="0"/>
                  <a:pt x="7578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06284" y="2955636"/>
            <a:ext cx="303142" cy="303142"/>
          </a:xfrm>
          <a:custGeom>
            <a:avLst/>
            <a:gdLst/>
            <a:ahLst/>
            <a:cxnLst/>
            <a:rect l="l" t="t" r="r" b="b"/>
            <a:pathLst>
              <a:path w="303142" h="303142">
                <a:moveTo>
                  <a:pt x="75786" y="0"/>
                </a:moveTo>
                <a:lnTo>
                  <a:pt x="227357" y="0"/>
                </a:lnTo>
                <a:cubicBezTo>
                  <a:pt x="269212" y="0"/>
                  <a:pt x="303142" y="33930"/>
                  <a:pt x="303142" y="75786"/>
                </a:cubicBezTo>
                <a:lnTo>
                  <a:pt x="303142" y="227357"/>
                </a:lnTo>
                <a:cubicBezTo>
                  <a:pt x="303142" y="269212"/>
                  <a:pt x="269212" y="303142"/>
                  <a:pt x="227357" y="303142"/>
                </a:cubicBezTo>
                <a:lnTo>
                  <a:pt x="75786" y="303142"/>
                </a:lnTo>
                <a:cubicBezTo>
                  <a:pt x="33930" y="303142"/>
                  <a:pt x="0" y="269212"/>
                  <a:pt x="0" y="227357"/>
                </a:cubicBezTo>
                <a:lnTo>
                  <a:pt x="0" y="75786"/>
                </a:lnTo>
                <a:cubicBezTo>
                  <a:pt x="0" y="33930"/>
                  <a:pt x="33930" y="0"/>
                  <a:pt x="75786" y="0"/>
                </a:cubicBezTo>
                <a:close/>
              </a:path>
            </a:pathLst>
          </a:custGeom>
          <a:solidFill>
            <a:srgbClr val="4A6D7C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02200" y="3040895"/>
            <a:ext cx="116047" cy="132625"/>
          </a:xfrm>
          <a:custGeom>
            <a:avLst/>
            <a:gdLst/>
            <a:ahLst/>
            <a:cxnLst/>
            <a:rect l="l" t="t" r="r" b="b"/>
            <a:pathLst>
              <a:path w="116047" h="132625">
                <a:moveTo>
                  <a:pt x="33156" y="0"/>
                </a:moveTo>
                <a:cubicBezTo>
                  <a:pt x="28571" y="0"/>
                  <a:pt x="24867" y="3704"/>
                  <a:pt x="24867" y="8289"/>
                </a:cubicBezTo>
                <a:lnTo>
                  <a:pt x="24867" y="16578"/>
                </a:lnTo>
                <a:lnTo>
                  <a:pt x="16578" y="16578"/>
                </a:lnTo>
                <a:cubicBezTo>
                  <a:pt x="7434" y="16578"/>
                  <a:pt x="0" y="24012"/>
                  <a:pt x="0" y="33156"/>
                </a:cubicBezTo>
                <a:lnTo>
                  <a:pt x="0" y="45590"/>
                </a:lnTo>
                <a:lnTo>
                  <a:pt x="116047" y="45590"/>
                </a:lnTo>
                <a:lnTo>
                  <a:pt x="116047" y="33156"/>
                </a:lnTo>
                <a:cubicBezTo>
                  <a:pt x="116047" y="24012"/>
                  <a:pt x="108612" y="16578"/>
                  <a:pt x="99469" y="16578"/>
                </a:cubicBezTo>
                <a:lnTo>
                  <a:pt x="91179" y="16578"/>
                </a:lnTo>
                <a:lnTo>
                  <a:pt x="91179" y="8289"/>
                </a:lnTo>
                <a:cubicBezTo>
                  <a:pt x="91179" y="3704"/>
                  <a:pt x="87475" y="0"/>
                  <a:pt x="82890" y="0"/>
                </a:cubicBezTo>
                <a:cubicBezTo>
                  <a:pt x="78306" y="0"/>
                  <a:pt x="74601" y="3704"/>
                  <a:pt x="74601" y="8289"/>
                </a:cubicBezTo>
                <a:lnTo>
                  <a:pt x="74601" y="16578"/>
                </a:lnTo>
                <a:lnTo>
                  <a:pt x="41445" y="16578"/>
                </a:lnTo>
                <a:lnTo>
                  <a:pt x="41445" y="8289"/>
                </a:lnTo>
                <a:cubicBezTo>
                  <a:pt x="41445" y="3704"/>
                  <a:pt x="37741" y="0"/>
                  <a:pt x="33156" y="0"/>
                </a:cubicBezTo>
                <a:close/>
                <a:moveTo>
                  <a:pt x="0" y="58023"/>
                </a:moveTo>
                <a:lnTo>
                  <a:pt x="0" y="107758"/>
                </a:lnTo>
                <a:cubicBezTo>
                  <a:pt x="0" y="116901"/>
                  <a:pt x="7434" y="124336"/>
                  <a:pt x="16578" y="124336"/>
                </a:cubicBezTo>
                <a:lnTo>
                  <a:pt x="99469" y="124336"/>
                </a:lnTo>
                <a:cubicBezTo>
                  <a:pt x="108612" y="124336"/>
                  <a:pt x="116047" y="116901"/>
                  <a:pt x="116047" y="107758"/>
                </a:cubicBezTo>
                <a:lnTo>
                  <a:pt x="116047" y="58023"/>
                </a:lnTo>
                <a:lnTo>
                  <a:pt x="0" y="58023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27" name="Text 25"/>
          <p:cNvSpPr/>
          <p:nvPr/>
        </p:nvSpPr>
        <p:spPr>
          <a:xfrm>
            <a:off x="1023105" y="3012476"/>
            <a:ext cx="97573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Conversion âge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66860" y="2993529"/>
            <a:ext cx="502079" cy="227357"/>
          </a:xfrm>
          <a:custGeom>
            <a:avLst/>
            <a:gdLst/>
            <a:ahLst/>
            <a:cxnLst/>
            <a:rect l="l" t="t" r="r" b="b"/>
            <a:pathLst>
              <a:path w="502079" h="227357">
                <a:moveTo>
                  <a:pt x="37894" y="0"/>
                </a:moveTo>
                <a:lnTo>
                  <a:pt x="464186" y="0"/>
                </a:lnTo>
                <a:cubicBezTo>
                  <a:pt x="485114" y="0"/>
                  <a:pt x="502079" y="16966"/>
                  <a:pt x="502079" y="37894"/>
                </a:cubicBezTo>
                <a:lnTo>
                  <a:pt x="502079" y="189463"/>
                </a:lnTo>
                <a:cubicBezTo>
                  <a:pt x="502079" y="210391"/>
                  <a:pt x="485114" y="227357"/>
                  <a:pt x="464186" y="227357"/>
                </a:cubicBezTo>
                <a:lnTo>
                  <a:pt x="37894" y="227357"/>
                </a:lnTo>
                <a:cubicBezTo>
                  <a:pt x="16966" y="227357"/>
                  <a:pt x="0" y="210391"/>
                  <a:pt x="0" y="189463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9" name="Text 27"/>
          <p:cNvSpPr/>
          <p:nvPr/>
        </p:nvSpPr>
        <p:spPr>
          <a:xfrm>
            <a:off x="4266860" y="2993529"/>
            <a:ext cx="558918" cy="227357"/>
          </a:xfrm>
          <a:prstGeom prst="rect">
            <a:avLst/>
          </a:prstGeom>
          <a:noFill/>
          <a:ln/>
        </p:spPr>
        <p:txBody>
          <a:bodyPr wrap="square" lIns="75786" tIns="37893" rIns="75786" bIns="37893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Kaggle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40728" y="3012476"/>
            <a:ext cx="102310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Jours → Années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0499" y="3410350"/>
            <a:ext cx="5342881" cy="454713"/>
          </a:xfrm>
          <a:custGeom>
            <a:avLst/>
            <a:gdLst/>
            <a:ahLst/>
            <a:cxnLst/>
            <a:rect l="l" t="t" r="r" b="b"/>
            <a:pathLst>
              <a:path w="5342881" h="454713">
                <a:moveTo>
                  <a:pt x="75787" y="0"/>
                </a:moveTo>
                <a:lnTo>
                  <a:pt x="5267094" y="0"/>
                </a:lnTo>
                <a:cubicBezTo>
                  <a:pt x="5308950" y="0"/>
                  <a:pt x="5342881" y="33931"/>
                  <a:pt x="5342881" y="75787"/>
                </a:cubicBezTo>
                <a:lnTo>
                  <a:pt x="5342881" y="378926"/>
                </a:lnTo>
                <a:cubicBezTo>
                  <a:pt x="5342881" y="420782"/>
                  <a:pt x="5308950" y="454713"/>
                  <a:pt x="5267094" y="454713"/>
                </a:cubicBezTo>
                <a:lnTo>
                  <a:pt x="75787" y="454713"/>
                </a:lnTo>
                <a:cubicBezTo>
                  <a:pt x="33931" y="454713"/>
                  <a:pt x="0" y="420782"/>
                  <a:pt x="0" y="378926"/>
                </a:cubicBezTo>
                <a:lnTo>
                  <a:pt x="0" y="75787"/>
                </a:lnTo>
                <a:cubicBezTo>
                  <a:pt x="0" y="33959"/>
                  <a:pt x="33959" y="0"/>
                  <a:pt x="7578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2" name="Shape 30"/>
          <p:cNvSpPr/>
          <p:nvPr/>
        </p:nvSpPr>
        <p:spPr>
          <a:xfrm>
            <a:off x="606284" y="3486135"/>
            <a:ext cx="303142" cy="303142"/>
          </a:xfrm>
          <a:custGeom>
            <a:avLst/>
            <a:gdLst/>
            <a:ahLst/>
            <a:cxnLst/>
            <a:rect l="l" t="t" r="r" b="b"/>
            <a:pathLst>
              <a:path w="303142" h="303142">
                <a:moveTo>
                  <a:pt x="75786" y="0"/>
                </a:moveTo>
                <a:lnTo>
                  <a:pt x="227357" y="0"/>
                </a:lnTo>
                <a:cubicBezTo>
                  <a:pt x="269212" y="0"/>
                  <a:pt x="303142" y="33930"/>
                  <a:pt x="303142" y="75786"/>
                </a:cubicBezTo>
                <a:lnTo>
                  <a:pt x="303142" y="227357"/>
                </a:lnTo>
                <a:cubicBezTo>
                  <a:pt x="303142" y="269212"/>
                  <a:pt x="269212" y="303142"/>
                  <a:pt x="227357" y="303142"/>
                </a:cubicBezTo>
                <a:lnTo>
                  <a:pt x="75786" y="303142"/>
                </a:lnTo>
                <a:cubicBezTo>
                  <a:pt x="33930" y="303142"/>
                  <a:pt x="0" y="269212"/>
                  <a:pt x="0" y="227357"/>
                </a:cubicBezTo>
                <a:lnTo>
                  <a:pt x="0" y="75786"/>
                </a:lnTo>
                <a:cubicBezTo>
                  <a:pt x="0" y="33930"/>
                  <a:pt x="33930" y="0"/>
                  <a:pt x="75786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77333" y="3571394"/>
            <a:ext cx="165781" cy="132625"/>
          </a:xfrm>
          <a:custGeom>
            <a:avLst/>
            <a:gdLst/>
            <a:ahLst/>
            <a:cxnLst/>
            <a:rect l="l" t="t" r="r" b="b"/>
            <a:pathLst>
              <a:path w="165781" h="132625">
                <a:moveTo>
                  <a:pt x="124336" y="-16578"/>
                </a:moveTo>
                <a:cubicBezTo>
                  <a:pt x="119751" y="-16578"/>
                  <a:pt x="116047" y="-12874"/>
                  <a:pt x="116047" y="-8289"/>
                </a:cubicBezTo>
                <a:cubicBezTo>
                  <a:pt x="116047" y="-3704"/>
                  <a:pt x="119751" y="0"/>
                  <a:pt x="124336" y="0"/>
                </a:cubicBezTo>
                <a:lnTo>
                  <a:pt x="137469" y="0"/>
                </a:lnTo>
                <a:lnTo>
                  <a:pt x="122781" y="14687"/>
                </a:lnTo>
                <a:cubicBezTo>
                  <a:pt x="115969" y="10620"/>
                  <a:pt x="107991" y="8289"/>
                  <a:pt x="99469" y="8289"/>
                </a:cubicBezTo>
                <a:cubicBezTo>
                  <a:pt x="90299" y="8289"/>
                  <a:pt x="81751" y="11009"/>
                  <a:pt x="74601" y="15671"/>
                </a:cubicBezTo>
                <a:cubicBezTo>
                  <a:pt x="67452" y="11009"/>
                  <a:pt x="58904" y="8289"/>
                  <a:pt x="49734" y="8289"/>
                </a:cubicBezTo>
                <a:cubicBezTo>
                  <a:pt x="24556" y="8289"/>
                  <a:pt x="4145" y="28701"/>
                  <a:pt x="4145" y="53879"/>
                </a:cubicBezTo>
                <a:cubicBezTo>
                  <a:pt x="4145" y="76233"/>
                  <a:pt x="20230" y="94832"/>
                  <a:pt x="41445" y="98717"/>
                </a:cubicBezTo>
                <a:lnTo>
                  <a:pt x="41445" y="107758"/>
                </a:lnTo>
                <a:lnTo>
                  <a:pt x="33156" y="107758"/>
                </a:lnTo>
                <a:cubicBezTo>
                  <a:pt x="28571" y="107758"/>
                  <a:pt x="24867" y="111462"/>
                  <a:pt x="24867" y="116047"/>
                </a:cubicBezTo>
                <a:cubicBezTo>
                  <a:pt x="24867" y="120631"/>
                  <a:pt x="28571" y="124336"/>
                  <a:pt x="33156" y="124336"/>
                </a:cubicBezTo>
                <a:lnTo>
                  <a:pt x="41445" y="124336"/>
                </a:lnTo>
                <a:lnTo>
                  <a:pt x="41445" y="132625"/>
                </a:lnTo>
                <a:cubicBezTo>
                  <a:pt x="41445" y="137210"/>
                  <a:pt x="45149" y="140914"/>
                  <a:pt x="49734" y="140914"/>
                </a:cubicBezTo>
                <a:cubicBezTo>
                  <a:pt x="54319" y="140914"/>
                  <a:pt x="58023" y="137210"/>
                  <a:pt x="58023" y="132625"/>
                </a:cubicBezTo>
                <a:lnTo>
                  <a:pt x="58023" y="124336"/>
                </a:lnTo>
                <a:lnTo>
                  <a:pt x="66312" y="124336"/>
                </a:lnTo>
                <a:cubicBezTo>
                  <a:pt x="70897" y="124336"/>
                  <a:pt x="74601" y="120631"/>
                  <a:pt x="74601" y="116047"/>
                </a:cubicBezTo>
                <a:cubicBezTo>
                  <a:pt x="74601" y="111462"/>
                  <a:pt x="70897" y="107758"/>
                  <a:pt x="66312" y="107758"/>
                </a:cubicBezTo>
                <a:lnTo>
                  <a:pt x="58023" y="107758"/>
                </a:lnTo>
                <a:lnTo>
                  <a:pt x="58023" y="98717"/>
                </a:lnTo>
                <a:cubicBezTo>
                  <a:pt x="64059" y="97603"/>
                  <a:pt x="69654" y="95324"/>
                  <a:pt x="74601" y="92086"/>
                </a:cubicBezTo>
                <a:cubicBezTo>
                  <a:pt x="81751" y="96749"/>
                  <a:pt x="90299" y="99469"/>
                  <a:pt x="99469" y="99469"/>
                </a:cubicBezTo>
                <a:cubicBezTo>
                  <a:pt x="124647" y="99469"/>
                  <a:pt x="145058" y="79057"/>
                  <a:pt x="145058" y="53879"/>
                </a:cubicBezTo>
                <a:cubicBezTo>
                  <a:pt x="145058" y="43233"/>
                  <a:pt x="141406" y="33415"/>
                  <a:pt x="135267" y="25644"/>
                </a:cubicBezTo>
                <a:lnTo>
                  <a:pt x="149203" y="11734"/>
                </a:lnTo>
                <a:lnTo>
                  <a:pt x="149203" y="24867"/>
                </a:lnTo>
                <a:cubicBezTo>
                  <a:pt x="149203" y="29452"/>
                  <a:pt x="152907" y="33156"/>
                  <a:pt x="157492" y="33156"/>
                </a:cubicBezTo>
                <a:cubicBezTo>
                  <a:pt x="162077" y="33156"/>
                  <a:pt x="165781" y="29452"/>
                  <a:pt x="165781" y="24867"/>
                </a:cubicBezTo>
                <a:lnTo>
                  <a:pt x="165781" y="-8289"/>
                </a:lnTo>
                <a:cubicBezTo>
                  <a:pt x="165781" y="-12874"/>
                  <a:pt x="162077" y="-16578"/>
                  <a:pt x="157492" y="-16578"/>
                </a:cubicBezTo>
                <a:lnTo>
                  <a:pt x="124336" y="-16578"/>
                </a:lnTo>
                <a:close/>
                <a:moveTo>
                  <a:pt x="87035" y="80093"/>
                </a:moveTo>
                <a:cubicBezTo>
                  <a:pt x="92267" y="72685"/>
                  <a:pt x="95324" y="63644"/>
                  <a:pt x="95324" y="53879"/>
                </a:cubicBezTo>
                <a:cubicBezTo>
                  <a:pt x="95324" y="44113"/>
                  <a:pt x="92267" y="35073"/>
                  <a:pt x="87035" y="27665"/>
                </a:cubicBezTo>
                <a:cubicBezTo>
                  <a:pt x="90817" y="25877"/>
                  <a:pt x="95013" y="24867"/>
                  <a:pt x="99469" y="24867"/>
                </a:cubicBezTo>
                <a:cubicBezTo>
                  <a:pt x="115503" y="24867"/>
                  <a:pt x="128480" y="37845"/>
                  <a:pt x="128480" y="53879"/>
                </a:cubicBezTo>
                <a:cubicBezTo>
                  <a:pt x="128480" y="69913"/>
                  <a:pt x="115503" y="82890"/>
                  <a:pt x="99469" y="82890"/>
                </a:cubicBezTo>
                <a:cubicBezTo>
                  <a:pt x="95013" y="82890"/>
                  <a:pt x="90791" y="81880"/>
                  <a:pt x="87035" y="80093"/>
                </a:cubicBezTo>
                <a:close/>
                <a:moveTo>
                  <a:pt x="74601" y="38933"/>
                </a:moveTo>
                <a:cubicBezTo>
                  <a:pt x="77244" y="43310"/>
                  <a:pt x="78746" y="48413"/>
                  <a:pt x="78746" y="53879"/>
                </a:cubicBezTo>
                <a:cubicBezTo>
                  <a:pt x="78746" y="59344"/>
                  <a:pt x="77244" y="64473"/>
                  <a:pt x="74601" y="68825"/>
                </a:cubicBezTo>
                <a:cubicBezTo>
                  <a:pt x="71959" y="64447"/>
                  <a:pt x="70457" y="59344"/>
                  <a:pt x="70457" y="53879"/>
                </a:cubicBezTo>
                <a:cubicBezTo>
                  <a:pt x="70457" y="48413"/>
                  <a:pt x="71959" y="43284"/>
                  <a:pt x="74601" y="38933"/>
                </a:cubicBezTo>
                <a:close/>
                <a:moveTo>
                  <a:pt x="62168" y="27665"/>
                </a:moveTo>
                <a:cubicBezTo>
                  <a:pt x="56935" y="35073"/>
                  <a:pt x="53879" y="44113"/>
                  <a:pt x="53879" y="53879"/>
                </a:cubicBezTo>
                <a:cubicBezTo>
                  <a:pt x="53879" y="63644"/>
                  <a:pt x="56935" y="72685"/>
                  <a:pt x="62168" y="80093"/>
                </a:cubicBezTo>
                <a:cubicBezTo>
                  <a:pt x="58412" y="81880"/>
                  <a:pt x="54190" y="82890"/>
                  <a:pt x="49734" y="82890"/>
                </a:cubicBezTo>
                <a:cubicBezTo>
                  <a:pt x="33700" y="82890"/>
                  <a:pt x="20723" y="69913"/>
                  <a:pt x="20723" y="53879"/>
                </a:cubicBezTo>
                <a:cubicBezTo>
                  <a:pt x="20723" y="37845"/>
                  <a:pt x="33700" y="24867"/>
                  <a:pt x="49734" y="24867"/>
                </a:cubicBezTo>
                <a:cubicBezTo>
                  <a:pt x="54190" y="24867"/>
                  <a:pt x="58412" y="25877"/>
                  <a:pt x="62168" y="27665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34" name="Text 32"/>
          <p:cNvSpPr/>
          <p:nvPr/>
        </p:nvSpPr>
        <p:spPr>
          <a:xfrm>
            <a:off x="1023105" y="3542974"/>
            <a:ext cx="956793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Recodage sexe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73702" y="3524028"/>
            <a:ext cx="502079" cy="227357"/>
          </a:xfrm>
          <a:custGeom>
            <a:avLst/>
            <a:gdLst/>
            <a:ahLst/>
            <a:cxnLst/>
            <a:rect l="l" t="t" r="r" b="b"/>
            <a:pathLst>
              <a:path w="502079" h="227357">
                <a:moveTo>
                  <a:pt x="37894" y="0"/>
                </a:moveTo>
                <a:lnTo>
                  <a:pt x="464186" y="0"/>
                </a:lnTo>
                <a:cubicBezTo>
                  <a:pt x="485114" y="0"/>
                  <a:pt x="502079" y="16966"/>
                  <a:pt x="502079" y="37894"/>
                </a:cubicBezTo>
                <a:lnTo>
                  <a:pt x="502079" y="189463"/>
                </a:lnTo>
                <a:cubicBezTo>
                  <a:pt x="502079" y="210391"/>
                  <a:pt x="485114" y="227357"/>
                  <a:pt x="464186" y="227357"/>
                </a:cubicBezTo>
                <a:lnTo>
                  <a:pt x="37894" y="227357"/>
                </a:lnTo>
                <a:cubicBezTo>
                  <a:pt x="16966" y="227357"/>
                  <a:pt x="0" y="210391"/>
                  <a:pt x="0" y="189463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3702" y="3524028"/>
            <a:ext cx="558918" cy="227357"/>
          </a:xfrm>
          <a:prstGeom prst="rect">
            <a:avLst/>
          </a:prstGeom>
          <a:noFill/>
          <a:ln/>
        </p:spPr>
        <p:txBody>
          <a:bodyPr wrap="square" lIns="75786" tIns="37893" rIns="75786" bIns="37893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Kaggle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47571" y="3542974"/>
            <a:ext cx="710490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2→M, 1→F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30499" y="3940848"/>
            <a:ext cx="5342881" cy="454713"/>
          </a:xfrm>
          <a:custGeom>
            <a:avLst/>
            <a:gdLst/>
            <a:ahLst/>
            <a:cxnLst/>
            <a:rect l="l" t="t" r="r" b="b"/>
            <a:pathLst>
              <a:path w="5342881" h="454713">
                <a:moveTo>
                  <a:pt x="75787" y="0"/>
                </a:moveTo>
                <a:lnTo>
                  <a:pt x="5267094" y="0"/>
                </a:lnTo>
                <a:cubicBezTo>
                  <a:pt x="5308950" y="0"/>
                  <a:pt x="5342881" y="33931"/>
                  <a:pt x="5342881" y="75787"/>
                </a:cubicBezTo>
                <a:lnTo>
                  <a:pt x="5342881" y="378926"/>
                </a:lnTo>
                <a:cubicBezTo>
                  <a:pt x="5342881" y="420782"/>
                  <a:pt x="5308950" y="454713"/>
                  <a:pt x="5267094" y="454713"/>
                </a:cubicBezTo>
                <a:lnTo>
                  <a:pt x="75787" y="454713"/>
                </a:lnTo>
                <a:cubicBezTo>
                  <a:pt x="33931" y="454713"/>
                  <a:pt x="0" y="420782"/>
                  <a:pt x="0" y="378926"/>
                </a:cubicBezTo>
                <a:lnTo>
                  <a:pt x="0" y="75787"/>
                </a:lnTo>
                <a:cubicBezTo>
                  <a:pt x="0" y="33959"/>
                  <a:pt x="33959" y="0"/>
                  <a:pt x="7578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9" name="Shape 37"/>
          <p:cNvSpPr/>
          <p:nvPr/>
        </p:nvSpPr>
        <p:spPr>
          <a:xfrm>
            <a:off x="606284" y="4016634"/>
            <a:ext cx="303142" cy="303142"/>
          </a:xfrm>
          <a:custGeom>
            <a:avLst/>
            <a:gdLst/>
            <a:ahLst/>
            <a:cxnLst/>
            <a:rect l="l" t="t" r="r" b="b"/>
            <a:pathLst>
              <a:path w="303142" h="303142">
                <a:moveTo>
                  <a:pt x="75786" y="0"/>
                </a:moveTo>
                <a:lnTo>
                  <a:pt x="227357" y="0"/>
                </a:lnTo>
                <a:cubicBezTo>
                  <a:pt x="269212" y="0"/>
                  <a:pt x="303142" y="33930"/>
                  <a:pt x="303142" y="75786"/>
                </a:cubicBezTo>
                <a:lnTo>
                  <a:pt x="303142" y="227357"/>
                </a:lnTo>
                <a:cubicBezTo>
                  <a:pt x="303142" y="269212"/>
                  <a:pt x="269212" y="303142"/>
                  <a:pt x="227357" y="303142"/>
                </a:cubicBezTo>
                <a:lnTo>
                  <a:pt x="75786" y="303142"/>
                </a:lnTo>
                <a:cubicBezTo>
                  <a:pt x="33930" y="303142"/>
                  <a:pt x="0" y="269212"/>
                  <a:pt x="0" y="227357"/>
                </a:cubicBezTo>
                <a:lnTo>
                  <a:pt x="0" y="75786"/>
                </a:lnTo>
                <a:cubicBezTo>
                  <a:pt x="0" y="33930"/>
                  <a:pt x="33930" y="0"/>
                  <a:pt x="75786" y="0"/>
                </a:cubicBezTo>
                <a:close/>
              </a:path>
            </a:pathLst>
          </a:custGeom>
          <a:solidFill>
            <a:srgbClr val="1A3A4A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93911" y="4101893"/>
            <a:ext cx="132625" cy="132625"/>
          </a:xfrm>
          <a:custGeom>
            <a:avLst/>
            <a:gdLst/>
            <a:ahLst/>
            <a:cxnLst/>
            <a:rect l="l" t="t" r="r" b="b"/>
            <a:pathLst>
              <a:path w="132625" h="132625">
                <a:moveTo>
                  <a:pt x="66312" y="27950"/>
                </a:moveTo>
                <a:lnTo>
                  <a:pt x="62427" y="22562"/>
                </a:lnTo>
                <a:cubicBezTo>
                  <a:pt x="55951" y="13599"/>
                  <a:pt x="45564" y="8289"/>
                  <a:pt x="34477" y="8289"/>
                </a:cubicBezTo>
                <a:cubicBezTo>
                  <a:pt x="15438" y="8289"/>
                  <a:pt x="0" y="23727"/>
                  <a:pt x="0" y="42766"/>
                </a:cubicBezTo>
                <a:lnTo>
                  <a:pt x="0" y="43440"/>
                </a:lnTo>
                <a:cubicBezTo>
                  <a:pt x="0" y="49553"/>
                  <a:pt x="1606" y="55873"/>
                  <a:pt x="4300" y="62168"/>
                </a:cubicBezTo>
                <a:lnTo>
                  <a:pt x="31757" y="62168"/>
                </a:lnTo>
                <a:cubicBezTo>
                  <a:pt x="32586" y="62168"/>
                  <a:pt x="33337" y="61676"/>
                  <a:pt x="33674" y="60899"/>
                </a:cubicBezTo>
                <a:lnTo>
                  <a:pt x="41911" y="41134"/>
                </a:lnTo>
                <a:cubicBezTo>
                  <a:pt x="42870" y="38855"/>
                  <a:pt x="45098" y="37353"/>
                  <a:pt x="47558" y="37301"/>
                </a:cubicBezTo>
                <a:cubicBezTo>
                  <a:pt x="50019" y="37249"/>
                  <a:pt x="52299" y="38699"/>
                  <a:pt x="53309" y="40953"/>
                </a:cubicBezTo>
                <a:lnTo>
                  <a:pt x="66597" y="70457"/>
                </a:lnTo>
                <a:lnTo>
                  <a:pt x="77321" y="49009"/>
                </a:lnTo>
                <a:cubicBezTo>
                  <a:pt x="78383" y="46911"/>
                  <a:pt x="80533" y="45564"/>
                  <a:pt x="82890" y="45564"/>
                </a:cubicBezTo>
                <a:cubicBezTo>
                  <a:pt x="85248" y="45564"/>
                  <a:pt x="87398" y="46885"/>
                  <a:pt x="88460" y="49009"/>
                </a:cubicBezTo>
                <a:lnTo>
                  <a:pt x="94469" y="61002"/>
                </a:lnTo>
                <a:cubicBezTo>
                  <a:pt x="94832" y="61702"/>
                  <a:pt x="95531" y="62142"/>
                  <a:pt x="96334" y="62142"/>
                </a:cubicBezTo>
                <a:lnTo>
                  <a:pt x="128351" y="62142"/>
                </a:lnTo>
                <a:cubicBezTo>
                  <a:pt x="131071" y="55847"/>
                  <a:pt x="132651" y="49527"/>
                  <a:pt x="132651" y="43414"/>
                </a:cubicBezTo>
                <a:lnTo>
                  <a:pt x="132651" y="42740"/>
                </a:lnTo>
                <a:cubicBezTo>
                  <a:pt x="132625" y="23727"/>
                  <a:pt x="117186" y="8289"/>
                  <a:pt x="98147" y="8289"/>
                </a:cubicBezTo>
                <a:cubicBezTo>
                  <a:pt x="87087" y="8289"/>
                  <a:pt x="76674" y="13599"/>
                  <a:pt x="70198" y="22562"/>
                </a:cubicBezTo>
                <a:lnTo>
                  <a:pt x="66312" y="27924"/>
                </a:lnTo>
                <a:close/>
                <a:moveTo>
                  <a:pt x="121642" y="74601"/>
                </a:moveTo>
                <a:lnTo>
                  <a:pt x="96308" y="74601"/>
                </a:lnTo>
                <a:cubicBezTo>
                  <a:pt x="90817" y="74601"/>
                  <a:pt x="85792" y="71493"/>
                  <a:pt x="83331" y="66571"/>
                </a:cubicBezTo>
                <a:lnTo>
                  <a:pt x="82890" y="65691"/>
                </a:lnTo>
                <a:lnTo>
                  <a:pt x="71882" y="87734"/>
                </a:lnTo>
                <a:cubicBezTo>
                  <a:pt x="70820" y="89884"/>
                  <a:pt x="68592" y="91231"/>
                  <a:pt x="66183" y="91179"/>
                </a:cubicBezTo>
                <a:cubicBezTo>
                  <a:pt x="63774" y="91128"/>
                  <a:pt x="61624" y="89703"/>
                  <a:pt x="60640" y="87527"/>
                </a:cubicBezTo>
                <a:lnTo>
                  <a:pt x="47869" y="59163"/>
                </a:lnTo>
                <a:lnTo>
                  <a:pt x="45149" y="65691"/>
                </a:lnTo>
                <a:cubicBezTo>
                  <a:pt x="42896" y="71104"/>
                  <a:pt x="37612" y="74627"/>
                  <a:pt x="31757" y="74627"/>
                </a:cubicBezTo>
                <a:lnTo>
                  <a:pt x="10983" y="74627"/>
                </a:lnTo>
                <a:cubicBezTo>
                  <a:pt x="23209" y="93744"/>
                  <a:pt x="42844" y="111332"/>
                  <a:pt x="55122" y="120709"/>
                </a:cubicBezTo>
                <a:cubicBezTo>
                  <a:pt x="58334" y="123144"/>
                  <a:pt x="62271" y="124362"/>
                  <a:pt x="66286" y="124362"/>
                </a:cubicBezTo>
                <a:cubicBezTo>
                  <a:pt x="70301" y="124362"/>
                  <a:pt x="74265" y="123170"/>
                  <a:pt x="77451" y="120709"/>
                </a:cubicBezTo>
                <a:cubicBezTo>
                  <a:pt x="89781" y="111306"/>
                  <a:pt x="109415" y="93718"/>
                  <a:pt x="121642" y="74601"/>
                </a:cubicBez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41" name="Text 39"/>
          <p:cNvSpPr/>
          <p:nvPr/>
        </p:nvSpPr>
        <p:spPr>
          <a:xfrm>
            <a:off x="1023105" y="4073473"/>
            <a:ext cx="701016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Filtrage BP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234221" y="4054527"/>
            <a:ext cx="502079" cy="227357"/>
          </a:xfrm>
          <a:custGeom>
            <a:avLst/>
            <a:gdLst/>
            <a:ahLst/>
            <a:cxnLst/>
            <a:rect l="l" t="t" r="r" b="b"/>
            <a:pathLst>
              <a:path w="502079" h="227357">
                <a:moveTo>
                  <a:pt x="37894" y="0"/>
                </a:moveTo>
                <a:lnTo>
                  <a:pt x="464186" y="0"/>
                </a:lnTo>
                <a:cubicBezTo>
                  <a:pt x="485114" y="0"/>
                  <a:pt x="502079" y="16966"/>
                  <a:pt x="502079" y="37894"/>
                </a:cubicBezTo>
                <a:lnTo>
                  <a:pt x="502079" y="189463"/>
                </a:lnTo>
                <a:cubicBezTo>
                  <a:pt x="502079" y="210391"/>
                  <a:pt x="485114" y="227357"/>
                  <a:pt x="464186" y="227357"/>
                </a:cubicBezTo>
                <a:lnTo>
                  <a:pt x="37894" y="227357"/>
                </a:lnTo>
                <a:cubicBezTo>
                  <a:pt x="16966" y="227357"/>
                  <a:pt x="0" y="210391"/>
                  <a:pt x="0" y="189463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3" name="Text 41"/>
          <p:cNvSpPr/>
          <p:nvPr/>
        </p:nvSpPr>
        <p:spPr>
          <a:xfrm>
            <a:off x="4234221" y="4054527"/>
            <a:ext cx="558918" cy="227357"/>
          </a:xfrm>
          <a:prstGeom prst="rect">
            <a:avLst/>
          </a:prstGeom>
          <a:noFill/>
          <a:ln/>
        </p:spPr>
        <p:txBody>
          <a:bodyPr wrap="square" lIns="75786" tIns="37893" rIns="75786" bIns="37893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Kaggle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808090" y="4073473"/>
            <a:ext cx="1051524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60-250 / 40-150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30499" y="4471347"/>
            <a:ext cx="5342881" cy="454713"/>
          </a:xfrm>
          <a:custGeom>
            <a:avLst/>
            <a:gdLst/>
            <a:ahLst/>
            <a:cxnLst/>
            <a:rect l="l" t="t" r="r" b="b"/>
            <a:pathLst>
              <a:path w="5342881" h="454713">
                <a:moveTo>
                  <a:pt x="75787" y="0"/>
                </a:moveTo>
                <a:lnTo>
                  <a:pt x="5267094" y="0"/>
                </a:lnTo>
                <a:cubicBezTo>
                  <a:pt x="5308950" y="0"/>
                  <a:pt x="5342881" y="33931"/>
                  <a:pt x="5342881" y="75787"/>
                </a:cubicBezTo>
                <a:lnTo>
                  <a:pt x="5342881" y="378926"/>
                </a:lnTo>
                <a:cubicBezTo>
                  <a:pt x="5342881" y="420782"/>
                  <a:pt x="5308950" y="454713"/>
                  <a:pt x="5267094" y="454713"/>
                </a:cubicBezTo>
                <a:lnTo>
                  <a:pt x="75787" y="454713"/>
                </a:lnTo>
                <a:cubicBezTo>
                  <a:pt x="33931" y="454713"/>
                  <a:pt x="0" y="420782"/>
                  <a:pt x="0" y="378926"/>
                </a:cubicBezTo>
                <a:lnTo>
                  <a:pt x="0" y="75787"/>
                </a:lnTo>
                <a:cubicBezTo>
                  <a:pt x="0" y="33959"/>
                  <a:pt x="33959" y="0"/>
                  <a:pt x="7578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6" name="Shape 44"/>
          <p:cNvSpPr/>
          <p:nvPr/>
        </p:nvSpPr>
        <p:spPr>
          <a:xfrm>
            <a:off x="606284" y="4547133"/>
            <a:ext cx="303142" cy="303142"/>
          </a:xfrm>
          <a:custGeom>
            <a:avLst/>
            <a:gdLst/>
            <a:ahLst/>
            <a:cxnLst/>
            <a:rect l="l" t="t" r="r" b="b"/>
            <a:pathLst>
              <a:path w="303142" h="303142">
                <a:moveTo>
                  <a:pt x="75786" y="0"/>
                </a:moveTo>
                <a:lnTo>
                  <a:pt x="227357" y="0"/>
                </a:lnTo>
                <a:cubicBezTo>
                  <a:pt x="269212" y="0"/>
                  <a:pt x="303142" y="33930"/>
                  <a:pt x="303142" y="75786"/>
                </a:cubicBezTo>
                <a:lnTo>
                  <a:pt x="303142" y="227357"/>
                </a:lnTo>
                <a:cubicBezTo>
                  <a:pt x="303142" y="269212"/>
                  <a:pt x="269212" y="303142"/>
                  <a:pt x="227357" y="303142"/>
                </a:cubicBezTo>
                <a:lnTo>
                  <a:pt x="75786" y="303142"/>
                </a:lnTo>
                <a:cubicBezTo>
                  <a:pt x="33930" y="303142"/>
                  <a:pt x="0" y="269212"/>
                  <a:pt x="0" y="227357"/>
                </a:cubicBezTo>
                <a:lnTo>
                  <a:pt x="0" y="75786"/>
                </a:lnTo>
                <a:cubicBezTo>
                  <a:pt x="0" y="33930"/>
                  <a:pt x="33930" y="0"/>
                  <a:pt x="75786" y="0"/>
                </a:cubicBezTo>
                <a:close/>
              </a:path>
            </a:pathLst>
          </a:custGeom>
          <a:solidFill>
            <a:srgbClr val="4A6D7C">
              <a:alpha val="1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02200" y="4632392"/>
            <a:ext cx="116047" cy="132625"/>
          </a:xfrm>
          <a:custGeom>
            <a:avLst/>
            <a:gdLst/>
            <a:ahLst/>
            <a:cxnLst/>
            <a:rect l="l" t="t" r="r" b="b"/>
            <a:pathLst>
              <a:path w="116047" h="132625">
                <a:moveTo>
                  <a:pt x="30203" y="49734"/>
                </a:moveTo>
                <a:cubicBezTo>
                  <a:pt x="29426" y="47118"/>
                  <a:pt x="29012" y="44320"/>
                  <a:pt x="29012" y="41445"/>
                </a:cubicBezTo>
                <a:cubicBezTo>
                  <a:pt x="29012" y="25411"/>
                  <a:pt x="41989" y="12434"/>
                  <a:pt x="58023" y="12434"/>
                </a:cubicBezTo>
                <a:cubicBezTo>
                  <a:pt x="74057" y="12434"/>
                  <a:pt x="87035" y="25411"/>
                  <a:pt x="87035" y="41445"/>
                </a:cubicBezTo>
                <a:cubicBezTo>
                  <a:pt x="87035" y="44320"/>
                  <a:pt x="86621" y="47118"/>
                  <a:pt x="85843" y="49734"/>
                </a:cubicBezTo>
                <a:lnTo>
                  <a:pt x="67452" y="49734"/>
                </a:lnTo>
                <a:lnTo>
                  <a:pt x="73824" y="38259"/>
                </a:lnTo>
                <a:cubicBezTo>
                  <a:pt x="75482" y="35254"/>
                  <a:pt x="74420" y="31472"/>
                  <a:pt x="71415" y="29815"/>
                </a:cubicBezTo>
                <a:cubicBezTo>
                  <a:pt x="68411" y="28157"/>
                  <a:pt x="64629" y="29219"/>
                  <a:pt x="62971" y="32224"/>
                </a:cubicBezTo>
                <a:lnTo>
                  <a:pt x="53231" y="49760"/>
                </a:lnTo>
                <a:lnTo>
                  <a:pt x="30229" y="49760"/>
                </a:lnTo>
                <a:close/>
                <a:moveTo>
                  <a:pt x="33156" y="8289"/>
                </a:moveTo>
                <a:lnTo>
                  <a:pt x="16578" y="8289"/>
                </a:lnTo>
                <a:cubicBezTo>
                  <a:pt x="7434" y="8289"/>
                  <a:pt x="0" y="15723"/>
                  <a:pt x="0" y="24867"/>
                </a:cubicBezTo>
                <a:lnTo>
                  <a:pt x="0" y="107758"/>
                </a:lnTo>
                <a:cubicBezTo>
                  <a:pt x="0" y="116901"/>
                  <a:pt x="7434" y="124336"/>
                  <a:pt x="16578" y="124336"/>
                </a:cubicBezTo>
                <a:lnTo>
                  <a:pt x="99469" y="124336"/>
                </a:lnTo>
                <a:cubicBezTo>
                  <a:pt x="108612" y="124336"/>
                  <a:pt x="116047" y="116901"/>
                  <a:pt x="116047" y="107758"/>
                </a:cubicBezTo>
                <a:lnTo>
                  <a:pt x="116047" y="24867"/>
                </a:lnTo>
                <a:cubicBezTo>
                  <a:pt x="116047" y="15723"/>
                  <a:pt x="108612" y="8289"/>
                  <a:pt x="99469" y="8289"/>
                </a:cubicBezTo>
                <a:lnTo>
                  <a:pt x="82890" y="8289"/>
                </a:lnTo>
                <a:cubicBezTo>
                  <a:pt x="75974" y="3082"/>
                  <a:pt x="67348" y="0"/>
                  <a:pt x="58023" y="0"/>
                </a:cubicBezTo>
                <a:cubicBezTo>
                  <a:pt x="48698" y="0"/>
                  <a:pt x="40072" y="3082"/>
                  <a:pt x="33156" y="8289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48" name="Text 46"/>
          <p:cNvSpPr/>
          <p:nvPr/>
        </p:nvSpPr>
        <p:spPr>
          <a:xfrm>
            <a:off x="1023105" y="4603972"/>
            <a:ext cx="78627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Filtrage IMC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884319" y="4585026"/>
            <a:ext cx="502079" cy="227357"/>
          </a:xfrm>
          <a:custGeom>
            <a:avLst/>
            <a:gdLst/>
            <a:ahLst/>
            <a:cxnLst/>
            <a:rect l="l" t="t" r="r" b="b"/>
            <a:pathLst>
              <a:path w="502079" h="227357">
                <a:moveTo>
                  <a:pt x="37894" y="0"/>
                </a:moveTo>
                <a:lnTo>
                  <a:pt x="464186" y="0"/>
                </a:lnTo>
                <a:cubicBezTo>
                  <a:pt x="485114" y="0"/>
                  <a:pt x="502079" y="16966"/>
                  <a:pt x="502079" y="37894"/>
                </a:cubicBezTo>
                <a:lnTo>
                  <a:pt x="502079" y="189463"/>
                </a:lnTo>
                <a:cubicBezTo>
                  <a:pt x="502079" y="210391"/>
                  <a:pt x="485114" y="227357"/>
                  <a:pt x="464186" y="227357"/>
                </a:cubicBezTo>
                <a:lnTo>
                  <a:pt x="37894" y="227357"/>
                </a:lnTo>
                <a:cubicBezTo>
                  <a:pt x="16966" y="227357"/>
                  <a:pt x="0" y="210391"/>
                  <a:pt x="0" y="189463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0" name="Text 48"/>
          <p:cNvSpPr/>
          <p:nvPr/>
        </p:nvSpPr>
        <p:spPr>
          <a:xfrm>
            <a:off x="4884319" y="4585026"/>
            <a:ext cx="558918" cy="227357"/>
          </a:xfrm>
          <a:prstGeom prst="rect">
            <a:avLst/>
          </a:prstGeom>
          <a:noFill/>
          <a:ln/>
        </p:spPr>
        <p:txBody>
          <a:bodyPr wrap="square" lIns="75786" tIns="37893" rIns="75786" bIns="37893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Kaggle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458188" y="4603972"/>
            <a:ext cx="397874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15-55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30499" y="5001846"/>
            <a:ext cx="5342881" cy="454713"/>
          </a:xfrm>
          <a:custGeom>
            <a:avLst/>
            <a:gdLst/>
            <a:ahLst/>
            <a:cxnLst/>
            <a:rect l="l" t="t" r="r" b="b"/>
            <a:pathLst>
              <a:path w="5342881" h="454713">
                <a:moveTo>
                  <a:pt x="75787" y="0"/>
                </a:moveTo>
                <a:lnTo>
                  <a:pt x="5267094" y="0"/>
                </a:lnTo>
                <a:cubicBezTo>
                  <a:pt x="5308950" y="0"/>
                  <a:pt x="5342881" y="33931"/>
                  <a:pt x="5342881" y="75787"/>
                </a:cubicBezTo>
                <a:lnTo>
                  <a:pt x="5342881" y="378926"/>
                </a:lnTo>
                <a:cubicBezTo>
                  <a:pt x="5342881" y="420782"/>
                  <a:pt x="5308950" y="454713"/>
                  <a:pt x="5267094" y="454713"/>
                </a:cubicBezTo>
                <a:lnTo>
                  <a:pt x="75787" y="454713"/>
                </a:lnTo>
                <a:cubicBezTo>
                  <a:pt x="33931" y="454713"/>
                  <a:pt x="0" y="420782"/>
                  <a:pt x="0" y="378926"/>
                </a:cubicBezTo>
                <a:lnTo>
                  <a:pt x="0" y="75787"/>
                </a:lnTo>
                <a:cubicBezTo>
                  <a:pt x="0" y="33959"/>
                  <a:pt x="33959" y="0"/>
                  <a:pt x="7578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3" name="Shape 51"/>
          <p:cNvSpPr/>
          <p:nvPr/>
        </p:nvSpPr>
        <p:spPr>
          <a:xfrm>
            <a:off x="606284" y="5077632"/>
            <a:ext cx="303142" cy="303142"/>
          </a:xfrm>
          <a:custGeom>
            <a:avLst/>
            <a:gdLst/>
            <a:ahLst/>
            <a:cxnLst/>
            <a:rect l="l" t="t" r="r" b="b"/>
            <a:pathLst>
              <a:path w="303142" h="303142">
                <a:moveTo>
                  <a:pt x="75786" y="0"/>
                </a:moveTo>
                <a:lnTo>
                  <a:pt x="227357" y="0"/>
                </a:lnTo>
                <a:cubicBezTo>
                  <a:pt x="269212" y="0"/>
                  <a:pt x="303142" y="33930"/>
                  <a:pt x="303142" y="75786"/>
                </a:cubicBezTo>
                <a:lnTo>
                  <a:pt x="303142" y="227357"/>
                </a:lnTo>
                <a:cubicBezTo>
                  <a:pt x="303142" y="269212"/>
                  <a:pt x="269212" y="303142"/>
                  <a:pt x="227357" y="303142"/>
                </a:cubicBezTo>
                <a:lnTo>
                  <a:pt x="75786" y="303142"/>
                </a:lnTo>
                <a:cubicBezTo>
                  <a:pt x="33930" y="303142"/>
                  <a:pt x="0" y="269212"/>
                  <a:pt x="0" y="227357"/>
                </a:cubicBezTo>
                <a:lnTo>
                  <a:pt x="0" y="75786"/>
                </a:lnTo>
                <a:cubicBezTo>
                  <a:pt x="0" y="33930"/>
                  <a:pt x="33930" y="0"/>
                  <a:pt x="75786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93911" y="5162890"/>
            <a:ext cx="132625" cy="132625"/>
          </a:xfrm>
          <a:custGeom>
            <a:avLst/>
            <a:gdLst/>
            <a:ahLst/>
            <a:cxnLst/>
            <a:rect l="l" t="t" r="r" b="b"/>
            <a:pathLst>
              <a:path w="132625" h="132625">
                <a:moveTo>
                  <a:pt x="8289" y="16578"/>
                </a:moveTo>
                <a:cubicBezTo>
                  <a:pt x="4948" y="16578"/>
                  <a:pt x="1917" y="18599"/>
                  <a:pt x="622" y="21707"/>
                </a:cubicBezTo>
                <a:cubicBezTo>
                  <a:pt x="-673" y="24815"/>
                  <a:pt x="52" y="28364"/>
                  <a:pt x="2435" y="30721"/>
                </a:cubicBezTo>
                <a:lnTo>
                  <a:pt x="49734" y="78047"/>
                </a:lnTo>
                <a:lnTo>
                  <a:pt x="49734" y="107758"/>
                </a:lnTo>
                <a:cubicBezTo>
                  <a:pt x="49734" y="109959"/>
                  <a:pt x="50615" y="112058"/>
                  <a:pt x="52169" y="113612"/>
                </a:cubicBezTo>
                <a:lnTo>
                  <a:pt x="68747" y="130190"/>
                </a:lnTo>
                <a:cubicBezTo>
                  <a:pt x="71130" y="132573"/>
                  <a:pt x="74679" y="133272"/>
                  <a:pt x="77787" y="131977"/>
                </a:cubicBezTo>
                <a:cubicBezTo>
                  <a:pt x="80896" y="130682"/>
                  <a:pt x="82890" y="127677"/>
                  <a:pt x="82890" y="124336"/>
                </a:cubicBezTo>
                <a:lnTo>
                  <a:pt x="82890" y="78047"/>
                </a:lnTo>
                <a:lnTo>
                  <a:pt x="130190" y="30747"/>
                </a:lnTo>
                <a:cubicBezTo>
                  <a:pt x="132573" y="28364"/>
                  <a:pt x="133272" y="24815"/>
                  <a:pt x="131977" y="21707"/>
                </a:cubicBezTo>
                <a:cubicBezTo>
                  <a:pt x="130682" y="18599"/>
                  <a:pt x="127677" y="16578"/>
                  <a:pt x="124336" y="16578"/>
                </a:cubicBezTo>
                <a:lnTo>
                  <a:pt x="8289" y="16578"/>
                </a:ln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55" name="Text 53"/>
          <p:cNvSpPr/>
          <p:nvPr/>
        </p:nvSpPr>
        <p:spPr>
          <a:xfrm>
            <a:off x="1023105" y="5134471"/>
            <a:ext cx="97573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 outliers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519083" y="5115524"/>
            <a:ext cx="397874" cy="227357"/>
          </a:xfrm>
          <a:custGeom>
            <a:avLst/>
            <a:gdLst/>
            <a:ahLst/>
            <a:cxnLst/>
            <a:rect l="l" t="t" r="r" b="b"/>
            <a:pathLst>
              <a:path w="397874" h="227357">
                <a:moveTo>
                  <a:pt x="37894" y="0"/>
                </a:moveTo>
                <a:lnTo>
                  <a:pt x="359981" y="0"/>
                </a:lnTo>
                <a:cubicBezTo>
                  <a:pt x="380895" y="0"/>
                  <a:pt x="397874" y="16980"/>
                  <a:pt x="397874" y="37894"/>
                </a:cubicBezTo>
                <a:lnTo>
                  <a:pt x="397874" y="189463"/>
                </a:lnTo>
                <a:cubicBezTo>
                  <a:pt x="397874" y="210377"/>
                  <a:pt x="380895" y="227357"/>
                  <a:pt x="359981" y="227357"/>
                </a:cubicBezTo>
                <a:lnTo>
                  <a:pt x="37894" y="227357"/>
                </a:lnTo>
                <a:cubicBezTo>
                  <a:pt x="16966" y="227357"/>
                  <a:pt x="0" y="210391"/>
                  <a:pt x="0" y="189463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7" name="Text 55"/>
          <p:cNvSpPr/>
          <p:nvPr/>
        </p:nvSpPr>
        <p:spPr>
          <a:xfrm>
            <a:off x="4519083" y="5115524"/>
            <a:ext cx="454713" cy="227357"/>
          </a:xfrm>
          <a:prstGeom prst="rect">
            <a:avLst/>
          </a:prstGeom>
          <a:noFill/>
          <a:ln/>
        </p:spPr>
        <p:txBody>
          <a:bodyPr wrap="square" lIns="75786" tIns="37893" rIns="75786" bIns="37893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Tous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996147" y="5134471"/>
            <a:ext cx="862061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IQR + clinique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72304" y="1174676"/>
            <a:ext cx="5646023" cy="5683916"/>
          </a:xfrm>
          <a:custGeom>
            <a:avLst/>
            <a:gdLst/>
            <a:ahLst/>
            <a:cxnLst/>
            <a:rect l="l" t="t" r="r" b="b"/>
            <a:pathLst>
              <a:path w="5646023" h="5683916">
                <a:moveTo>
                  <a:pt x="113654" y="0"/>
                </a:moveTo>
                <a:lnTo>
                  <a:pt x="5532369" y="0"/>
                </a:lnTo>
                <a:cubicBezTo>
                  <a:pt x="5595138" y="0"/>
                  <a:pt x="5646023" y="50885"/>
                  <a:pt x="5646023" y="113654"/>
                </a:cubicBezTo>
                <a:lnTo>
                  <a:pt x="5646023" y="5570262"/>
                </a:lnTo>
                <a:cubicBezTo>
                  <a:pt x="5646023" y="5633031"/>
                  <a:pt x="5595138" y="5683916"/>
                  <a:pt x="5532369" y="5683916"/>
                </a:cubicBezTo>
                <a:lnTo>
                  <a:pt x="113654" y="5683916"/>
                </a:lnTo>
                <a:cubicBezTo>
                  <a:pt x="50885" y="5683916"/>
                  <a:pt x="0" y="5633031"/>
                  <a:pt x="0" y="5570262"/>
                </a:cubicBezTo>
                <a:lnTo>
                  <a:pt x="0" y="113654"/>
                </a:lnTo>
                <a:cubicBezTo>
                  <a:pt x="0" y="50885"/>
                  <a:pt x="50885" y="0"/>
                  <a:pt x="11365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6839" dist="37893" dir="5400000">
              <a:srgbClr val="000000">
                <a:alpha val="10196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323875" y="1326247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1A3A4A">
              <a:alpha val="1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19791" y="1430452"/>
            <a:ext cx="191832" cy="170517"/>
          </a:xfrm>
          <a:custGeom>
            <a:avLst/>
            <a:gdLst/>
            <a:ahLst/>
            <a:cxnLst/>
            <a:rect l="l" t="t" r="r" b="b"/>
            <a:pathLst>
              <a:path w="191832" h="170517">
                <a:moveTo>
                  <a:pt x="120162" y="400"/>
                </a:moveTo>
                <a:cubicBezTo>
                  <a:pt x="114500" y="-1232"/>
                  <a:pt x="108605" y="2065"/>
                  <a:pt x="106973" y="7727"/>
                </a:cubicBezTo>
                <a:lnTo>
                  <a:pt x="64344" y="156929"/>
                </a:lnTo>
                <a:cubicBezTo>
                  <a:pt x="62712" y="162591"/>
                  <a:pt x="66009" y="168486"/>
                  <a:pt x="71671" y="170118"/>
                </a:cubicBezTo>
                <a:cubicBezTo>
                  <a:pt x="77332" y="171750"/>
                  <a:pt x="83227" y="168453"/>
                  <a:pt x="84859" y="162791"/>
                </a:cubicBezTo>
                <a:lnTo>
                  <a:pt x="127488" y="13588"/>
                </a:lnTo>
                <a:cubicBezTo>
                  <a:pt x="129120" y="7926"/>
                  <a:pt x="125823" y="2032"/>
                  <a:pt x="120162" y="400"/>
                </a:cubicBezTo>
                <a:close/>
                <a:moveTo>
                  <a:pt x="141676" y="45727"/>
                </a:moveTo>
                <a:cubicBezTo>
                  <a:pt x="137513" y="49890"/>
                  <a:pt x="137513" y="56650"/>
                  <a:pt x="141676" y="60813"/>
                </a:cubicBezTo>
                <a:lnTo>
                  <a:pt x="166121" y="85259"/>
                </a:lnTo>
                <a:lnTo>
                  <a:pt x="141676" y="109704"/>
                </a:lnTo>
                <a:cubicBezTo>
                  <a:pt x="137513" y="113867"/>
                  <a:pt x="137513" y="120628"/>
                  <a:pt x="141676" y="124791"/>
                </a:cubicBezTo>
                <a:cubicBezTo>
                  <a:pt x="145839" y="128954"/>
                  <a:pt x="152600" y="128954"/>
                  <a:pt x="156763" y="124791"/>
                </a:cubicBezTo>
                <a:lnTo>
                  <a:pt x="188735" y="92819"/>
                </a:lnTo>
                <a:cubicBezTo>
                  <a:pt x="192898" y="88656"/>
                  <a:pt x="192898" y="81895"/>
                  <a:pt x="188735" y="77732"/>
                </a:cubicBezTo>
                <a:lnTo>
                  <a:pt x="156763" y="45760"/>
                </a:lnTo>
                <a:cubicBezTo>
                  <a:pt x="152600" y="41597"/>
                  <a:pt x="145839" y="41597"/>
                  <a:pt x="141676" y="45760"/>
                </a:cubicBezTo>
                <a:close/>
                <a:moveTo>
                  <a:pt x="50189" y="45727"/>
                </a:moveTo>
                <a:cubicBezTo>
                  <a:pt x="46026" y="41564"/>
                  <a:pt x="39266" y="41564"/>
                  <a:pt x="35103" y="45727"/>
                </a:cubicBezTo>
                <a:lnTo>
                  <a:pt x="3131" y="77699"/>
                </a:lnTo>
                <a:cubicBezTo>
                  <a:pt x="-1032" y="81862"/>
                  <a:pt x="-1032" y="88622"/>
                  <a:pt x="3131" y="92785"/>
                </a:cubicBezTo>
                <a:lnTo>
                  <a:pt x="35103" y="124758"/>
                </a:lnTo>
                <a:cubicBezTo>
                  <a:pt x="39266" y="128921"/>
                  <a:pt x="46026" y="128921"/>
                  <a:pt x="50189" y="124758"/>
                </a:cubicBezTo>
                <a:cubicBezTo>
                  <a:pt x="54352" y="120594"/>
                  <a:pt x="54352" y="113834"/>
                  <a:pt x="50189" y="109671"/>
                </a:cubicBezTo>
                <a:lnTo>
                  <a:pt x="25744" y="85259"/>
                </a:lnTo>
                <a:lnTo>
                  <a:pt x="50156" y="60813"/>
                </a:lnTo>
                <a:cubicBezTo>
                  <a:pt x="54319" y="56650"/>
                  <a:pt x="54319" y="49890"/>
                  <a:pt x="50156" y="45727"/>
                </a:cubicBez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62" name="Text 60"/>
          <p:cNvSpPr/>
          <p:nvPr/>
        </p:nvSpPr>
        <p:spPr>
          <a:xfrm>
            <a:off x="6816481" y="1383086"/>
            <a:ext cx="1326247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Variables Créées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23875" y="1818853"/>
            <a:ext cx="5342881" cy="1098890"/>
          </a:xfrm>
          <a:custGeom>
            <a:avLst/>
            <a:gdLst/>
            <a:ahLst/>
            <a:cxnLst/>
            <a:rect l="l" t="t" r="r" b="b"/>
            <a:pathLst>
              <a:path w="5342881" h="1098890">
                <a:moveTo>
                  <a:pt x="75790" y="0"/>
                </a:moveTo>
                <a:lnTo>
                  <a:pt x="5267091" y="0"/>
                </a:lnTo>
                <a:cubicBezTo>
                  <a:pt x="5308949" y="0"/>
                  <a:pt x="5342881" y="33933"/>
                  <a:pt x="5342881" y="75790"/>
                </a:cubicBezTo>
                <a:lnTo>
                  <a:pt x="5342881" y="1023100"/>
                </a:lnTo>
                <a:cubicBezTo>
                  <a:pt x="5342881" y="1064958"/>
                  <a:pt x="5308949" y="1098890"/>
                  <a:pt x="5267091" y="1098890"/>
                </a:cubicBezTo>
                <a:lnTo>
                  <a:pt x="75790" y="1098890"/>
                </a:lnTo>
                <a:cubicBezTo>
                  <a:pt x="33933" y="1098890"/>
                  <a:pt x="0" y="1064958"/>
                  <a:pt x="0" y="1023100"/>
                </a:cubicBezTo>
                <a:lnTo>
                  <a:pt x="0" y="75790"/>
                </a:lnTo>
                <a:cubicBezTo>
                  <a:pt x="0" y="33961"/>
                  <a:pt x="33961" y="0"/>
                  <a:pt x="7579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4" name="Shape 62"/>
          <p:cNvSpPr/>
          <p:nvPr/>
        </p:nvSpPr>
        <p:spPr>
          <a:xfrm>
            <a:off x="6437553" y="1932531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37894" y="0"/>
                </a:moveTo>
                <a:lnTo>
                  <a:pt x="189463" y="0"/>
                </a:lnTo>
                <a:cubicBezTo>
                  <a:pt x="210377" y="0"/>
                  <a:pt x="227357" y="16980"/>
                  <a:pt x="227357" y="37894"/>
                </a:cubicBezTo>
                <a:lnTo>
                  <a:pt x="227357" y="189463"/>
                </a:lnTo>
                <a:cubicBezTo>
                  <a:pt x="227357" y="210391"/>
                  <a:pt x="210391" y="227357"/>
                  <a:pt x="189463" y="227357"/>
                </a:cubicBezTo>
                <a:lnTo>
                  <a:pt x="37894" y="227357"/>
                </a:lnTo>
                <a:cubicBezTo>
                  <a:pt x="16966" y="227357"/>
                  <a:pt x="0" y="210391"/>
                  <a:pt x="0" y="189463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65" name="Text 63"/>
          <p:cNvSpPr/>
          <p:nvPr/>
        </p:nvSpPr>
        <p:spPr>
          <a:xfrm>
            <a:off x="6528436" y="1970424"/>
            <a:ext cx="104205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740695" y="1932531"/>
            <a:ext cx="1042051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Groupes d'âge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437553" y="2235674"/>
            <a:ext cx="5115524" cy="303142"/>
          </a:xfrm>
          <a:custGeom>
            <a:avLst/>
            <a:gdLst/>
            <a:ahLst/>
            <a:cxnLst/>
            <a:rect l="l" t="t" r="r" b="b"/>
            <a:pathLst>
              <a:path w="5115524" h="303142">
                <a:moveTo>
                  <a:pt x="37893" y="0"/>
                </a:moveTo>
                <a:lnTo>
                  <a:pt x="5077632" y="0"/>
                </a:lnTo>
                <a:cubicBezTo>
                  <a:pt x="5098559" y="0"/>
                  <a:pt x="5115524" y="16965"/>
                  <a:pt x="5115524" y="37893"/>
                </a:cubicBezTo>
                <a:lnTo>
                  <a:pt x="5115524" y="265249"/>
                </a:lnTo>
                <a:cubicBezTo>
                  <a:pt x="5115524" y="286177"/>
                  <a:pt x="5098559" y="303142"/>
                  <a:pt x="5077632" y="303142"/>
                </a:cubicBezTo>
                <a:lnTo>
                  <a:pt x="37893" y="303142"/>
                </a:lnTo>
                <a:cubicBezTo>
                  <a:pt x="16965" y="303142"/>
                  <a:pt x="0" y="286177"/>
                  <a:pt x="0" y="265249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6437553" y="2235674"/>
            <a:ext cx="5172364" cy="303142"/>
          </a:xfrm>
          <a:prstGeom prst="rect">
            <a:avLst/>
          </a:prstGeom>
          <a:noFill/>
          <a:ln/>
        </p:spPr>
        <p:txBody>
          <a:bodyPr wrap="square" lIns="75786" tIns="75786" rIns="75786" bIns="75786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age_group = pd.cut(age, bins=[0, 40, 50, 60, 100])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437553" y="2614601"/>
            <a:ext cx="5181837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catégories : &lt;40, 40-50, 50-60, 60+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23875" y="3031422"/>
            <a:ext cx="5342881" cy="1098890"/>
          </a:xfrm>
          <a:custGeom>
            <a:avLst/>
            <a:gdLst/>
            <a:ahLst/>
            <a:cxnLst/>
            <a:rect l="l" t="t" r="r" b="b"/>
            <a:pathLst>
              <a:path w="5342881" h="1098890">
                <a:moveTo>
                  <a:pt x="75790" y="0"/>
                </a:moveTo>
                <a:lnTo>
                  <a:pt x="5267091" y="0"/>
                </a:lnTo>
                <a:cubicBezTo>
                  <a:pt x="5308949" y="0"/>
                  <a:pt x="5342881" y="33933"/>
                  <a:pt x="5342881" y="75790"/>
                </a:cubicBezTo>
                <a:lnTo>
                  <a:pt x="5342881" y="1023100"/>
                </a:lnTo>
                <a:cubicBezTo>
                  <a:pt x="5342881" y="1064958"/>
                  <a:pt x="5308949" y="1098890"/>
                  <a:pt x="5267091" y="1098890"/>
                </a:cubicBezTo>
                <a:lnTo>
                  <a:pt x="75790" y="1098890"/>
                </a:lnTo>
                <a:cubicBezTo>
                  <a:pt x="33933" y="1098890"/>
                  <a:pt x="0" y="1064958"/>
                  <a:pt x="0" y="1023100"/>
                </a:cubicBezTo>
                <a:lnTo>
                  <a:pt x="0" y="75790"/>
                </a:lnTo>
                <a:cubicBezTo>
                  <a:pt x="0" y="33961"/>
                  <a:pt x="33961" y="0"/>
                  <a:pt x="7579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1" name="Shape 69"/>
          <p:cNvSpPr/>
          <p:nvPr/>
        </p:nvSpPr>
        <p:spPr>
          <a:xfrm>
            <a:off x="6437553" y="3145100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37894" y="0"/>
                </a:moveTo>
                <a:lnTo>
                  <a:pt x="189463" y="0"/>
                </a:lnTo>
                <a:cubicBezTo>
                  <a:pt x="210377" y="0"/>
                  <a:pt x="227357" y="16980"/>
                  <a:pt x="227357" y="37894"/>
                </a:cubicBezTo>
                <a:lnTo>
                  <a:pt x="227357" y="189463"/>
                </a:lnTo>
                <a:cubicBezTo>
                  <a:pt x="227357" y="210391"/>
                  <a:pt x="210391" y="227357"/>
                  <a:pt x="189463" y="227357"/>
                </a:cubicBezTo>
                <a:lnTo>
                  <a:pt x="37894" y="227357"/>
                </a:lnTo>
                <a:cubicBezTo>
                  <a:pt x="16966" y="227357"/>
                  <a:pt x="0" y="210391"/>
                  <a:pt x="0" y="189463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72" name="Text 70"/>
          <p:cNvSpPr/>
          <p:nvPr/>
        </p:nvSpPr>
        <p:spPr>
          <a:xfrm>
            <a:off x="6518149" y="3182993"/>
            <a:ext cx="123152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740695" y="3145100"/>
            <a:ext cx="177148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Indicateur d'hypertension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437553" y="3448242"/>
            <a:ext cx="5115524" cy="303142"/>
          </a:xfrm>
          <a:custGeom>
            <a:avLst/>
            <a:gdLst/>
            <a:ahLst/>
            <a:cxnLst/>
            <a:rect l="l" t="t" r="r" b="b"/>
            <a:pathLst>
              <a:path w="5115524" h="303142">
                <a:moveTo>
                  <a:pt x="37893" y="0"/>
                </a:moveTo>
                <a:lnTo>
                  <a:pt x="5077632" y="0"/>
                </a:lnTo>
                <a:cubicBezTo>
                  <a:pt x="5098559" y="0"/>
                  <a:pt x="5115524" y="16965"/>
                  <a:pt x="5115524" y="37893"/>
                </a:cubicBezTo>
                <a:lnTo>
                  <a:pt x="5115524" y="265249"/>
                </a:lnTo>
                <a:cubicBezTo>
                  <a:pt x="5115524" y="286177"/>
                  <a:pt x="5098559" y="303142"/>
                  <a:pt x="5077632" y="303142"/>
                </a:cubicBezTo>
                <a:lnTo>
                  <a:pt x="37893" y="303142"/>
                </a:lnTo>
                <a:cubicBezTo>
                  <a:pt x="16965" y="303142"/>
                  <a:pt x="0" y="286177"/>
                  <a:pt x="0" y="265249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5" name="Text 73"/>
          <p:cNvSpPr/>
          <p:nvPr/>
        </p:nvSpPr>
        <p:spPr>
          <a:xfrm>
            <a:off x="6437553" y="3448242"/>
            <a:ext cx="5172364" cy="303142"/>
          </a:xfrm>
          <a:prstGeom prst="rect">
            <a:avLst/>
          </a:prstGeom>
          <a:noFill/>
          <a:ln/>
        </p:spPr>
        <p:txBody>
          <a:bodyPr wrap="square" lIns="75786" tIns="75786" rIns="75786" bIns="75786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hypertension = (bp_systolic &gt;= 140).astype(int)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437553" y="3827170"/>
            <a:ext cx="5181837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Seuil clinique : PA systolique ≥ 140 mmHg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323875" y="4243991"/>
            <a:ext cx="5342881" cy="1098890"/>
          </a:xfrm>
          <a:custGeom>
            <a:avLst/>
            <a:gdLst/>
            <a:ahLst/>
            <a:cxnLst/>
            <a:rect l="l" t="t" r="r" b="b"/>
            <a:pathLst>
              <a:path w="5342881" h="1098890">
                <a:moveTo>
                  <a:pt x="75790" y="0"/>
                </a:moveTo>
                <a:lnTo>
                  <a:pt x="5267091" y="0"/>
                </a:lnTo>
                <a:cubicBezTo>
                  <a:pt x="5308949" y="0"/>
                  <a:pt x="5342881" y="33933"/>
                  <a:pt x="5342881" y="75790"/>
                </a:cubicBezTo>
                <a:lnTo>
                  <a:pt x="5342881" y="1023100"/>
                </a:lnTo>
                <a:cubicBezTo>
                  <a:pt x="5342881" y="1064958"/>
                  <a:pt x="5308949" y="1098890"/>
                  <a:pt x="5267091" y="1098890"/>
                </a:cubicBezTo>
                <a:lnTo>
                  <a:pt x="75790" y="1098890"/>
                </a:lnTo>
                <a:cubicBezTo>
                  <a:pt x="33933" y="1098890"/>
                  <a:pt x="0" y="1064958"/>
                  <a:pt x="0" y="1023100"/>
                </a:cubicBezTo>
                <a:lnTo>
                  <a:pt x="0" y="75790"/>
                </a:lnTo>
                <a:cubicBezTo>
                  <a:pt x="0" y="33961"/>
                  <a:pt x="33961" y="0"/>
                  <a:pt x="7579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8" name="Shape 76"/>
          <p:cNvSpPr/>
          <p:nvPr/>
        </p:nvSpPr>
        <p:spPr>
          <a:xfrm>
            <a:off x="6437553" y="4357669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37894" y="0"/>
                </a:moveTo>
                <a:lnTo>
                  <a:pt x="189463" y="0"/>
                </a:lnTo>
                <a:cubicBezTo>
                  <a:pt x="210377" y="0"/>
                  <a:pt x="227357" y="16980"/>
                  <a:pt x="227357" y="37894"/>
                </a:cubicBezTo>
                <a:lnTo>
                  <a:pt x="227357" y="189463"/>
                </a:lnTo>
                <a:cubicBezTo>
                  <a:pt x="227357" y="210391"/>
                  <a:pt x="210391" y="227357"/>
                  <a:pt x="189463" y="227357"/>
                </a:cubicBezTo>
                <a:lnTo>
                  <a:pt x="37894" y="227357"/>
                </a:lnTo>
                <a:cubicBezTo>
                  <a:pt x="16966" y="227357"/>
                  <a:pt x="0" y="210391"/>
                  <a:pt x="0" y="189463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79" name="Text 77"/>
          <p:cNvSpPr/>
          <p:nvPr/>
        </p:nvSpPr>
        <p:spPr>
          <a:xfrm>
            <a:off x="6517631" y="4395562"/>
            <a:ext cx="123152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740695" y="4357669"/>
            <a:ext cx="214094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Niveau de sévérité tensionnelle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437553" y="4660811"/>
            <a:ext cx="5115524" cy="303142"/>
          </a:xfrm>
          <a:custGeom>
            <a:avLst/>
            <a:gdLst/>
            <a:ahLst/>
            <a:cxnLst/>
            <a:rect l="l" t="t" r="r" b="b"/>
            <a:pathLst>
              <a:path w="5115524" h="303142">
                <a:moveTo>
                  <a:pt x="37893" y="0"/>
                </a:moveTo>
                <a:lnTo>
                  <a:pt x="5077632" y="0"/>
                </a:lnTo>
                <a:cubicBezTo>
                  <a:pt x="5098559" y="0"/>
                  <a:pt x="5115524" y="16965"/>
                  <a:pt x="5115524" y="37893"/>
                </a:cubicBezTo>
                <a:lnTo>
                  <a:pt x="5115524" y="265249"/>
                </a:lnTo>
                <a:cubicBezTo>
                  <a:pt x="5115524" y="286177"/>
                  <a:pt x="5098559" y="303142"/>
                  <a:pt x="5077632" y="303142"/>
                </a:cubicBezTo>
                <a:lnTo>
                  <a:pt x="37893" y="303142"/>
                </a:lnTo>
                <a:cubicBezTo>
                  <a:pt x="16965" y="303142"/>
                  <a:pt x="0" y="286177"/>
                  <a:pt x="0" y="265249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2" name="Text 80"/>
          <p:cNvSpPr/>
          <p:nvPr/>
        </p:nvSpPr>
        <p:spPr>
          <a:xfrm>
            <a:off x="6437553" y="4660811"/>
            <a:ext cx="5172364" cy="303142"/>
          </a:xfrm>
          <a:prstGeom prst="rect">
            <a:avLst/>
          </a:prstGeom>
          <a:noFill/>
          <a:ln/>
        </p:spPr>
        <p:txBody>
          <a:bodyPr wrap="square" lIns="75786" tIns="75786" rIns="75786" bIns="75786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bp_severity = pd.cut(bp_systolic, bins=[0, 120, 130, 140, 180, 300])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6437553" y="5039739"/>
            <a:ext cx="5181837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niveaux : Normale, Élevée, HTA Stade 1-2, Crise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323875" y="5456559"/>
            <a:ext cx="5342881" cy="1250462"/>
          </a:xfrm>
          <a:custGeom>
            <a:avLst/>
            <a:gdLst/>
            <a:ahLst/>
            <a:cxnLst/>
            <a:rect l="l" t="t" r="r" b="b"/>
            <a:pathLst>
              <a:path w="5342881" h="1250462">
                <a:moveTo>
                  <a:pt x="75790" y="0"/>
                </a:moveTo>
                <a:lnTo>
                  <a:pt x="5267091" y="0"/>
                </a:lnTo>
                <a:cubicBezTo>
                  <a:pt x="5308949" y="0"/>
                  <a:pt x="5342881" y="33933"/>
                  <a:pt x="5342881" y="75790"/>
                </a:cubicBezTo>
                <a:lnTo>
                  <a:pt x="5342881" y="1174671"/>
                </a:lnTo>
                <a:cubicBezTo>
                  <a:pt x="5342881" y="1216529"/>
                  <a:pt x="5308949" y="1250462"/>
                  <a:pt x="5267091" y="1250462"/>
                </a:cubicBezTo>
                <a:lnTo>
                  <a:pt x="75790" y="1250462"/>
                </a:lnTo>
                <a:cubicBezTo>
                  <a:pt x="33933" y="1250462"/>
                  <a:pt x="0" y="1216529"/>
                  <a:pt x="0" y="1174671"/>
                </a:cubicBezTo>
                <a:lnTo>
                  <a:pt x="0" y="75790"/>
                </a:lnTo>
                <a:cubicBezTo>
                  <a:pt x="0" y="33961"/>
                  <a:pt x="33961" y="0"/>
                  <a:pt x="7579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85" name="Shape 83"/>
          <p:cNvSpPr/>
          <p:nvPr/>
        </p:nvSpPr>
        <p:spPr>
          <a:xfrm>
            <a:off x="6437553" y="5570238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37894" y="0"/>
                </a:moveTo>
                <a:lnTo>
                  <a:pt x="189463" y="0"/>
                </a:lnTo>
                <a:cubicBezTo>
                  <a:pt x="210377" y="0"/>
                  <a:pt x="227357" y="16980"/>
                  <a:pt x="227357" y="37894"/>
                </a:cubicBezTo>
                <a:lnTo>
                  <a:pt x="227357" y="189463"/>
                </a:lnTo>
                <a:cubicBezTo>
                  <a:pt x="227357" y="210391"/>
                  <a:pt x="210391" y="227357"/>
                  <a:pt x="189463" y="227357"/>
                </a:cubicBezTo>
                <a:lnTo>
                  <a:pt x="37894" y="227357"/>
                </a:lnTo>
                <a:cubicBezTo>
                  <a:pt x="16966" y="227357"/>
                  <a:pt x="0" y="210391"/>
                  <a:pt x="0" y="189463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86" name="Text 84"/>
          <p:cNvSpPr/>
          <p:nvPr/>
        </p:nvSpPr>
        <p:spPr>
          <a:xfrm>
            <a:off x="6517705" y="5608131"/>
            <a:ext cx="123152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6740695" y="5570238"/>
            <a:ext cx="1468345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Indicateurs d'obésité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6437553" y="5873380"/>
            <a:ext cx="5115524" cy="454713"/>
          </a:xfrm>
          <a:custGeom>
            <a:avLst/>
            <a:gdLst/>
            <a:ahLst/>
            <a:cxnLst/>
            <a:rect l="l" t="t" r="r" b="b"/>
            <a:pathLst>
              <a:path w="5115524" h="454713">
                <a:moveTo>
                  <a:pt x="37891" y="0"/>
                </a:moveTo>
                <a:lnTo>
                  <a:pt x="5077633" y="0"/>
                </a:lnTo>
                <a:cubicBezTo>
                  <a:pt x="5098560" y="0"/>
                  <a:pt x="5115524" y="16964"/>
                  <a:pt x="5115524" y="37891"/>
                </a:cubicBezTo>
                <a:lnTo>
                  <a:pt x="5115524" y="416822"/>
                </a:lnTo>
                <a:cubicBezTo>
                  <a:pt x="5115524" y="437749"/>
                  <a:pt x="5098560" y="454713"/>
                  <a:pt x="5077633" y="454713"/>
                </a:cubicBezTo>
                <a:lnTo>
                  <a:pt x="37891" y="454713"/>
                </a:lnTo>
                <a:cubicBezTo>
                  <a:pt x="16964" y="454713"/>
                  <a:pt x="0" y="437749"/>
                  <a:pt x="0" y="416822"/>
                </a:cubicBezTo>
                <a:lnTo>
                  <a:pt x="0" y="37891"/>
                </a:lnTo>
                <a:cubicBezTo>
                  <a:pt x="0" y="16979"/>
                  <a:pt x="16979" y="0"/>
                  <a:pt x="3789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9" name="Text 87"/>
          <p:cNvSpPr/>
          <p:nvPr/>
        </p:nvSpPr>
        <p:spPr>
          <a:xfrm>
            <a:off x="6437553" y="5873380"/>
            <a:ext cx="5172364" cy="454713"/>
          </a:xfrm>
          <a:prstGeom prst="rect">
            <a:avLst/>
          </a:prstGeom>
          <a:noFill/>
          <a:ln/>
        </p:spPr>
        <p:txBody>
          <a:bodyPr wrap="square" lIns="75786" tIns="75786" rIns="75786" bIns="75786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obese = (BMI &gt;= 30).astype(int)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overweight = (BMI.between(25, 30)).astype(int)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6437553" y="6403879"/>
            <a:ext cx="5181837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WHO de l'IMC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391" y="406400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106017" y="0"/>
                </a:moveTo>
                <a:lnTo>
                  <a:pt x="318052" y="0"/>
                </a:lnTo>
                <a:cubicBezTo>
                  <a:pt x="376604" y="0"/>
                  <a:pt x="424070" y="47466"/>
                  <a:pt x="424070" y="106017"/>
                </a:cubicBezTo>
                <a:lnTo>
                  <a:pt x="424070" y="318052"/>
                </a:lnTo>
                <a:cubicBezTo>
                  <a:pt x="424070" y="376604"/>
                  <a:pt x="376604" y="424070"/>
                  <a:pt x="318052" y="424070"/>
                </a:cubicBezTo>
                <a:lnTo>
                  <a:pt x="106017" y="424070"/>
                </a:lnTo>
                <a:cubicBezTo>
                  <a:pt x="47466" y="424070"/>
                  <a:pt x="0" y="376604"/>
                  <a:pt x="0" y="318052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1A3A4A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4991" y="530087"/>
            <a:ext cx="220870" cy="176696"/>
          </a:xfrm>
          <a:custGeom>
            <a:avLst/>
            <a:gdLst/>
            <a:ahLst/>
            <a:cxnLst/>
            <a:rect l="l" t="t" r="r" b="b"/>
            <a:pathLst>
              <a:path w="220870" h="176696">
                <a:moveTo>
                  <a:pt x="121478" y="0"/>
                </a:moveTo>
                <a:cubicBezTo>
                  <a:pt x="121478" y="-6108"/>
                  <a:pt x="116543" y="-11043"/>
                  <a:pt x="110435" y="-11043"/>
                </a:cubicBezTo>
                <a:cubicBezTo>
                  <a:pt x="104326" y="-11043"/>
                  <a:pt x="99391" y="-6108"/>
                  <a:pt x="99391" y="0"/>
                </a:cubicBezTo>
                <a:lnTo>
                  <a:pt x="99391" y="22087"/>
                </a:lnTo>
                <a:lnTo>
                  <a:pt x="66261" y="22087"/>
                </a:lnTo>
                <a:cubicBezTo>
                  <a:pt x="47970" y="22087"/>
                  <a:pt x="33130" y="36927"/>
                  <a:pt x="33130" y="55217"/>
                </a:cubicBezTo>
                <a:lnTo>
                  <a:pt x="33130" y="132522"/>
                </a:lnTo>
                <a:cubicBezTo>
                  <a:pt x="33130" y="150813"/>
                  <a:pt x="47970" y="165652"/>
                  <a:pt x="66261" y="165652"/>
                </a:cubicBezTo>
                <a:lnTo>
                  <a:pt x="154609" y="165652"/>
                </a:lnTo>
                <a:cubicBezTo>
                  <a:pt x="172899" y="165652"/>
                  <a:pt x="187739" y="150813"/>
                  <a:pt x="187739" y="132522"/>
                </a:cubicBezTo>
                <a:lnTo>
                  <a:pt x="187739" y="55217"/>
                </a:lnTo>
                <a:cubicBezTo>
                  <a:pt x="187739" y="36927"/>
                  <a:pt x="172899" y="22087"/>
                  <a:pt x="154609" y="22087"/>
                </a:cubicBezTo>
                <a:lnTo>
                  <a:pt x="121478" y="22087"/>
                </a:lnTo>
                <a:lnTo>
                  <a:pt x="121478" y="0"/>
                </a:lnTo>
                <a:close/>
                <a:moveTo>
                  <a:pt x="55217" y="127000"/>
                </a:moveTo>
                <a:cubicBezTo>
                  <a:pt x="55217" y="122410"/>
                  <a:pt x="58910" y="118717"/>
                  <a:pt x="63500" y="118717"/>
                </a:cubicBezTo>
                <a:lnTo>
                  <a:pt x="74543" y="118717"/>
                </a:lnTo>
                <a:cubicBezTo>
                  <a:pt x="79133" y="118717"/>
                  <a:pt x="82826" y="122410"/>
                  <a:pt x="82826" y="127000"/>
                </a:cubicBezTo>
                <a:cubicBezTo>
                  <a:pt x="82826" y="131590"/>
                  <a:pt x="79133" y="135283"/>
                  <a:pt x="74543" y="135283"/>
                </a:cubicBezTo>
                <a:lnTo>
                  <a:pt x="63500" y="135283"/>
                </a:lnTo>
                <a:cubicBezTo>
                  <a:pt x="58910" y="135283"/>
                  <a:pt x="55217" y="131590"/>
                  <a:pt x="55217" y="127000"/>
                </a:cubicBezTo>
                <a:close/>
                <a:moveTo>
                  <a:pt x="96630" y="127000"/>
                </a:moveTo>
                <a:cubicBezTo>
                  <a:pt x="96630" y="122410"/>
                  <a:pt x="100323" y="118717"/>
                  <a:pt x="104913" y="118717"/>
                </a:cubicBezTo>
                <a:lnTo>
                  <a:pt x="115957" y="118717"/>
                </a:lnTo>
                <a:cubicBezTo>
                  <a:pt x="120546" y="118717"/>
                  <a:pt x="124239" y="122410"/>
                  <a:pt x="124239" y="127000"/>
                </a:cubicBezTo>
                <a:cubicBezTo>
                  <a:pt x="124239" y="131590"/>
                  <a:pt x="120546" y="135283"/>
                  <a:pt x="115957" y="135283"/>
                </a:cubicBezTo>
                <a:lnTo>
                  <a:pt x="104913" y="135283"/>
                </a:lnTo>
                <a:cubicBezTo>
                  <a:pt x="100323" y="135283"/>
                  <a:pt x="96630" y="131590"/>
                  <a:pt x="96630" y="127000"/>
                </a:cubicBezTo>
                <a:close/>
                <a:moveTo>
                  <a:pt x="138043" y="127000"/>
                </a:moveTo>
                <a:cubicBezTo>
                  <a:pt x="138043" y="122410"/>
                  <a:pt x="141736" y="118717"/>
                  <a:pt x="146326" y="118717"/>
                </a:cubicBezTo>
                <a:lnTo>
                  <a:pt x="157370" y="118717"/>
                </a:lnTo>
                <a:cubicBezTo>
                  <a:pt x="161960" y="118717"/>
                  <a:pt x="165652" y="122410"/>
                  <a:pt x="165652" y="127000"/>
                </a:cubicBezTo>
                <a:cubicBezTo>
                  <a:pt x="165652" y="131590"/>
                  <a:pt x="161960" y="135283"/>
                  <a:pt x="157370" y="135283"/>
                </a:cubicBezTo>
                <a:lnTo>
                  <a:pt x="146326" y="135283"/>
                </a:lnTo>
                <a:cubicBezTo>
                  <a:pt x="141736" y="135283"/>
                  <a:pt x="138043" y="131590"/>
                  <a:pt x="138043" y="127000"/>
                </a:cubicBezTo>
                <a:close/>
                <a:moveTo>
                  <a:pt x="77304" y="60739"/>
                </a:moveTo>
                <a:cubicBezTo>
                  <a:pt x="86447" y="60739"/>
                  <a:pt x="93870" y="68162"/>
                  <a:pt x="93870" y="77304"/>
                </a:cubicBezTo>
                <a:cubicBezTo>
                  <a:pt x="93870" y="86447"/>
                  <a:pt x="86447" y="93870"/>
                  <a:pt x="77304" y="93870"/>
                </a:cubicBezTo>
                <a:cubicBezTo>
                  <a:pt x="68162" y="93870"/>
                  <a:pt x="60739" y="86447"/>
                  <a:pt x="60739" y="77304"/>
                </a:cubicBezTo>
                <a:cubicBezTo>
                  <a:pt x="60739" y="68162"/>
                  <a:pt x="68162" y="60739"/>
                  <a:pt x="77304" y="60739"/>
                </a:cubicBezTo>
                <a:close/>
                <a:moveTo>
                  <a:pt x="127000" y="77304"/>
                </a:moveTo>
                <a:cubicBezTo>
                  <a:pt x="127000" y="68162"/>
                  <a:pt x="134423" y="60739"/>
                  <a:pt x="143565" y="60739"/>
                </a:cubicBezTo>
                <a:cubicBezTo>
                  <a:pt x="152708" y="60739"/>
                  <a:pt x="160130" y="68162"/>
                  <a:pt x="160130" y="77304"/>
                </a:cubicBezTo>
                <a:cubicBezTo>
                  <a:pt x="160130" y="86447"/>
                  <a:pt x="152708" y="93870"/>
                  <a:pt x="143565" y="93870"/>
                </a:cubicBezTo>
                <a:cubicBezTo>
                  <a:pt x="134423" y="93870"/>
                  <a:pt x="127000" y="86447"/>
                  <a:pt x="127000" y="77304"/>
                </a:cubicBezTo>
                <a:close/>
                <a:moveTo>
                  <a:pt x="22087" y="77304"/>
                </a:moveTo>
                <a:cubicBezTo>
                  <a:pt x="22087" y="71196"/>
                  <a:pt x="17152" y="66261"/>
                  <a:pt x="11043" y="66261"/>
                </a:cubicBezTo>
                <a:cubicBezTo>
                  <a:pt x="4935" y="66261"/>
                  <a:pt x="0" y="71196"/>
                  <a:pt x="0" y="77304"/>
                </a:cubicBezTo>
                <a:lnTo>
                  <a:pt x="0" y="110435"/>
                </a:lnTo>
                <a:cubicBezTo>
                  <a:pt x="0" y="116543"/>
                  <a:pt x="4935" y="121478"/>
                  <a:pt x="11043" y="121478"/>
                </a:cubicBezTo>
                <a:cubicBezTo>
                  <a:pt x="17152" y="121478"/>
                  <a:pt x="22087" y="116543"/>
                  <a:pt x="22087" y="110435"/>
                </a:cubicBezTo>
                <a:lnTo>
                  <a:pt x="22087" y="77304"/>
                </a:lnTo>
                <a:close/>
                <a:moveTo>
                  <a:pt x="209826" y="66261"/>
                </a:moveTo>
                <a:cubicBezTo>
                  <a:pt x="203718" y="66261"/>
                  <a:pt x="198783" y="71196"/>
                  <a:pt x="198783" y="77304"/>
                </a:cubicBezTo>
                <a:lnTo>
                  <a:pt x="198783" y="110435"/>
                </a:lnTo>
                <a:cubicBezTo>
                  <a:pt x="198783" y="116543"/>
                  <a:pt x="203718" y="121478"/>
                  <a:pt x="209826" y="121478"/>
                </a:cubicBezTo>
                <a:cubicBezTo>
                  <a:pt x="215935" y="121478"/>
                  <a:pt x="220870" y="116543"/>
                  <a:pt x="220870" y="110435"/>
                </a:cubicBezTo>
                <a:lnTo>
                  <a:pt x="220870" y="77304"/>
                </a:lnTo>
                <a:cubicBezTo>
                  <a:pt x="220870" y="71196"/>
                  <a:pt x="215935" y="66261"/>
                  <a:pt x="209826" y="66261"/>
                </a:cubicBez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4" name="Text 2"/>
          <p:cNvSpPr/>
          <p:nvPr/>
        </p:nvSpPr>
        <p:spPr>
          <a:xfrm>
            <a:off x="883478" y="353391"/>
            <a:ext cx="2712278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spc="49" kern="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83478" y="530087"/>
            <a:ext cx="2809461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4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Modèles et Résultats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3391" y="954157"/>
            <a:ext cx="1155589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Comparaison des algorithmes et justification des métriques cliniques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3391" y="1307548"/>
            <a:ext cx="11485217" cy="2924313"/>
          </a:xfrm>
          <a:custGeom>
            <a:avLst/>
            <a:gdLst/>
            <a:ahLst/>
            <a:cxnLst/>
            <a:rect l="l" t="t" r="r" b="b"/>
            <a:pathLst>
              <a:path w="11485217" h="2924313">
                <a:moveTo>
                  <a:pt x="106006" y="0"/>
                </a:moveTo>
                <a:lnTo>
                  <a:pt x="11379211" y="0"/>
                </a:lnTo>
                <a:cubicBezTo>
                  <a:pt x="11437757" y="0"/>
                  <a:pt x="11485217" y="47461"/>
                  <a:pt x="11485217" y="106006"/>
                </a:cubicBezTo>
                <a:lnTo>
                  <a:pt x="11485217" y="2818307"/>
                </a:lnTo>
                <a:cubicBezTo>
                  <a:pt x="11485217" y="2876813"/>
                  <a:pt x="11437718" y="2924313"/>
                  <a:pt x="11379211" y="2924313"/>
                </a:cubicBezTo>
                <a:lnTo>
                  <a:pt x="106006" y="2924313"/>
                </a:lnTo>
                <a:cubicBezTo>
                  <a:pt x="47461" y="2924313"/>
                  <a:pt x="0" y="2876852"/>
                  <a:pt x="0" y="2818307"/>
                </a:cubicBezTo>
                <a:lnTo>
                  <a:pt x="0" y="106006"/>
                </a:lnTo>
                <a:cubicBezTo>
                  <a:pt x="0" y="47500"/>
                  <a:pt x="47500" y="0"/>
                  <a:pt x="1060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3009" dist="35339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4748" y="1448904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70678" y="0"/>
                </a:moveTo>
                <a:lnTo>
                  <a:pt x="282713" y="0"/>
                </a:lnTo>
                <a:cubicBezTo>
                  <a:pt x="321721" y="0"/>
                  <a:pt x="353391" y="31670"/>
                  <a:pt x="353391" y="70678"/>
                </a:cubicBezTo>
                <a:lnTo>
                  <a:pt x="353391" y="282713"/>
                </a:lnTo>
                <a:cubicBezTo>
                  <a:pt x="353391" y="321721"/>
                  <a:pt x="321721" y="353391"/>
                  <a:pt x="282713" y="353391"/>
                </a:cubicBezTo>
                <a:lnTo>
                  <a:pt x="70678" y="353391"/>
                </a:lnTo>
                <a:cubicBezTo>
                  <a:pt x="31670" y="353391"/>
                  <a:pt x="0" y="321721"/>
                  <a:pt x="0" y="282713"/>
                </a:cubicBezTo>
                <a:lnTo>
                  <a:pt x="0" y="70678"/>
                </a:lnTo>
                <a:cubicBezTo>
                  <a:pt x="0" y="31670"/>
                  <a:pt x="31670" y="0"/>
                  <a:pt x="70678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94139" y="1546087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9939" y="9939"/>
                </a:moveTo>
                <a:cubicBezTo>
                  <a:pt x="15437" y="9939"/>
                  <a:pt x="19878" y="14381"/>
                  <a:pt x="19878" y="19878"/>
                </a:cubicBezTo>
                <a:lnTo>
                  <a:pt x="19878" y="124239"/>
                </a:lnTo>
                <a:cubicBezTo>
                  <a:pt x="19878" y="126972"/>
                  <a:pt x="22115" y="129209"/>
                  <a:pt x="24848" y="129209"/>
                </a:cubicBezTo>
                <a:lnTo>
                  <a:pt x="149087" y="129209"/>
                </a:lnTo>
                <a:cubicBezTo>
                  <a:pt x="154585" y="129209"/>
                  <a:pt x="159026" y="133650"/>
                  <a:pt x="159026" y="139148"/>
                </a:cubicBezTo>
                <a:cubicBezTo>
                  <a:pt x="159026" y="144645"/>
                  <a:pt x="154585" y="149087"/>
                  <a:pt x="149087" y="149087"/>
                </a:cubicBezTo>
                <a:lnTo>
                  <a:pt x="24848" y="149087"/>
                </a:lnTo>
                <a:cubicBezTo>
                  <a:pt x="11119" y="149087"/>
                  <a:pt x="0" y="137968"/>
                  <a:pt x="0" y="124239"/>
                </a:cubicBezTo>
                <a:lnTo>
                  <a:pt x="0" y="19878"/>
                </a:lnTo>
                <a:cubicBezTo>
                  <a:pt x="0" y="14381"/>
                  <a:pt x="4442" y="9939"/>
                  <a:pt x="9939" y="9939"/>
                </a:cubicBezTo>
                <a:close/>
                <a:moveTo>
                  <a:pt x="39757" y="29817"/>
                </a:moveTo>
                <a:cubicBezTo>
                  <a:pt x="39757" y="24320"/>
                  <a:pt x="44198" y="19878"/>
                  <a:pt x="49696" y="19878"/>
                </a:cubicBezTo>
                <a:lnTo>
                  <a:pt x="109330" y="19878"/>
                </a:lnTo>
                <a:cubicBezTo>
                  <a:pt x="114828" y="19878"/>
                  <a:pt x="119270" y="24320"/>
                  <a:pt x="119270" y="29817"/>
                </a:cubicBezTo>
                <a:cubicBezTo>
                  <a:pt x="119270" y="35315"/>
                  <a:pt x="114828" y="39757"/>
                  <a:pt x="109330" y="39757"/>
                </a:cubicBezTo>
                <a:lnTo>
                  <a:pt x="49696" y="39757"/>
                </a:lnTo>
                <a:cubicBezTo>
                  <a:pt x="44198" y="39757"/>
                  <a:pt x="39757" y="35315"/>
                  <a:pt x="39757" y="29817"/>
                </a:cubicBezTo>
                <a:close/>
                <a:moveTo>
                  <a:pt x="49696" y="54665"/>
                </a:moveTo>
                <a:lnTo>
                  <a:pt x="89452" y="54665"/>
                </a:lnTo>
                <a:cubicBezTo>
                  <a:pt x="94950" y="54665"/>
                  <a:pt x="99391" y="59107"/>
                  <a:pt x="99391" y="64604"/>
                </a:cubicBezTo>
                <a:cubicBezTo>
                  <a:pt x="99391" y="70102"/>
                  <a:pt x="94950" y="74543"/>
                  <a:pt x="89452" y="74543"/>
                </a:cubicBezTo>
                <a:lnTo>
                  <a:pt x="49696" y="74543"/>
                </a:lnTo>
                <a:cubicBezTo>
                  <a:pt x="44198" y="74543"/>
                  <a:pt x="39757" y="70102"/>
                  <a:pt x="39757" y="64604"/>
                </a:cubicBezTo>
                <a:cubicBezTo>
                  <a:pt x="39757" y="59107"/>
                  <a:pt x="44198" y="54665"/>
                  <a:pt x="49696" y="54665"/>
                </a:cubicBezTo>
                <a:close/>
                <a:moveTo>
                  <a:pt x="49696" y="89452"/>
                </a:moveTo>
                <a:lnTo>
                  <a:pt x="129209" y="89452"/>
                </a:lnTo>
                <a:cubicBezTo>
                  <a:pt x="134706" y="89452"/>
                  <a:pt x="139148" y="93894"/>
                  <a:pt x="139148" y="99391"/>
                </a:cubicBezTo>
                <a:cubicBezTo>
                  <a:pt x="139148" y="104889"/>
                  <a:pt x="134706" y="109330"/>
                  <a:pt x="129209" y="109330"/>
                </a:cubicBezTo>
                <a:lnTo>
                  <a:pt x="49696" y="109330"/>
                </a:lnTo>
                <a:cubicBezTo>
                  <a:pt x="44198" y="109330"/>
                  <a:pt x="39757" y="104889"/>
                  <a:pt x="39757" y="99391"/>
                </a:cubicBezTo>
                <a:cubicBezTo>
                  <a:pt x="39757" y="93894"/>
                  <a:pt x="44198" y="89452"/>
                  <a:pt x="49696" y="89452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10" name="Text 8"/>
          <p:cNvSpPr/>
          <p:nvPr/>
        </p:nvSpPr>
        <p:spPr>
          <a:xfrm>
            <a:off x="954157" y="1501913"/>
            <a:ext cx="2182191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Comparaison des Algorithmes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4748" y="1908313"/>
          <a:ext cx="11202504" cy="2324100"/>
        </p:xfrm>
        <a:graphic>
          <a:graphicData uri="http://schemas.openxmlformats.org/drawingml/2006/table">
            <a:tbl>
              <a:tblPr/>
              <a:tblGrid>
                <a:gridCol w="3890372"/>
                <a:gridCol w="1883294"/>
                <a:gridCol w="1414681"/>
                <a:gridCol w="1352789"/>
                <a:gridCol w="1503098"/>
                <a:gridCol w="1158270"/>
              </a:tblGrid>
              <a:tr h="464820"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Modèle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Type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Accuracy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F1-Score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AUC-ROC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Rappel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4A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Régression Logistique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Baseline linéaire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Linéaire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Arbre de Décision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Non-linéaire simple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Arbre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0.78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Random Forest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Ensemble (200 arbres)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Ensemble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Random Forest (Optimisé)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                                   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Recherche d'hyperparamètres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5D5D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Ensemble ⭐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5D5D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0.86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5D5D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5D5D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5D5D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0.87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678" marR="70678" marT="70678" marB="706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5D5D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53391" y="4373217"/>
            <a:ext cx="5671930" cy="2482574"/>
          </a:xfrm>
          <a:custGeom>
            <a:avLst/>
            <a:gdLst/>
            <a:ahLst/>
            <a:cxnLst/>
            <a:rect l="l" t="t" r="r" b="b"/>
            <a:pathLst>
              <a:path w="5671930" h="2482574">
                <a:moveTo>
                  <a:pt x="106006" y="0"/>
                </a:moveTo>
                <a:lnTo>
                  <a:pt x="5565925" y="0"/>
                </a:lnTo>
                <a:cubicBezTo>
                  <a:pt x="5624470" y="0"/>
                  <a:pt x="5671930" y="47460"/>
                  <a:pt x="5671930" y="106006"/>
                </a:cubicBezTo>
                <a:lnTo>
                  <a:pt x="5671930" y="2376568"/>
                </a:lnTo>
                <a:cubicBezTo>
                  <a:pt x="5671930" y="2435113"/>
                  <a:pt x="5624470" y="2482574"/>
                  <a:pt x="5565925" y="2482574"/>
                </a:cubicBezTo>
                <a:lnTo>
                  <a:pt x="106006" y="2482574"/>
                </a:lnTo>
                <a:cubicBezTo>
                  <a:pt x="47460" y="2482574"/>
                  <a:pt x="0" y="2435113"/>
                  <a:pt x="0" y="2376568"/>
                </a:cubicBezTo>
                <a:lnTo>
                  <a:pt x="0" y="106006"/>
                </a:lnTo>
                <a:cubicBezTo>
                  <a:pt x="0" y="47500"/>
                  <a:pt x="47500" y="0"/>
                  <a:pt x="106006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A4A"/>
              </a:gs>
              <a:gs pos="100000">
                <a:srgbClr val="4A6D7C"/>
              </a:gs>
            </a:gsLst>
            <a:lin ang="0" scaled="1"/>
          </a:gradFill>
          <a:ln/>
          <a:effectLst>
            <a:outerShdw sx="100000" sy="100000" kx="0" ky="0" algn="bl" rotWithShape="0" blurRad="53009" dist="35339" dir="540000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4748" y="4514574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70678" y="0"/>
                </a:moveTo>
                <a:lnTo>
                  <a:pt x="282713" y="0"/>
                </a:lnTo>
                <a:cubicBezTo>
                  <a:pt x="321721" y="0"/>
                  <a:pt x="353391" y="31670"/>
                  <a:pt x="353391" y="70678"/>
                </a:cubicBezTo>
                <a:lnTo>
                  <a:pt x="353391" y="282713"/>
                </a:lnTo>
                <a:cubicBezTo>
                  <a:pt x="353391" y="321721"/>
                  <a:pt x="321721" y="353391"/>
                  <a:pt x="282713" y="353391"/>
                </a:cubicBezTo>
                <a:lnTo>
                  <a:pt x="70678" y="353391"/>
                </a:lnTo>
                <a:cubicBezTo>
                  <a:pt x="31670" y="353391"/>
                  <a:pt x="0" y="321721"/>
                  <a:pt x="0" y="282713"/>
                </a:cubicBezTo>
                <a:lnTo>
                  <a:pt x="0" y="70678"/>
                </a:lnTo>
                <a:cubicBezTo>
                  <a:pt x="0" y="31670"/>
                  <a:pt x="31670" y="0"/>
                  <a:pt x="70678" y="0"/>
                </a:cubicBezTo>
                <a:close/>
              </a:path>
            </a:pathLst>
          </a:custGeom>
          <a:solidFill>
            <a:srgbClr val="D95D5D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94139" y="4611757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79513" y="159026"/>
                </a:moveTo>
                <a:cubicBezTo>
                  <a:pt x="123397" y="159026"/>
                  <a:pt x="159026" y="123397"/>
                  <a:pt x="159026" y="79513"/>
                </a:cubicBezTo>
                <a:cubicBezTo>
                  <a:pt x="159026" y="35629"/>
                  <a:pt x="123397" y="0"/>
                  <a:pt x="79513" y="0"/>
                </a:cubicBezTo>
                <a:cubicBezTo>
                  <a:pt x="35629" y="0"/>
                  <a:pt x="0" y="35629"/>
                  <a:pt x="0" y="79513"/>
                </a:cubicBezTo>
                <a:cubicBezTo>
                  <a:pt x="0" y="123397"/>
                  <a:pt x="35629" y="159026"/>
                  <a:pt x="79513" y="159026"/>
                </a:cubicBezTo>
                <a:close/>
                <a:moveTo>
                  <a:pt x="79513" y="42241"/>
                </a:moveTo>
                <a:cubicBezTo>
                  <a:pt x="83644" y="42241"/>
                  <a:pt x="86967" y="45565"/>
                  <a:pt x="86967" y="49696"/>
                </a:cubicBezTo>
                <a:lnTo>
                  <a:pt x="86967" y="84483"/>
                </a:lnTo>
                <a:cubicBezTo>
                  <a:pt x="86967" y="88614"/>
                  <a:pt x="83644" y="91937"/>
                  <a:pt x="79513" y="91937"/>
                </a:cubicBezTo>
                <a:cubicBezTo>
                  <a:pt x="75382" y="91937"/>
                  <a:pt x="72059" y="88614"/>
                  <a:pt x="72059" y="84483"/>
                </a:cubicBezTo>
                <a:lnTo>
                  <a:pt x="72059" y="49696"/>
                </a:lnTo>
                <a:cubicBezTo>
                  <a:pt x="72059" y="45565"/>
                  <a:pt x="75382" y="42241"/>
                  <a:pt x="79513" y="42241"/>
                </a:cubicBezTo>
                <a:close/>
                <a:moveTo>
                  <a:pt x="71220" y="109330"/>
                </a:moveTo>
                <a:cubicBezTo>
                  <a:pt x="71031" y="106252"/>
                  <a:pt x="72567" y="103324"/>
                  <a:pt x="75205" y="101727"/>
                </a:cubicBezTo>
                <a:cubicBezTo>
                  <a:pt x="77844" y="100131"/>
                  <a:pt x="81151" y="100131"/>
                  <a:pt x="83790" y="101727"/>
                </a:cubicBezTo>
                <a:cubicBezTo>
                  <a:pt x="86428" y="103324"/>
                  <a:pt x="87964" y="106252"/>
                  <a:pt x="87775" y="109330"/>
                </a:cubicBezTo>
                <a:cubicBezTo>
                  <a:pt x="87964" y="112409"/>
                  <a:pt x="86428" y="115337"/>
                  <a:pt x="83790" y="116934"/>
                </a:cubicBezTo>
                <a:cubicBezTo>
                  <a:pt x="81151" y="118530"/>
                  <a:pt x="77844" y="118530"/>
                  <a:pt x="75205" y="116934"/>
                </a:cubicBezTo>
                <a:cubicBezTo>
                  <a:pt x="72567" y="115337"/>
                  <a:pt x="71031" y="112409"/>
                  <a:pt x="71220" y="109330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15" name="Text 12"/>
          <p:cNvSpPr/>
          <p:nvPr/>
        </p:nvSpPr>
        <p:spPr>
          <a:xfrm>
            <a:off x="954157" y="4567583"/>
            <a:ext cx="1572591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Limites de l'Accuracy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94748" y="4973983"/>
            <a:ext cx="5389217" cy="547757"/>
          </a:xfrm>
          <a:custGeom>
            <a:avLst/>
            <a:gdLst/>
            <a:ahLst/>
            <a:cxnLst/>
            <a:rect l="l" t="t" r="r" b="b"/>
            <a:pathLst>
              <a:path w="5389217" h="547757">
                <a:moveTo>
                  <a:pt x="70677" y="0"/>
                </a:moveTo>
                <a:lnTo>
                  <a:pt x="5318540" y="0"/>
                </a:lnTo>
                <a:cubicBezTo>
                  <a:pt x="5357574" y="0"/>
                  <a:pt x="5389217" y="31643"/>
                  <a:pt x="5389217" y="70677"/>
                </a:cubicBezTo>
                <a:lnTo>
                  <a:pt x="5389217" y="477079"/>
                </a:lnTo>
                <a:cubicBezTo>
                  <a:pt x="5389217" y="516113"/>
                  <a:pt x="5357574" y="547757"/>
                  <a:pt x="5318540" y="547757"/>
                </a:cubicBezTo>
                <a:lnTo>
                  <a:pt x="70677" y="547757"/>
                </a:lnTo>
                <a:cubicBezTo>
                  <a:pt x="31669" y="547757"/>
                  <a:pt x="0" y="516087"/>
                  <a:pt x="0" y="477079"/>
                </a:cubicBezTo>
                <a:lnTo>
                  <a:pt x="0" y="70677"/>
                </a:lnTo>
                <a:cubicBezTo>
                  <a:pt x="0" y="31669"/>
                  <a:pt x="31669" y="0"/>
                  <a:pt x="70677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83096" y="5080000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46107" y="46107"/>
                </a:moveTo>
                <a:cubicBezTo>
                  <a:pt x="48702" y="43511"/>
                  <a:pt x="52898" y="43511"/>
                  <a:pt x="55466" y="46107"/>
                </a:cubicBezTo>
                <a:lnTo>
                  <a:pt x="70651" y="61291"/>
                </a:lnTo>
                <a:lnTo>
                  <a:pt x="85835" y="46107"/>
                </a:lnTo>
                <a:cubicBezTo>
                  <a:pt x="88431" y="43511"/>
                  <a:pt x="92627" y="43511"/>
                  <a:pt x="95195" y="46107"/>
                </a:cubicBezTo>
                <a:cubicBezTo>
                  <a:pt x="97762" y="48702"/>
                  <a:pt x="97790" y="52898"/>
                  <a:pt x="95195" y="55466"/>
                </a:cubicBezTo>
                <a:lnTo>
                  <a:pt x="80010" y="70651"/>
                </a:lnTo>
                <a:lnTo>
                  <a:pt x="95195" y="85835"/>
                </a:lnTo>
                <a:cubicBezTo>
                  <a:pt x="97790" y="88431"/>
                  <a:pt x="97790" y="92627"/>
                  <a:pt x="95195" y="95195"/>
                </a:cubicBezTo>
                <a:cubicBezTo>
                  <a:pt x="92600" y="97762"/>
                  <a:pt x="88403" y="97790"/>
                  <a:pt x="85835" y="95195"/>
                </a:cubicBezTo>
                <a:lnTo>
                  <a:pt x="70651" y="80010"/>
                </a:lnTo>
                <a:lnTo>
                  <a:pt x="55466" y="95195"/>
                </a:lnTo>
                <a:cubicBezTo>
                  <a:pt x="52871" y="97790"/>
                  <a:pt x="48674" y="97790"/>
                  <a:pt x="46107" y="95195"/>
                </a:cubicBezTo>
                <a:cubicBezTo>
                  <a:pt x="43539" y="92600"/>
                  <a:pt x="43511" y="88403"/>
                  <a:pt x="46107" y="85835"/>
                </a:cubicBezTo>
                <a:lnTo>
                  <a:pt x="61291" y="70651"/>
                </a:lnTo>
                <a:lnTo>
                  <a:pt x="46107" y="55466"/>
                </a:lnTo>
                <a:cubicBezTo>
                  <a:pt x="43511" y="52871"/>
                  <a:pt x="43511" y="48674"/>
                  <a:pt x="46107" y="46107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18" name="Text 15"/>
          <p:cNvSpPr/>
          <p:nvPr/>
        </p:nvSpPr>
        <p:spPr>
          <a:xfrm>
            <a:off x="848139" y="5044661"/>
            <a:ext cx="5026991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4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Déséquilibre de classes</a:t>
            </a:r>
            <a:pPr>
              <a:lnSpc>
                <a:spcPct val="140000"/>
              </a:lnSpc>
            </a:pPr>
            <a:r>
              <a:rPr lang="en-US" sz="974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Framingham à 15% positifs → modèle trivial "tout négatif" = 85% accuracy !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94748" y="5588000"/>
            <a:ext cx="5389217" cy="547757"/>
          </a:xfrm>
          <a:custGeom>
            <a:avLst/>
            <a:gdLst/>
            <a:ahLst/>
            <a:cxnLst/>
            <a:rect l="l" t="t" r="r" b="b"/>
            <a:pathLst>
              <a:path w="5389217" h="547757">
                <a:moveTo>
                  <a:pt x="70677" y="0"/>
                </a:moveTo>
                <a:lnTo>
                  <a:pt x="5318540" y="0"/>
                </a:lnTo>
                <a:cubicBezTo>
                  <a:pt x="5357574" y="0"/>
                  <a:pt x="5389217" y="31643"/>
                  <a:pt x="5389217" y="70677"/>
                </a:cubicBezTo>
                <a:lnTo>
                  <a:pt x="5389217" y="477079"/>
                </a:lnTo>
                <a:cubicBezTo>
                  <a:pt x="5389217" y="516113"/>
                  <a:pt x="5357574" y="547757"/>
                  <a:pt x="5318540" y="547757"/>
                </a:cubicBezTo>
                <a:lnTo>
                  <a:pt x="70677" y="547757"/>
                </a:lnTo>
                <a:cubicBezTo>
                  <a:pt x="31669" y="547757"/>
                  <a:pt x="0" y="516087"/>
                  <a:pt x="0" y="477079"/>
                </a:cubicBezTo>
                <a:lnTo>
                  <a:pt x="0" y="70677"/>
                </a:lnTo>
                <a:cubicBezTo>
                  <a:pt x="0" y="31669"/>
                  <a:pt x="31669" y="0"/>
                  <a:pt x="70677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83096" y="5694017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46107" y="46107"/>
                </a:moveTo>
                <a:cubicBezTo>
                  <a:pt x="48702" y="43511"/>
                  <a:pt x="52898" y="43511"/>
                  <a:pt x="55466" y="46107"/>
                </a:cubicBezTo>
                <a:lnTo>
                  <a:pt x="70651" y="61291"/>
                </a:lnTo>
                <a:lnTo>
                  <a:pt x="85835" y="46107"/>
                </a:lnTo>
                <a:cubicBezTo>
                  <a:pt x="88431" y="43511"/>
                  <a:pt x="92627" y="43511"/>
                  <a:pt x="95195" y="46107"/>
                </a:cubicBezTo>
                <a:cubicBezTo>
                  <a:pt x="97762" y="48702"/>
                  <a:pt x="97790" y="52898"/>
                  <a:pt x="95195" y="55466"/>
                </a:cubicBezTo>
                <a:lnTo>
                  <a:pt x="80010" y="70651"/>
                </a:lnTo>
                <a:lnTo>
                  <a:pt x="95195" y="85835"/>
                </a:lnTo>
                <a:cubicBezTo>
                  <a:pt x="97790" y="88431"/>
                  <a:pt x="97790" y="92627"/>
                  <a:pt x="95195" y="95195"/>
                </a:cubicBezTo>
                <a:cubicBezTo>
                  <a:pt x="92600" y="97762"/>
                  <a:pt x="88403" y="97790"/>
                  <a:pt x="85835" y="95195"/>
                </a:cubicBezTo>
                <a:lnTo>
                  <a:pt x="70651" y="80010"/>
                </a:lnTo>
                <a:lnTo>
                  <a:pt x="55466" y="95195"/>
                </a:lnTo>
                <a:cubicBezTo>
                  <a:pt x="52871" y="97790"/>
                  <a:pt x="48674" y="97790"/>
                  <a:pt x="46107" y="95195"/>
                </a:cubicBezTo>
                <a:cubicBezTo>
                  <a:pt x="43539" y="92600"/>
                  <a:pt x="43511" y="88403"/>
                  <a:pt x="46107" y="85835"/>
                </a:cubicBezTo>
                <a:lnTo>
                  <a:pt x="61291" y="70651"/>
                </a:lnTo>
                <a:lnTo>
                  <a:pt x="46107" y="55466"/>
                </a:lnTo>
                <a:cubicBezTo>
                  <a:pt x="43511" y="52871"/>
                  <a:pt x="43511" y="48674"/>
                  <a:pt x="46107" y="46107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21" name="Text 18"/>
          <p:cNvSpPr/>
          <p:nvPr/>
        </p:nvSpPr>
        <p:spPr>
          <a:xfrm>
            <a:off x="848139" y="5658678"/>
            <a:ext cx="5026991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4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Coût asymétrique</a:t>
            </a:r>
            <a:pPr>
              <a:lnSpc>
                <a:spcPct val="140000"/>
              </a:lnSpc>
            </a:pPr>
            <a:r>
              <a:rPr lang="en-US" sz="974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En contexte clinique, faux négatif (cas manqué) &gt;&gt; faux positif (fausse alarme)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64677" y="4373217"/>
            <a:ext cx="5671930" cy="2482574"/>
          </a:xfrm>
          <a:custGeom>
            <a:avLst/>
            <a:gdLst/>
            <a:ahLst/>
            <a:cxnLst/>
            <a:rect l="l" t="t" r="r" b="b"/>
            <a:pathLst>
              <a:path w="5671930" h="2482574">
                <a:moveTo>
                  <a:pt x="106006" y="0"/>
                </a:moveTo>
                <a:lnTo>
                  <a:pt x="5565925" y="0"/>
                </a:lnTo>
                <a:cubicBezTo>
                  <a:pt x="5624470" y="0"/>
                  <a:pt x="5671930" y="47460"/>
                  <a:pt x="5671930" y="106006"/>
                </a:cubicBezTo>
                <a:lnTo>
                  <a:pt x="5671930" y="2376568"/>
                </a:lnTo>
                <a:cubicBezTo>
                  <a:pt x="5671930" y="2435113"/>
                  <a:pt x="5624470" y="2482574"/>
                  <a:pt x="5565925" y="2482574"/>
                </a:cubicBezTo>
                <a:lnTo>
                  <a:pt x="106006" y="2482574"/>
                </a:lnTo>
                <a:cubicBezTo>
                  <a:pt x="47460" y="2482574"/>
                  <a:pt x="0" y="2435113"/>
                  <a:pt x="0" y="2376568"/>
                </a:cubicBezTo>
                <a:lnTo>
                  <a:pt x="0" y="106006"/>
                </a:lnTo>
                <a:cubicBezTo>
                  <a:pt x="0" y="47500"/>
                  <a:pt x="47500" y="0"/>
                  <a:pt x="1060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3009" dist="35339" dir="5400000">
              <a:srgbClr val="000000">
                <a:alpha val="10196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6033" y="4514574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70678" y="0"/>
                </a:moveTo>
                <a:lnTo>
                  <a:pt x="282713" y="0"/>
                </a:lnTo>
                <a:cubicBezTo>
                  <a:pt x="321721" y="0"/>
                  <a:pt x="353391" y="31670"/>
                  <a:pt x="353391" y="70678"/>
                </a:cubicBezTo>
                <a:lnTo>
                  <a:pt x="353391" y="282713"/>
                </a:lnTo>
                <a:cubicBezTo>
                  <a:pt x="353391" y="321721"/>
                  <a:pt x="321721" y="353391"/>
                  <a:pt x="282713" y="353391"/>
                </a:cubicBezTo>
                <a:lnTo>
                  <a:pt x="70678" y="353391"/>
                </a:lnTo>
                <a:cubicBezTo>
                  <a:pt x="31670" y="353391"/>
                  <a:pt x="0" y="321721"/>
                  <a:pt x="0" y="282713"/>
                </a:cubicBezTo>
                <a:lnTo>
                  <a:pt x="0" y="70678"/>
                </a:lnTo>
                <a:cubicBezTo>
                  <a:pt x="0" y="31670"/>
                  <a:pt x="31670" y="0"/>
                  <a:pt x="70678" y="0"/>
                </a:cubicBezTo>
                <a:close/>
              </a:path>
            </a:pathLst>
          </a:custGeom>
          <a:solidFill>
            <a:srgbClr val="4A6D7C">
              <a:alpha val="10196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405424" y="4611757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79513" y="159026"/>
                </a:moveTo>
                <a:cubicBezTo>
                  <a:pt x="123397" y="159026"/>
                  <a:pt x="159026" y="123397"/>
                  <a:pt x="159026" y="79513"/>
                </a:cubicBezTo>
                <a:cubicBezTo>
                  <a:pt x="159026" y="35629"/>
                  <a:pt x="123397" y="0"/>
                  <a:pt x="79513" y="0"/>
                </a:cubicBezTo>
                <a:cubicBezTo>
                  <a:pt x="35629" y="0"/>
                  <a:pt x="0" y="35629"/>
                  <a:pt x="0" y="79513"/>
                </a:cubicBezTo>
                <a:cubicBezTo>
                  <a:pt x="0" y="123397"/>
                  <a:pt x="35629" y="159026"/>
                  <a:pt x="79513" y="159026"/>
                </a:cubicBezTo>
                <a:close/>
                <a:moveTo>
                  <a:pt x="105728" y="66064"/>
                </a:moveTo>
                <a:lnTo>
                  <a:pt x="80880" y="105821"/>
                </a:lnTo>
                <a:cubicBezTo>
                  <a:pt x="79575" y="107902"/>
                  <a:pt x="77339" y="109206"/>
                  <a:pt x="74885" y="109330"/>
                </a:cubicBezTo>
                <a:cubicBezTo>
                  <a:pt x="72431" y="109455"/>
                  <a:pt x="70071" y="108337"/>
                  <a:pt x="68611" y="106349"/>
                </a:cubicBezTo>
                <a:lnTo>
                  <a:pt x="53702" y="86470"/>
                </a:lnTo>
                <a:cubicBezTo>
                  <a:pt x="51218" y="83178"/>
                  <a:pt x="51901" y="78519"/>
                  <a:pt x="55193" y="76034"/>
                </a:cubicBezTo>
                <a:cubicBezTo>
                  <a:pt x="58486" y="73550"/>
                  <a:pt x="63145" y="74233"/>
                  <a:pt x="65629" y="77525"/>
                </a:cubicBezTo>
                <a:lnTo>
                  <a:pt x="74015" y="88707"/>
                </a:lnTo>
                <a:lnTo>
                  <a:pt x="93086" y="58175"/>
                </a:lnTo>
                <a:cubicBezTo>
                  <a:pt x="95260" y="54696"/>
                  <a:pt x="99857" y="53609"/>
                  <a:pt x="103367" y="55814"/>
                </a:cubicBezTo>
                <a:cubicBezTo>
                  <a:pt x="106877" y="58020"/>
                  <a:pt x="107933" y="62585"/>
                  <a:pt x="105728" y="66095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25" name="Text 22"/>
          <p:cNvSpPr/>
          <p:nvPr/>
        </p:nvSpPr>
        <p:spPr>
          <a:xfrm>
            <a:off x="6765442" y="4567583"/>
            <a:ext cx="1660939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Métriques Pertinentes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06033" y="4973983"/>
            <a:ext cx="5389217" cy="530087"/>
          </a:xfrm>
          <a:custGeom>
            <a:avLst/>
            <a:gdLst/>
            <a:ahLst/>
            <a:cxnLst/>
            <a:rect l="l" t="t" r="r" b="b"/>
            <a:pathLst>
              <a:path w="5389217" h="530087">
                <a:moveTo>
                  <a:pt x="70676" y="0"/>
                </a:moveTo>
                <a:lnTo>
                  <a:pt x="5318541" y="0"/>
                </a:lnTo>
                <a:cubicBezTo>
                  <a:pt x="5357574" y="0"/>
                  <a:pt x="5389217" y="31643"/>
                  <a:pt x="5389217" y="70676"/>
                </a:cubicBezTo>
                <a:lnTo>
                  <a:pt x="5389217" y="459410"/>
                </a:lnTo>
                <a:cubicBezTo>
                  <a:pt x="5389217" y="498444"/>
                  <a:pt x="5357574" y="530087"/>
                  <a:pt x="5318541" y="530087"/>
                </a:cubicBezTo>
                <a:lnTo>
                  <a:pt x="70676" y="530087"/>
                </a:lnTo>
                <a:cubicBezTo>
                  <a:pt x="31643" y="530087"/>
                  <a:pt x="0" y="498444"/>
                  <a:pt x="0" y="459410"/>
                </a:cubicBezTo>
                <a:lnTo>
                  <a:pt x="0" y="70676"/>
                </a:lnTo>
                <a:cubicBezTo>
                  <a:pt x="0" y="31669"/>
                  <a:pt x="31669" y="0"/>
                  <a:pt x="7067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7" name="Shape 24"/>
          <p:cNvSpPr/>
          <p:nvPr/>
        </p:nvSpPr>
        <p:spPr>
          <a:xfrm>
            <a:off x="6378920" y="5071165"/>
            <a:ext cx="154609" cy="123687"/>
          </a:xfrm>
          <a:custGeom>
            <a:avLst/>
            <a:gdLst/>
            <a:ahLst/>
            <a:cxnLst/>
            <a:rect l="l" t="t" r="r" b="b"/>
            <a:pathLst>
              <a:path w="154609" h="123687">
                <a:moveTo>
                  <a:pt x="92765" y="7730"/>
                </a:moveTo>
                <a:lnTo>
                  <a:pt x="123687" y="7730"/>
                </a:lnTo>
                <a:cubicBezTo>
                  <a:pt x="127963" y="7730"/>
                  <a:pt x="131417" y="11185"/>
                  <a:pt x="131417" y="15461"/>
                </a:cubicBezTo>
                <a:cubicBezTo>
                  <a:pt x="131417" y="19737"/>
                  <a:pt x="127963" y="23191"/>
                  <a:pt x="123687" y="23191"/>
                </a:cubicBezTo>
                <a:lnTo>
                  <a:pt x="96244" y="23191"/>
                </a:lnTo>
                <a:cubicBezTo>
                  <a:pt x="94988" y="29424"/>
                  <a:pt x="90712" y="34570"/>
                  <a:pt x="85035" y="37034"/>
                </a:cubicBezTo>
                <a:lnTo>
                  <a:pt x="85035" y="108226"/>
                </a:lnTo>
                <a:lnTo>
                  <a:pt x="123687" y="108226"/>
                </a:lnTo>
                <a:cubicBezTo>
                  <a:pt x="127963" y="108226"/>
                  <a:pt x="131417" y="111681"/>
                  <a:pt x="131417" y="115957"/>
                </a:cubicBezTo>
                <a:cubicBezTo>
                  <a:pt x="131417" y="120232"/>
                  <a:pt x="127963" y="123687"/>
                  <a:pt x="123687" y="123687"/>
                </a:cubicBezTo>
                <a:lnTo>
                  <a:pt x="30922" y="123687"/>
                </a:lnTo>
                <a:cubicBezTo>
                  <a:pt x="26646" y="123687"/>
                  <a:pt x="23191" y="120232"/>
                  <a:pt x="23191" y="115957"/>
                </a:cubicBezTo>
                <a:cubicBezTo>
                  <a:pt x="23191" y="111681"/>
                  <a:pt x="26646" y="108226"/>
                  <a:pt x="30922" y="108226"/>
                </a:cubicBezTo>
                <a:lnTo>
                  <a:pt x="69574" y="108226"/>
                </a:lnTo>
                <a:lnTo>
                  <a:pt x="69574" y="37034"/>
                </a:lnTo>
                <a:cubicBezTo>
                  <a:pt x="63897" y="34545"/>
                  <a:pt x="59621" y="29400"/>
                  <a:pt x="58365" y="23191"/>
                </a:cubicBezTo>
                <a:lnTo>
                  <a:pt x="30922" y="23191"/>
                </a:lnTo>
                <a:cubicBezTo>
                  <a:pt x="26646" y="23191"/>
                  <a:pt x="23191" y="19737"/>
                  <a:pt x="23191" y="15461"/>
                </a:cubicBezTo>
                <a:cubicBezTo>
                  <a:pt x="23191" y="11185"/>
                  <a:pt x="26646" y="7730"/>
                  <a:pt x="30922" y="7730"/>
                </a:cubicBezTo>
                <a:lnTo>
                  <a:pt x="61843" y="7730"/>
                </a:lnTo>
                <a:cubicBezTo>
                  <a:pt x="65370" y="3044"/>
                  <a:pt x="70975" y="0"/>
                  <a:pt x="77304" y="0"/>
                </a:cubicBezTo>
                <a:cubicBezTo>
                  <a:pt x="83634" y="0"/>
                  <a:pt x="89238" y="3044"/>
                  <a:pt x="92765" y="7730"/>
                </a:cubicBezTo>
                <a:close/>
                <a:moveTo>
                  <a:pt x="106197" y="77304"/>
                </a:moveTo>
                <a:lnTo>
                  <a:pt x="141177" y="77304"/>
                </a:lnTo>
                <a:lnTo>
                  <a:pt x="123687" y="47301"/>
                </a:lnTo>
                <a:lnTo>
                  <a:pt x="106197" y="77304"/>
                </a:lnTo>
                <a:close/>
                <a:moveTo>
                  <a:pt x="123687" y="100496"/>
                </a:moveTo>
                <a:cubicBezTo>
                  <a:pt x="108492" y="100496"/>
                  <a:pt x="95857" y="92282"/>
                  <a:pt x="93248" y="81435"/>
                </a:cubicBezTo>
                <a:cubicBezTo>
                  <a:pt x="92620" y="78778"/>
                  <a:pt x="93490" y="76048"/>
                  <a:pt x="94867" y="73681"/>
                </a:cubicBezTo>
                <a:lnTo>
                  <a:pt x="117865" y="34255"/>
                </a:lnTo>
                <a:cubicBezTo>
                  <a:pt x="119073" y="32178"/>
                  <a:pt x="121295" y="30922"/>
                  <a:pt x="123687" y="30922"/>
                </a:cubicBezTo>
                <a:cubicBezTo>
                  <a:pt x="126079" y="30922"/>
                  <a:pt x="128301" y="32202"/>
                  <a:pt x="129509" y="34255"/>
                </a:cubicBezTo>
                <a:lnTo>
                  <a:pt x="152507" y="73681"/>
                </a:lnTo>
                <a:cubicBezTo>
                  <a:pt x="153884" y="76048"/>
                  <a:pt x="154754" y="78778"/>
                  <a:pt x="154126" y="81435"/>
                </a:cubicBezTo>
                <a:cubicBezTo>
                  <a:pt x="151517" y="92258"/>
                  <a:pt x="138882" y="100496"/>
                  <a:pt x="123687" y="100496"/>
                </a:cubicBezTo>
                <a:close/>
                <a:moveTo>
                  <a:pt x="30632" y="47301"/>
                </a:moveTo>
                <a:lnTo>
                  <a:pt x="13142" y="77304"/>
                </a:lnTo>
                <a:lnTo>
                  <a:pt x="48146" y="77304"/>
                </a:lnTo>
                <a:lnTo>
                  <a:pt x="30632" y="47301"/>
                </a:lnTo>
                <a:close/>
                <a:moveTo>
                  <a:pt x="217" y="81435"/>
                </a:moveTo>
                <a:cubicBezTo>
                  <a:pt x="-411" y="78778"/>
                  <a:pt x="459" y="76048"/>
                  <a:pt x="1836" y="73681"/>
                </a:cubicBezTo>
                <a:lnTo>
                  <a:pt x="24834" y="34255"/>
                </a:lnTo>
                <a:cubicBezTo>
                  <a:pt x="26042" y="32178"/>
                  <a:pt x="28264" y="30922"/>
                  <a:pt x="30656" y="30922"/>
                </a:cubicBezTo>
                <a:cubicBezTo>
                  <a:pt x="33048" y="30922"/>
                  <a:pt x="35270" y="32202"/>
                  <a:pt x="36478" y="34255"/>
                </a:cubicBezTo>
                <a:lnTo>
                  <a:pt x="59476" y="73681"/>
                </a:lnTo>
                <a:cubicBezTo>
                  <a:pt x="60853" y="76048"/>
                  <a:pt x="61723" y="78778"/>
                  <a:pt x="61095" y="81435"/>
                </a:cubicBezTo>
                <a:cubicBezTo>
                  <a:pt x="58486" y="92258"/>
                  <a:pt x="45851" y="100496"/>
                  <a:pt x="30656" y="100496"/>
                </a:cubicBezTo>
                <a:cubicBezTo>
                  <a:pt x="15461" y="100496"/>
                  <a:pt x="2826" y="92282"/>
                  <a:pt x="217" y="81435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28" name="Text 25"/>
          <p:cNvSpPr/>
          <p:nvPr/>
        </p:nvSpPr>
        <p:spPr>
          <a:xfrm>
            <a:off x="6584905" y="5044661"/>
            <a:ext cx="510151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F1-Score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376711" y="5256696"/>
            <a:ext cx="530087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35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Moyenne harmonique Précision/Rappel — Équilibre entre sur/sous-diagnostic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306033" y="5570330"/>
            <a:ext cx="5389217" cy="530087"/>
          </a:xfrm>
          <a:custGeom>
            <a:avLst/>
            <a:gdLst/>
            <a:ahLst/>
            <a:cxnLst/>
            <a:rect l="l" t="t" r="r" b="b"/>
            <a:pathLst>
              <a:path w="5389217" h="530087">
                <a:moveTo>
                  <a:pt x="70676" y="0"/>
                </a:moveTo>
                <a:lnTo>
                  <a:pt x="5318541" y="0"/>
                </a:lnTo>
                <a:cubicBezTo>
                  <a:pt x="5357574" y="0"/>
                  <a:pt x="5389217" y="31643"/>
                  <a:pt x="5389217" y="70676"/>
                </a:cubicBezTo>
                <a:lnTo>
                  <a:pt x="5389217" y="459410"/>
                </a:lnTo>
                <a:cubicBezTo>
                  <a:pt x="5389217" y="498444"/>
                  <a:pt x="5357574" y="530087"/>
                  <a:pt x="5318541" y="530087"/>
                </a:cubicBezTo>
                <a:lnTo>
                  <a:pt x="70676" y="530087"/>
                </a:lnTo>
                <a:cubicBezTo>
                  <a:pt x="31643" y="530087"/>
                  <a:pt x="0" y="498444"/>
                  <a:pt x="0" y="459410"/>
                </a:cubicBezTo>
                <a:lnTo>
                  <a:pt x="0" y="70676"/>
                </a:lnTo>
                <a:cubicBezTo>
                  <a:pt x="0" y="31669"/>
                  <a:pt x="31669" y="0"/>
                  <a:pt x="7067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1" name="Shape 28"/>
          <p:cNvSpPr/>
          <p:nvPr/>
        </p:nvSpPr>
        <p:spPr>
          <a:xfrm>
            <a:off x="6394381" y="5667513"/>
            <a:ext cx="123687" cy="123687"/>
          </a:xfrm>
          <a:custGeom>
            <a:avLst/>
            <a:gdLst/>
            <a:ahLst/>
            <a:cxnLst/>
            <a:rect l="l" t="t" r="r" b="b"/>
            <a:pathLst>
              <a:path w="123687" h="123687">
                <a:moveTo>
                  <a:pt x="15461" y="15461"/>
                </a:moveTo>
                <a:cubicBezTo>
                  <a:pt x="15461" y="11185"/>
                  <a:pt x="12006" y="7730"/>
                  <a:pt x="7730" y="7730"/>
                </a:cubicBezTo>
                <a:cubicBezTo>
                  <a:pt x="3455" y="7730"/>
                  <a:pt x="0" y="11185"/>
                  <a:pt x="0" y="15461"/>
                </a:cubicBezTo>
                <a:lnTo>
                  <a:pt x="0" y="96630"/>
                </a:lnTo>
                <a:cubicBezTo>
                  <a:pt x="0" y="107308"/>
                  <a:pt x="8648" y="115957"/>
                  <a:pt x="19326" y="115957"/>
                </a:cubicBezTo>
                <a:lnTo>
                  <a:pt x="115957" y="115957"/>
                </a:lnTo>
                <a:cubicBezTo>
                  <a:pt x="120232" y="115957"/>
                  <a:pt x="123687" y="112502"/>
                  <a:pt x="123687" y="108226"/>
                </a:cubicBezTo>
                <a:cubicBezTo>
                  <a:pt x="123687" y="103950"/>
                  <a:pt x="120232" y="100496"/>
                  <a:pt x="115957" y="100496"/>
                </a:cubicBezTo>
                <a:lnTo>
                  <a:pt x="19326" y="100496"/>
                </a:lnTo>
                <a:cubicBezTo>
                  <a:pt x="17200" y="100496"/>
                  <a:pt x="15461" y="98756"/>
                  <a:pt x="15461" y="96630"/>
                </a:cubicBezTo>
                <a:lnTo>
                  <a:pt x="15461" y="15461"/>
                </a:lnTo>
                <a:close/>
                <a:moveTo>
                  <a:pt x="113686" y="36381"/>
                </a:moveTo>
                <a:cubicBezTo>
                  <a:pt x="116705" y="33362"/>
                  <a:pt x="116705" y="28458"/>
                  <a:pt x="113686" y="25438"/>
                </a:cubicBezTo>
                <a:cubicBezTo>
                  <a:pt x="110666" y="22418"/>
                  <a:pt x="105762" y="22418"/>
                  <a:pt x="102742" y="25438"/>
                </a:cubicBezTo>
                <a:lnTo>
                  <a:pt x="77304" y="50900"/>
                </a:lnTo>
                <a:lnTo>
                  <a:pt x="63438" y="37058"/>
                </a:lnTo>
                <a:cubicBezTo>
                  <a:pt x="60418" y="34038"/>
                  <a:pt x="55514" y="34038"/>
                  <a:pt x="52494" y="37058"/>
                </a:cubicBezTo>
                <a:lnTo>
                  <a:pt x="29303" y="60249"/>
                </a:lnTo>
                <a:cubicBezTo>
                  <a:pt x="26283" y="63269"/>
                  <a:pt x="26283" y="68173"/>
                  <a:pt x="29303" y="71192"/>
                </a:cubicBezTo>
                <a:cubicBezTo>
                  <a:pt x="32323" y="74212"/>
                  <a:pt x="37227" y="74212"/>
                  <a:pt x="40247" y="71192"/>
                </a:cubicBezTo>
                <a:lnTo>
                  <a:pt x="57978" y="53461"/>
                </a:lnTo>
                <a:lnTo>
                  <a:pt x="71845" y="67327"/>
                </a:lnTo>
                <a:cubicBezTo>
                  <a:pt x="74864" y="70347"/>
                  <a:pt x="79768" y="70347"/>
                  <a:pt x="82788" y="67327"/>
                </a:cubicBezTo>
                <a:lnTo>
                  <a:pt x="113710" y="36406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32" name="Text 29"/>
          <p:cNvSpPr/>
          <p:nvPr/>
        </p:nvSpPr>
        <p:spPr>
          <a:xfrm>
            <a:off x="6584905" y="5641009"/>
            <a:ext cx="510151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AUC-ROC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376711" y="5853043"/>
            <a:ext cx="530087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35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Discrimination indépendante du seuil — Capacité à séparer malades/sains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10451" y="6171096"/>
            <a:ext cx="5380383" cy="538922"/>
          </a:xfrm>
          <a:custGeom>
            <a:avLst/>
            <a:gdLst/>
            <a:ahLst/>
            <a:cxnLst/>
            <a:rect l="l" t="t" r="r" b="b"/>
            <a:pathLst>
              <a:path w="5380383" h="538922">
                <a:moveTo>
                  <a:pt x="70680" y="0"/>
                </a:moveTo>
                <a:lnTo>
                  <a:pt x="5309703" y="0"/>
                </a:lnTo>
                <a:cubicBezTo>
                  <a:pt x="5348738" y="0"/>
                  <a:pt x="5380383" y="31644"/>
                  <a:pt x="5380383" y="70680"/>
                </a:cubicBezTo>
                <a:lnTo>
                  <a:pt x="5380383" y="468242"/>
                </a:lnTo>
                <a:cubicBezTo>
                  <a:pt x="5380383" y="507277"/>
                  <a:pt x="5348738" y="538922"/>
                  <a:pt x="5309703" y="538922"/>
                </a:cubicBezTo>
                <a:lnTo>
                  <a:pt x="70680" y="538922"/>
                </a:lnTo>
                <a:cubicBezTo>
                  <a:pt x="31670" y="538922"/>
                  <a:pt x="0" y="507251"/>
                  <a:pt x="0" y="468242"/>
                </a:cubicBezTo>
                <a:lnTo>
                  <a:pt x="0" y="70680"/>
                </a:lnTo>
                <a:cubicBezTo>
                  <a:pt x="0" y="31670"/>
                  <a:pt x="31670" y="0"/>
                  <a:pt x="70680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 w="12700">
            <a:solidFill>
              <a:srgbClr val="D95D5D">
                <a:alpha val="30196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03216" y="6272696"/>
            <a:ext cx="123687" cy="123687"/>
          </a:xfrm>
          <a:custGeom>
            <a:avLst/>
            <a:gdLst/>
            <a:ahLst/>
            <a:cxnLst/>
            <a:rect l="l" t="t" r="r" b="b"/>
            <a:pathLst>
              <a:path w="123687" h="123687">
                <a:moveTo>
                  <a:pt x="108226" y="61843"/>
                </a:moveTo>
                <a:cubicBezTo>
                  <a:pt x="108226" y="36244"/>
                  <a:pt x="87443" y="15461"/>
                  <a:pt x="61843" y="15461"/>
                </a:cubicBezTo>
                <a:cubicBezTo>
                  <a:pt x="36244" y="15461"/>
                  <a:pt x="15461" y="36244"/>
                  <a:pt x="15461" y="61843"/>
                </a:cubicBezTo>
                <a:cubicBezTo>
                  <a:pt x="15461" y="87443"/>
                  <a:pt x="36244" y="108226"/>
                  <a:pt x="61843" y="108226"/>
                </a:cubicBezTo>
                <a:cubicBezTo>
                  <a:pt x="87443" y="108226"/>
                  <a:pt x="108226" y="87443"/>
                  <a:pt x="108226" y="61843"/>
                </a:cubicBezTo>
                <a:close/>
                <a:moveTo>
                  <a:pt x="0" y="61843"/>
                </a:moveTo>
                <a:cubicBezTo>
                  <a:pt x="0" y="27711"/>
                  <a:pt x="27711" y="0"/>
                  <a:pt x="61843" y="0"/>
                </a:cubicBezTo>
                <a:cubicBezTo>
                  <a:pt x="95976" y="0"/>
                  <a:pt x="123687" y="27711"/>
                  <a:pt x="123687" y="61843"/>
                </a:cubicBezTo>
                <a:cubicBezTo>
                  <a:pt x="123687" y="95976"/>
                  <a:pt x="95976" y="123687"/>
                  <a:pt x="61843" y="123687"/>
                </a:cubicBezTo>
                <a:cubicBezTo>
                  <a:pt x="27711" y="123687"/>
                  <a:pt x="0" y="95976"/>
                  <a:pt x="0" y="61843"/>
                </a:cubicBezTo>
                <a:close/>
                <a:moveTo>
                  <a:pt x="61843" y="81170"/>
                </a:moveTo>
                <a:cubicBezTo>
                  <a:pt x="72510" y="81170"/>
                  <a:pt x="81170" y="72510"/>
                  <a:pt x="81170" y="61843"/>
                </a:cubicBezTo>
                <a:cubicBezTo>
                  <a:pt x="81170" y="51177"/>
                  <a:pt x="72510" y="42517"/>
                  <a:pt x="61843" y="42517"/>
                </a:cubicBezTo>
                <a:cubicBezTo>
                  <a:pt x="51177" y="42517"/>
                  <a:pt x="42517" y="51177"/>
                  <a:pt x="42517" y="61843"/>
                </a:cubicBezTo>
                <a:cubicBezTo>
                  <a:pt x="42517" y="72510"/>
                  <a:pt x="51177" y="81170"/>
                  <a:pt x="61843" y="81170"/>
                </a:cubicBezTo>
                <a:close/>
                <a:moveTo>
                  <a:pt x="61843" y="27057"/>
                </a:moveTo>
                <a:cubicBezTo>
                  <a:pt x="81043" y="27057"/>
                  <a:pt x="96630" y="42644"/>
                  <a:pt x="96630" y="61843"/>
                </a:cubicBezTo>
                <a:cubicBezTo>
                  <a:pt x="96630" y="81043"/>
                  <a:pt x="81043" y="96630"/>
                  <a:pt x="61843" y="96630"/>
                </a:cubicBezTo>
                <a:cubicBezTo>
                  <a:pt x="42644" y="96630"/>
                  <a:pt x="27057" y="81043"/>
                  <a:pt x="27057" y="61843"/>
                </a:cubicBezTo>
                <a:cubicBezTo>
                  <a:pt x="27057" y="42644"/>
                  <a:pt x="42644" y="27057"/>
                  <a:pt x="61843" y="27057"/>
                </a:cubicBezTo>
                <a:close/>
                <a:moveTo>
                  <a:pt x="54113" y="61843"/>
                </a:moveTo>
                <a:cubicBezTo>
                  <a:pt x="54113" y="57577"/>
                  <a:pt x="57577" y="54113"/>
                  <a:pt x="61843" y="54113"/>
                </a:cubicBezTo>
                <a:cubicBezTo>
                  <a:pt x="66110" y="54113"/>
                  <a:pt x="69574" y="57577"/>
                  <a:pt x="69574" y="61843"/>
                </a:cubicBezTo>
                <a:cubicBezTo>
                  <a:pt x="69574" y="66110"/>
                  <a:pt x="66110" y="69574"/>
                  <a:pt x="61843" y="69574"/>
                </a:cubicBezTo>
                <a:cubicBezTo>
                  <a:pt x="57577" y="69574"/>
                  <a:pt x="54113" y="66110"/>
                  <a:pt x="54113" y="61843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36" name="Text 33"/>
          <p:cNvSpPr/>
          <p:nvPr/>
        </p:nvSpPr>
        <p:spPr>
          <a:xfrm>
            <a:off x="6593740" y="6246191"/>
            <a:ext cx="508384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Rappel (Sensibilité)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385546" y="6458226"/>
            <a:ext cx="52832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35" b="1" dirty="0">
                <a:solidFill>
                  <a:srgbClr val="D95D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CRITIQUE</a:t>
            </a:r>
            <a:pPr>
              <a:lnSpc>
                <a:spcPct val="140000"/>
              </a:lnSpc>
            </a:pPr>
            <a:r>
              <a:rPr lang="en-US" sz="835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Ne pas manquer de cas — Priorité clinique absolue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6644" y="375641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97993" y="0"/>
                </a:moveTo>
                <a:lnTo>
                  <a:pt x="293980" y="0"/>
                </a:lnTo>
                <a:cubicBezTo>
                  <a:pt x="348064" y="0"/>
                  <a:pt x="391973" y="43909"/>
                  <a:pt x="391973" y="97993"/>
                </a:cubicBezTo>
                <a:lnTo>
                  <a:pt x="391973" y="293980"/>
                </a:lnTo>
                <a:cubicBezTo>
                  <a:pt x="391973" y="348064"/>
                  <a:pt x="348064" y="391973"/>
                  <a:pt x="293980" y="391973"/>
                </a:cubicBezTo>
                <a:lnTo>
                  <a:pt x="97993" y="391973"/>
                </a:lnTo>
                <a:cubicBezTo>
                  <a:pt x="43909" y="391973"/>
                  <a:pt x="0" y="348064"/>
                  <a:pt x="0" y="293980"/>
                </a:cubicBezTo>
                <a:lnTo>
                  <a:pt x="0" y="97993"/>
                </a:lnTo>
                <a:cubicBezTo>
                  <a:pt x="0" y="43909"/>
                  <a:pt x="43909" y="0"/>
                  <a:pt x="97993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40970" y="489967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46030" y="0"/>
                </a:moveTo>
                <a:lnTo>
                  <a:pt x="117484" y="0"/>
                </a:lnTo>
                <a:cubicBezTo>
                  <a:pt x="125937" y="0"/>
                  <a:pt x="132827" y="6954"/>
                  <a:pt x="132508" y="15375"/>
                </a:cubicBezTo>
                <a:cubicBezTo>
                  <a:pt x="132444" y="17066"/>
                  <a:pt x="132380" y="18757"/>
                  <a:pt x="132285" y="20415"/>
                </a:cubicBezTo>
                <a:lnTo>
                  <a:pt x="148106" y="20415"/>
                </a:lnTo>
                <a:cubicBezTo>
                  <a:pt x="156432" y="20415"/>
                  <a:pt x="163769" y="27305"/>
                  <a:pt x="163131" y="36301"/>
                </a:cubicBezTo>
                <a:cubicBezTo>
                  <a:pt x="160738" y="69380"/>
                  <a:pt x="143832" y="87562"/>
                  <a:pt x="125490" y="97068"/>
                </a:cubicBezTo>
                <a:cubicBezTo>
                  <a:pt x="120450" y="99684"/>
                  <a:pt x="115314" y="101630"/>
                  <a:pt x="110434" y="103065"/>
                </a:cubicBezTo>
                <a:cubicBezTo>
                  <a:pt x="103990" y="112188"/>
                  <a:pt x="97292" y="117005"/>
                  <a:pt x="91964" y="119589"/>
                </a:cubicBezTo>
                <a:lnTo>
                  <a:pt x="91964" y="142907"/>
                </a:lnTo>
                <a:lnTo>
                  <a:pt x="112380" y="142907"/>
                </a:lnTo>
                <a:cubicBezTo>
                  <a:pt x="118026" y="142907"/>
                  <a:pt x="122587" y="147468"/>
                  <a:pt x="122587" y="153115"/>
                </a:cubicBezTo>
                <a:cubicBezTo>
                  <a:pt x="122587" y="158761"/>
                  <a:pt x="118026" y="163322"/>
                  <a:pt x="112380" y="163322"/>
                </a:cubicBezTo>
                <a:lnTo>
                  <a:pt x="51134" y="163322"/>
                </a:lnTo>
                <a:cubicBezTo>
                  <a:pt x="45488" y="163322"/>
                  <a:pt x="40926" y="158761"/>
                  <a:pt x="40926" y="153115"/>
                </a:cubicBezTo>
                <a:cubicBezTo>
                  <a:pt x="40926" y="147468"/>
                  <a:pt x="45488" y="142907"/>
                  <a:pt x="51134" y="142907"/>
                </a:cubicBezTo>
                <a:lnTo>
                  <a:pt x="71549" y="142907"/>
                </a:lnTo>
                <a:lnTo>
                  <a:pt x="71549" y="119589"/>
                </a:lnTo>
                <a:cubicBezTo>
                  <a:pt x="66445" y="117133"/>
                  <a:pt x="60097" y="112571"/>
                  <a:pt x="53909" y="104182"/>
                </a:cubicBezTo>
                <a:cubicBezTo>
                  <a:pt x="48040" y="102651"/>
                  <a:pt x="41660" y="100322"/>
                  <a:pt x="35440" y="96813"/>
                </a:cubicBezTo>
                <a:cubicBezTo>
                  <a:pt x="18182" y="87148"/>
                  <a:pt x="2616" y="68933"/>
                  <a:pt x="383" y="36237"/>
                </a:cubicBezTo>
                <a:cubicBezTo>
                  <a:pt x="-223" y="27274"/>
                  <a:pt x="7082" y="20383"/>
                  <a:pt x="15407" y="20383"/>
                </a:cubicBezTo>
                <a:lnTo>
                  <a:pt x="31229" y="20383"/>
                </a:lnTo>
                <a:cubicBezTo>
                  <a:pt x="31133" y="18725"/>
                  <a:pt x="31069" y="17066"/>
                  <a:pt x="31006" y="15343"/>
                </a:cubicBezTo>
                <a:cubicBezTo>
                  <a:pt x="30687" y="6890"/>
                  <a:pt x="37577" y="-32"/>
                  <a:pt x="46030" y="-32"/>
                </a:cubicBezTo>
                <a:close/>
                <a:moveTo>
                  <a:pt x="32377" y="35727"/>
                </a:moveTo>
                <a:lnTo>
                  <a:pt x="15662" y="35727"/>
                </a:lnTo>
                <a:cubicBezTo>
                  <a:pt x="17640" y="62745"/>
                  <a:pt x="30049" y="76270"/>
                  <a:pt x="42840" y="83447"/>
                </a:cubicBezTo>
                <a:cubicBezTo>
                  <a:pt x="38247" y="71549"/>
                  <a:pt x="34451" y="56014"/>
                  <a:pt x="32377" y="35727"/>
                </a:cubicBezTo>
                <a:close/>
                <a:moveTo>
                  <a:pt x="121216" y="81916"/>
                </a:moveTo>
                <a:cubicBezTo>
                  <a:pt x="134135" y="74324"/>
                  <a:pt x="145810" y="60831"/>
                  <a:pt x="147787" y="35727"/>
                </a:cubicBezTo>
                <a:lnTo>
                  <a:pt x="131104" y="35727"/>
                </a:lnTo>
                <a:cubicBezTo>
                  <a:pt x="129127" y="55153"/>
                  <a:pt x="125554" y="70241"/>
                  <a:pt x="121216" y="81916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4" name="Text 2"/>
          <p:cNvSpPr/>
          <p:nvPr/>
        </p:nvSpPr>
        <p:spPr>
          <a:xfrm>
            <a:off x="816611" y="326644"/>
            <a:ext cx="2939799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spc="45" kern="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Meilleur Modèle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6611" y="489967"/>
            <a:ext cx="3029626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5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Random Forest Optimisé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6644" y="1012597"/>
            <a:ext cx="5708110" cy="3233779"/>
          </a:xfrm>
          <a:custGeom>
            <a:avLst/>
            <a:gdLst/>
            <a:ahLst/>
            <a:cxnLst/>
            <a:rect l="l" t="t" r="r" b="b"/>
            <a:pathLst>
              <a:path w="5708110" h="3233779">
                <a:moveTo>
                  <a:pt x="97984" y="0"/>
                </a:moveTo>
                <a:lnTo>
                  <a:pt x="5610126" y="0"/>
                </a:lnTo>
                <a:cubicBezTo>
                  <a:pt x="5664241" y="0"/>
                  <a:pt x="5708110" y="43869"/>
                  <a:pt x="5708110" y="97984"/>
                </a:cubicBezTo>
                <a:lnTo>
                  <a:pt x="5708110" y="3135795"/>
                </a:lnTo>
                <a:cubicBezTo>
                  <a:pt x="5708110" y="3189910"/>
                  <a:pt x="5664241" y="3233779"/>
                  <a:pt x="5610126" y="3233779"/>
                </a:cubicBezTo>
                <a:lnTo>
                  <a:pt x="97984" y="3233779"/>
                </a:lnTo>
                <a:cubicBezTo>
                  <a:pt x="43869" y="3233779"/>
                  <a:pt x="0" y="3189910"/>
                  <a:pt x="0" y="3135795"/>
                </a:cubicBezTo>
                <a:lnTo>
                  <a:pt x="0" y="97984"/>
                </a:lnTo>
                <a:cubicBezTo>
                  <a:pt x="0" y="43905"/>
                  <a:pt x="43905" y="0"/>
                  <a:pt x="97984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A4A"/>
              </a:gs>
              <a:gs pos="100000">
                <a:srgbClr val="4A6D7C"/>
              </a:gs>
            </a:gsLst>
            <a:lin ang="0" scaled="1"/>
          </a:gradFill>
          <a:ln/>
          <a:effectLst>
            <a:outerShdw sx="100000" sy="100000" kx="0" ky="0" algn="bl" rotWithShape="0" blurRad="48997" dist="32664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302" y="1143255"/>
            <a:ext cx="326644" cy="326644"/>
          </a:xfrm>
          <a:custGeom>
            <a:avLst/>
            <a:gdLst/>
            <a:ahLst/>
            <a:cxnLst/>
            <a:rect l="l" t="t" r="r" b="b"/>
            <a:pathLst>
              <a:path w="326644" h="326644">
                <a:moveTo>
                  <a:pt x="65329" y="0"/>
                </a:moveTo>
                <a:lnTo>
                  <a:pt x="261315" y="0"/>
                </a:lnTo>
                <a:cubicBezTo>
                  <a:pt x="297396" y="0"/>
                  <a:pt x="326644" y="29249"/>
                  <a:pt x="326644" y="65329"/>
                </a:cubicBezTo>
                <a:lnTo>
                  <a:pt x="326644" y="261315"/>
                </a:lnTo>
                <a:cubicBezTo>
                  <a:pt x="326644" y="297396"/>
                  <a:pt x="297396" y="326644"/>
                  <a:pt x="261315" y="326644"/>
                </a:cubicBezTo>
                <a:lnTo>
                  <a:pt x="65329" y="326644"/>
                </a:lnTo>
                <a:cubicBezTo>
                  <a:pt x="29249" y="326644"/>
                  <a:pt x="0" y="297396"/>
                  <a:pt x="0" y="261315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D95D5D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9171" y="1233082"/>
            <a:ext cx="146990" cy="146990"/>
          </a:xfrm>
          <a:custGeom>
            <a:avLst/>
            <a:gdLst/>
            <a:ahLst/>
            <a:cxnLst/>
            <a:rect l="l" t="t" r="r" b="b"/>
            <a:pathLst>
              <a:path w="146990" h="146990">
                <a:moveTo>
                  <a:pt x="9187" y="18374"/>
                </a:moveTo>
                <a:cubicBezTo>
                  <a:pt x="4105" y="18374"/>
                  <a:pt x="0" y="22479"/>
                  <a:pt x="0" y="27561"/>
                </a:cubicBezTo>
                <a:cubicBezTo>
                  <a:pt x="0" y="32642"/>
                  <a:pt x="4105" y="36747"/>
                  <a:pt x="9187" y="36747"/>
                </a:cubicBezTo>
                <a:lnTo>
                  <a:pt x="34078" y="36747"/>
                </a:lnTo>
                <a:cubicBezTo>
                  <a:pt x="37609" y="44872"/>
                  <a:pt x="45705" y="50528"/>
                  <a:pt x="55121" y="50528"/>
                </a:cubicBezTo>
                <a:cubicBezTo>
                  <a:pt x="64538" y="50528"/>
                  <a:pt x="72634" y="44872"/>
                  <a:pt x="76165" y="36747"/>
                </a:cubicBezTo>
                <a:lnTo>
                  <a:pt x="137803" y="36747"/>
                </a:lnTo>
                <a:cubicBezTo>
                  <a:pt x="142885" y="36747"/>
                  <a:pt x="146990" y="32642"/>
                  <a:pt x="146990" y="27561"/>
                </a:cubicBezTo>
                <a:cubicBezTo>
                  <a:pt x="146990" y="22479"/>
                  <a:pt x="142885" y="18374"/>
                  <a:pt x="137803" y="18374"/>
                </a:cubicBezTo>
                <a:lnTo>
                  <a:pt x="76165" y="18374"/>
                </a:lnTo>
                <a:cubicBezTo>
                  <a:pt x="72634" y="10249"/>
                  <a:pt x="64538" y="4593"/>
                  <a:pt x="55121" y="4593"/>
                </a:cubicBezTo>
                <a:cubicBezTo>
                  <a:pt x="45705" y="4593"/>
                  <a:pt x="37609" y="10249"/>
                  <a:pt x="34078" y="18374"/>
                </a:cubicBezTo>
                <a:lnTo>
                  <a:pt x="9187" y="18374"/>
                </a:lnTo>
                <a:close/>
                <a:moveTo>
                  <a:pt x="9187" y="64308"/>
                </a:moveTo>
                <a:cubicBezTo>
                  <a:pt x="4105" y="64308"/>
                  <a:pt x="0" y="68413"/>
                  <a:pt x="0" y="73495"/>
                </a:cubicBezTo>
                <a:cubicBezTo>
                  <a:pt x="0" y="78576"/>
                  <a:pt x="4105" y="82682"/>
                  <a:pt x="9187" y="82682"/>
                </a:cubicBezTo>
                <a:lnTo>
                  <a:pt x="80012" y="82682"/>
                </a:lnTo>
                <a:cubicBezTo>
                  <a:pt x="83543" y="90806"/>
                  <a:pt x="91639" y="96462"/>
                  <a:pt x="101056" y="96462"/>
                </a:cubicBezTo>
                <a:cubicBezTo>
                  <a:pt x="110472" y="96462"/>
                  <a:pt x="118568" y="90806"/>
                  <a:pt x="122099" y="82682"/>
                </a:cubicBezTo>
                <a:lnTo>
                  <a:pt x="137803" y="82682"/>
                </a:lnTo>
                <a:cubicBezTo>
                  <a:pt x="142885" y="82682"/>
                  <a:pt x="146990" y="78576"/>
                  <a:pt x="146990" y="73495"/>
                </a:cubicBezTo>
                <a:cubicBezTo>
                  <a:pt x="146990" y="68413"/>
                  <a:pt x="142885" y="64308"/>
                  <a:pt x="137803" y="64308"/>
                </a:cubicBezTo>
                <a:lnTo>
                  <a:pt x="122099" y="64308"/>
                </a:lnTo>
                <a:cubicBezTo>
                  <a:pt x="118568" y="56183"/>
                  <a:pt x="110472" y="50528"/>
                  <a:pt x="101056" y="50528"/>
                </a:cubicBezTo>
                <a:cubicBezTo>
                  <a:pt x="91639" y="50528"/>
                  <a:pt x="83543" y="56183"/>
                  <a:pt x="80012" y="64308"/>
                </a:cubicBezTo>
                <a:lnTo>
                  <a:pt x="9187" y="64308"/>
                </a:lnTo>
                <a:close/>
                <a:moveTo>
                  <a:pt x="9187" y="110242"/>
                </a:moveTo>
                <a:cubicBezTo>
                  <a:pt x="4105" y="110242"/>
                  <a:pt x="0" y="114348"/>
                  <a:pt x="0" y="119429"/>
                </a:cubicBezTo>
                <a:cubicBezTo>
                  <a:pt x="0" y="124511"/>
                  <a:pt x="4105" y="128616"/>
                  <a:pt x="9187" y="128616"/>
                </a:cubicBezTo>
                <a:lnTo>
                  <a:pt x="24891" y="128616"/>
                </a:lnTo>
                <a:cubicBezTo>
                  <a:pt x="28422" y="136741"/>
                  <a:pt x="36518" y="142397"/>
                  <a:pt x="45934" y="142397"/>
                </a:cubicBezTo>
                <a:cubicBezTo>
                  <a:pt x="55351" y="142397"/>
                  <a:pt x="63447" y="136741"/>
                  <a:pt x="66978" y="128616"/>
                </a:cubicBezTo>
                <a:lnTo>
                  <a:pt x="137803" y="128616"/>
                </a:lnTo>
                <a:cubicBezTo>
                  <a:pt x="142885" y="128616"/>
                  <a:pt x="146990" y="124511"/>
                  <a:pt x="146990" y="119429"/>
                </a:cubicBezTo>
                <a:cubicBezTo>
                  <a:pt x="146990" y="114348"/>
                  <a:pt x="142885" y="110242"/>
                  <a:pt x="137803" y="110242"/>
                </a:cubicBezTo>
                <a:lnTo>
                  <a:pt x="66978" y="110242"/>
                </a:lnTo>
                <a:cubicBezTo>
                  <a:pt x="63447" y="102118"/>
                  <a:pt x="55351" y="96462"/>
                  <a:pt x="45934" y="96462"/>
                </a:cubicBezTo>
                <a:cubicBezTo>
                  <a:pt x="36518" y="96462"/>
                  <a:pt x="28422" y="102118"/>
                  <a:pt x="24891" y="110242"/>
                </a:cubicBezTo>
                <a:lnTo>
                  <a:pt x="9187" y="110242"/>
                </a:ln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9" name="Text 7"/>
          <p:cNvSpPr/>
          <p:nvPr/>
        </p:nvSpPr>
        <p:spPr>
          <a:xfrm>
            <a:off x="881940" y="1192252"/>
            <a:ext cx="1870039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Hyperparamètres Optimaux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302" y="1567893"/>
            <a:ext cx="5503957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Trouvés via RandomizedSearchCV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302" y="1829208"/>
            <a:ext cx="5446794" cy="326644"/>
          </a:xfrm>
          <a:custGeom>
            <a:avLst/>
            <a:gdLst/>
            <a:ahLst/>
            <a:cxnLst/>
            <a:rect l="l" t="t" r="r" b="b"/>
            <a:pathLst>
              <a:path w="5446794" h="326644">
                <a:moveTo>
                  <a:pt x="65329" y="0"/>
                </a:moveTo>
                <a:lnTo>
                  <a:pt x="5381466" y="0"/>
                </a:lnTo>
                <a:cubicBezTo>
                  <a:pt x="5417546" y="0"/>
                  <a:pt x="5446794" y="29249"/>
                  <a:pt x="5446794" y="65329"/>
                </a:cubicBezTo>
                <a:lnTo>
                  <a:pt x="5446794" y="261315"/>
                </a:lnTo>
                <a:cubicBezTo>
                  <a:pt x="5446794" y="297396"/>
                  <a:pt x="5417546" y="326644"/>
                  <a:pt x="5381466" y="326644"/>
                </a:cubicBezTo>
                <a:lnTo>
                  <a:pt x="65329" y="326644"/>
                </a:lnTo>
                <a:cubicBezTo>
                  <a:pt x="29249" y="326644"/>
                  <a:pt x="0" y="297396"/>
                  <a:pt x="0" y="261315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22631" y="1910869"/>
            <a:ext cx="80844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n_estimators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92189" y="1894537"/>
            <a:ext cx="310312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D95D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302" y="2221182"/>
            <a:ext cx="5446794" cy="326644"/>
          </a:xfrm>
          <a:custGeom>
            <a:avLst/>
            <a:gdLst/>
            <a:ahLst/>
            <a:cxnLst/>
            <a:rect l="l" t="t" r="r" b="b"/>
            <a:pathLst>
              <a:path w="5446794" h="326644">
                <a:moveTo>
                  <a:pt x="65329" y="0"/>
                </a:moveTo>
                <a:lnTo>
                  <a:pt x="5381466" y="0"/>
                </a:lnTo>
                <a:cubicBezTo>
                  <a:pt x="5417546" y="0"/>
                  <a:pt x="5446794" y="29249"/>
                  <a:pt x="5446794" y="65329"/>
                </a:cubicBezTo>
                <a:lnTo>
                  <a:pt x="5446794" y="261315"/>
                </a:lnTo>
                <a:cubicBezTo>
                  <a:pt x="5446794" y="297396"/>
                  <a:pt x="5417546" y="326644"/>
                  <a:pt x="5381466" y="326644"/>
                </a:cubicBezTo>
                <a:lnTo>
                  <a:pt x="65329" y="326644"/>
                </a:lnTo>
                <a:cubicBezTo>
                  <a:pt x="29249" y="326644"/>
                  <a:pt x="0" y="297396"/>
                  <a:pt x="0" y="261315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22631" y="2302843"/>
            <a:ext cx="620624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max_depth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00390" y="2286510"/>
            <a:ext cx="204153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D95D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302" y="2613155"/>
            <a:ext cx="5446794" cy="326644"/>
          </a:xfrm>
          <a:custGeom>
            <a:avLst/>
            <a:gdLst/>
            <a:ahLst/>
            <a:cxnLst/>
            <a:rect l="l" t="t" r="r" b="b"/>
            <a:pathLst>
              <a:path w="5446794" h="326644">
                <a:moveTo>
                  <a:pt x="65329" y="0"/>
                </a:moveTo>
                <a:lnTo>
                  <a:pt x="5381466" y="0"/>
                </a:lnTo>
                <a:cubicBezTo>
                  <a:pt x="5417546" y="0"/>
                  <a:pt x="5446794" y="29249"/>
                  <a:pt x="5446794" y="65329"/>
                </a:cubicBezTo>
                <a:lnTo>
                  <a:pt x="5446794" y="261315"/>
                </a:lnTo>
                <a:cubicBezTo>
                  <a:pt x="5446794" y="297396"/>
                  <a:pt x="5417546" y="326644"/>
                  <a:pt x="5381466" y="326644"/>
                </a:cubicBezTo>
                <a:lnTo>
                  <a:pt x="65329" y="326644"/>
                </a:lnTo>
                <a:cubicBezTo>
                  <a:pt x="29249" y="326644"/>
                  <a:pt x="0" y="297396"/>
                  <a:pt x="0" y="261315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22631" y="2694816"/>
            <a:ext cx="1126923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min_samples_split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43" y="2678484"/>
            <a:ext cx="13882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D95D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302" y="3005128"/>
            <a:ext cx="5446794" cy="326644"/>
          </a:xfrm>
          <a:custGeom>
            <a:avLst/>
            <a:gdLst/>
            <a:ahLst/>
            <a:cxnLst/>
            <a:rect l="l" t="t" r="r" b="b"/>
            <a:pathLst>
              <a:path w="5446794" h="326644">
                <a:moveTo>
                  <a:pt x="65329" y="0"/>
                </a:moveTo>
                <a:lnTo>
                  <a:pt x="5381466" y="0"/>
                </a:lnTo>
                <a:cubicBezTo>
                  <a:pt x="5417546" y="0"/>
                  <a:pt x="5446794" y="29249"/>
                  <a:pt x="5446794" y="65329"/>
                </a:cubicBezTo>
                <a:lnTo>
                  <a:pt x="5446794" y="261315"/>
                </a:lnTo>
                <a:cubicBezTo>
                  <a:pt x="5446794" y="297396"/>
                  <a:pt x="5417546" y="326644"/>
                  <a:pt x="5381466" y="326644"/>
                </a:cubicBezTo>
                <a:lnTo>
                  <a:pt x="65329" y="326644"/>
                </a:lnTo>
                <a:cubicBezTo>
                  <a:pt x="29249" y="326644"/>
                  <a:pt x="0" y="297396"/>
                  <a:pt x="0" y="261315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22631" y="3086789"/>
            <a:ext cx="1061594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min_samples_leaf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58893" y="3070457"/>
            <a:ext cx="13882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D95D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302" y="3397101"/>
            <a:ext cx="5446794" cy="326644"/>
          </a:xfrm>
          <a:custGeom>
            <a:avLst/>
            <a:gdLst/>
            <a:ahLst/>
            <a:cxnLst/>
            <a:rect l="l" t="t" r="r" b="b"/>
            <a:pathLst>
              <a:path w="5446794" h="326644">
                <a:moveTo>
                  <a:pt x="65329" y="0"/>
                </a:moveTo>
                <a:lnTo>
                  <a:pt x="5381466" y="0"/>
                </a:lnTo>
                <a:cubicBezTo>
                  <a:pt x="5417546" y="0"/>
                  <a:pt x="5446794" y="29249"/>
                  <a:pt x="5446794" y="65329"/>
                </a:cubicBezTo>
                <a:lnTo>
                  <a:pt x="5446794" y="261315"/>
                </a:lnTo>
                <a:cubicBezTo>
                  <a:pt x="5446794" y="297396"/>
                  <a:pt x="5417546" y="326644"/>
                  <a:pt x="5381466" y="326644"/>
                </a:cubicBezTo>
                <a:lnTo>
                  <a:pt x="65329" y="326644"/>
                </a:lnTo>
                <a:cubicBezTo>
                  <a:pt x="29249" y="326644"/>
                  <a:pt x="0" y="297396"/>
                  <a:pt x="0" y="261315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22631" y="3478762"/>
            <a:ext cx="80844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max_features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07373" y="3462430"/>
            <a:ext cx="293980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D95D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sqrt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302" y="3789074"/>
            <a:ext cx="5446794" cy="326644"/>
          </a:xfrm>
          <a:custGeom>
            <a:avLst/>
            <a:gdLst/>
            <a:ahLst/>
            <a:cxnLst/>
            <a:rect l="l" t="t" r="r" b="b"/>
            <a:pathLst>
              <a:path w="5446794" h="326644">
                <a:moveTo>
                  <a:pt x="65329" y="0"/>
                </a:moveTo>
                <a:lnTo>
                  <a:pt x="5381466" y="0"/>
                </a:lnTo>
                <a:cubicBezTo>
                  <a:pt x="5417546" y="0"/>
                  <a:pt x="5446794" y="29249"/>
                  <a:pt x="5446794" y="65329"/>
                </a:cubicBezTo>
                <a:lnTo>
                  <a:pt x="5446794" y="261315"/>
                </a:lnTo>
                <a:cubicBezTo>
                  <a:pt x="5446794" y="297396"/>
                  <a:pt x="5417546" y="326644"/>
                  <a:pt x="5381466" y="326644"/>
                </a:cubicBezTo>
                <a:lnTo>
                  <a:pt x="65329" y="326644"/>
                </a:lnTo>
                <a:cubicBezTo>
                  <a:pt x="29249" y="326644"/>
                  <a:pt x="0" y="297396"/>
                  <a:pt x="0" y="261315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22631" y="3870735"/>
            <a:ext cx="80844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class_weight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10203" y="3854403"/>
            <a:ext cx="587960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D95D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6644" y="4377034"/>
            <a:ext cx="5708110" cy="2482497"/>
          </a:xfrm>
          <a:custGeom>
            <a:avLst/>
            <a:gdLst/>
            <a:ahLst/>
            <a:cxnLst/>
            <a:rect l="l" t="t" r="r" b="b"/>
            <a:pathLst>
              <a:path w="5708110" h="2482497">
                <a:moveTo>
                  <a:pt x="97984" y="0"/>
                </a:moveTo>
                <a:lnTo>
                  <a:pt x="5610126" y="0"/>
                </a:lnTo>
                <a:cubicBezTo>
                  <a:pt x="5664241" y="0"/>
                  <a:pt x="5708110" y="43869"/>
                  <a:pt x="5708110" y="97984"/>
                </a:cubicBezTo>
                <a:lnTo>
                  <a:pt x="5708110" y="2384513"/>
                </a:lnTo>
                <a:cubicBezTo>
                  <a:pt x="5708110" y="2438628"/>
                  <a:pt x="5664241" y="2482497"/>
                  <a:pt x="5610126" y="2482497"/>
                </a:cubicBezTo>
                <a:lnTo>
                  <a:pt x="97984" y="2482497"/>
                </a:lnTo>
                <a:cubicBezTo>
                  <a:pt x="43869" y="2482497"/>
                  <a:pt x="0" y="2438628"/>
                  <a:pt x="0" y="2384513"/>
                </a:cubicBezTo>
                <a:lnTo>
                  <a:pt x="0" y="97984"/>
                </a:lnTo>
                <a:cubicBezTo>
                  <a:pt x="0" y="43869"/>
                  <a:pt x="43869" y="0"/>
                  <a:pt x="979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8997" dist="32664" dir="540000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302" y="4507692"/>
            <a:ext cx="326644" cy="326644"/>
          </a:xfrm>
          <a:custGeom>
            <a:avLst/>
            <a:gdLst/>
            <a:ahLst/>
            <a:cxnLst/>
            <a:rect l="l" t="t" r="r" b="b"/>
            <a:pathLst>
              <a:path w="326644" h="326644">
                <a:moveTo>
                  <a:pt x="65329" y="0"/>
                </a:moveTo>
                <a:lnTo>
                  <a:pt x="261315" y="0"/>
                </a:lnTo>
                <a:cubicBezTo>
                  <a:pt x="297396" y="0"/>
                  <a:pt x="326644" y="29249"/>
                  <a:pt x="326644" y="65329"/>
                </a:cubicBezTo>
                <a:lnTo>
                  <a:pt x="326644" y="261315"/>
                </a:lnTo>
                <a:cubicBezTo>
                  <a:pt x="326644" y="297396"/>
                  <a:pt x="297396" y="326644"/>
                  <a:pt x="261315" y="326644"/>
                </a:cubicBezTo>
                <a:lnTo>
                  <a:pt x="65329" y="326644"/>
                </a:lnTo>
                <a:cubicBezTo>
                  <a:pt x="29249" y="326644"/>
                  <a:pt x="0" y="297396"/>
                  <a:pt x="0" y="261315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4A6D7C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39984" y="4597519"/>
            <a:ext cx="165364" cy="146990"/>
          </a:xfrm>
          <a:custGeom>
            <a:avLst/>
            <a:gdLst/>
            <a:ahLst/>
            <a:cxnLst/>
            <a:rect l="l" t="t" r="r" b="b"/>
            <a:pathLst>
              <a:path w="165364" h="146990">
                <a:moveTo>
                  <a:pt x="147105" y="68902"/>
                </a:moveTo>
                <a:lnTo>
                  <a:pt x="96577" y="68902"/>
                </a:lnTo>
                <a:cubicBezTo>
                  <a:pt x="91496" y="68902"/>
                  <a:pt x="87390" y="64796"/>
                  <a:pt x="87390" y="59715"/>
                </a:cubicBezTo>
                <a:lnTo>
                  <a:pt x="87390" y="9187"/>
                </a:lnTo>
                <a:cubicBezTo>
                  <a:pt x="87390" y="4105"/>
                  <a:pt x="91524" y="-57"/>
                  <a:pt x="96548" y="603"/>
                </a:cubicBezTo>
                <a:cubicBezTo>
                  <a:pt x="127267" y="4680"/>
                  <a:pt x="151612" y="29025"/>
                  <a:pt x="155689" y="59743"/>
                </a:cubicBezTo>
                <a:cubicBezTo>
                  <a:pt x="156349" y="64767"/>
                  <a:pt x="152186" y="68902"/>
                  <a:pt x="147105" y="68902"/>
                </a:cubicBezTo>
                <a:close/>
                <a:moveTo>
                  <a:pt x="63906" y="10680"/>
                </a:moveTo>
                <a:cubicBezTo>
                  <a:pt x="69103" y="9589"/>
                  <a:pt x="73610" y="13838"/>
                  <a:pt x="73610" y="19149"/>
                </a:cubicBezTo>
                <a:lnTo>
                  <a:pt x="73610" y="75792"/>
                </a:lnTo>
                <a:cubicBezTo>
                  <a:pt x="73610" y="77399"/>
                  <a:pt x="74184" y="78950"/>
                  <a:pt x="75189" y="80184"/>
                </a:cubicBezTo>
                <a:lnTo>
                  <a:pt x="113113" y="125946"/>
                </a:lnTo>
                <a:cubicBezTo>
                  <a:pt x="116472" y="129994"/>
                  <a:pt x="115755" y="136109"/>
                  <a:pt x="111132" y="138607"/>
                </a:cubicBezTo>
                <a:cubicBezTo>
                  <a:pt x="101343" y="143947"/>
                  <a:pt x="90117" y="146990"/>
                  <a:pt x="78203" y="146990"/>
                </a:cubicBezTo>
                <a:cubicBezTo>
                  <a:pt x="40164" y="146990"/>
                  <a:pt x="9302" y="116128"/>
                  <a:pt x="9302" y="78088"/>
                </a:cubicBezTo>
                <a:cubicBezTo>
                  <a:pt x="9302" y="44930"/>
                  <a:pt x="32700" y="17254"/>
                  <a:pt x="63906" y="10680"/>
                </a:cubicBezTo>
                <a:close/>
                <a:moveTo>
                  <a:pt x="137171" y="82682"/>
                </a:moveTo>
                <a:lnTo>
                  <a:pt x="155545" y="82682"/>
                </a:lnTo>
                <a:cubicBezTo>
                  <a:pt x="160856" y="82682"/>
                  <a:pt x="165105" y="87189"/>
                  <a:pt x="164014" y="92385"/>
                </a:cubicBezTo>
                <a:cubicBezTo>
                  <a:pt x="161086" y="106281"/>
                  <a:pt x="153966" y="118625"/>
                  <a:pt x="144033" y="128042"/>
                </a:cubicBezTo>
                <a:cubicBezTo>
                  <a:pt x="140502" y="131401"/>
                  <a:pt x="134961" y="130683"/>
                  <a:pt x="131860" y="126922"/>
                </a:cubicBezTo>
                <a:lnTo>
                  <a:pt x="107630" y="97725"/>
                </a:lnTo>
                <a:cubicBezTo>
                  <a:pt x="102663" y="91725"/>
                  <a:pt x="106941" y="82682"/>
                  <a:pt x="114692" y="82682"/>
                </a:cubicBezTo>
                <a:lnTo>
                  <a:pt x="137143" y="82682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32" name="Text 30"/>
          <p:cNvSpPr/>
          <p:nvPr/>
        </p:nvSpPr>
        <p:spPr>
          <a:xfrm>
            <a:off x="881940" y="4556689"/>
            <a:ext cx="1429069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Performance Globale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7302" y="4932330"/>
            <a:ext cx="2670317" cy="849275"/>
          </a:xfrm>
          <a:custGeom>
            <a:avLst/>
            <a:gdLst/>
            <a:ahLst/>
            <a:cxnLst/>
            <a:rect l="l" t="t" r="r" b="b"/>
            <a:pathLst>
              <a:path w="2670317" h="849275">
                <a:moveTo>
                  <a:pt x="65326" y="0"/>
                </a:moveTo>
                <a:lnTo>
                  <a:pt x="2604991" y="0"/>
                </a:lnTo>
                <a:cubicBezTo>
                  <a:pt x="2641070" y="0"/>
                  <a:pt x="2670317" y="29248"/>
                  <a:pt x="2670317" y="65326"/>
                </a:cubicBezTo>
                <a:lnTo>
                  <a:pt x="2670317" y="783949"/>
                </a:lnTo>
                <a:cubicBezTo>
                  <a:pt x="2670317" y="820028"/>
                  <a:pt x="2641070" y="849275"/>
                  <a:pt x="2604991" y="849275"/>
                </a:cubicBezTo>
                <a:lnTo>
                  <a:pt x="65326" y="849275"/>
                </a:lnTo>
                <a:cubicBezTo>
                  <a:pt x="29248" y="849275"/>
                  <a:pt x="0" y="820028"/>
                  <a:pt x="0" y="783949"/>
                </a:cubicBezTo>
                <a:lnTo>
                  <a:pt x="0" y="65326"/>
                </a:lnTo>
                <a:cubicBezTo>
                  <a:pt x="0" y="29272"/>
                  <a:pt x="29272" y="0"/>
                  <a:pt x="6532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4" name="Text 32"/>
          <p:cNvSpPr/>
          <p:nvPr/>
        </p:nvSpPr>
        <p:spPr>
          <a:xfrm>
            <a:off x="526714" y="5030323"/>
            <a:ext cx="2531494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AUC-ROC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94050" y="5226309"/>
            <a:ext cx="2596823" cy="293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29" b="1" dirty="0">
                <a:solidFill>
                  <a:srgbClr val="D95D5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0.93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0797" y="5552954"/>
            <a:ext cx="2523328" cy="130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2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Grade clinique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228292" y="4932330"/>
            <a:ext cx="2670317" cy="849275"/>
          </a:xfrm>
          <a:custGeom>
            <a:avLst/>
            <a:gdLst/>
            <a:ahLst/>
            <a:cxnLst/>
            <a:rect l="l" t="t" r="r" b="b"/>
            <a:pathLst>
              <a:path w="2670317" h="849275">
                <a:moveTo>
                  <a:pt x="65326" y="0"/>
                </a:moveTo>
                <a:lnTo>
                  <a:pt x="2604991" y="0"/>
                </a:lnTo>
                <a:cubicBezTo>
                  <a:pt x="2641070" y="0"/>
                  <a:pt x="2670317" y="29248"/>
                  <a:pt x="2670317" y="65326"/>
                </a:cubicBezTo>
                <a:lnTo>
                  <a:pt x="2670317" y="783949"/>
                </a:lnTo>
                <a:cubicBezTo>
                  <a:pt x="2670317" y="820028"/>
                  <a:pt x="2641070" y="849275"/>
                  <a:pt x="2604991" y="849275"/>
                </a:cubicBezTo>
                <a:lnTo>
                  <a:pt x="65326" y="849275"/>
                </a:lnTo>
                <a:cubicBezTo>
                  <a:pt x="29248" y="849275"/>
                  <a:pt x="0" y="820028"/>
                  <a:pt x="0" y="783949"/>
                </a:cubicBezTo>
                <a:lnTo>
                  <a:pt x="0" y="65326"/>
                </a:lnTo>
                <a:cubicBezTo>
                  <a:pt x="0" y="29272"/>
                  <a:pt x="29272" y="0"/>
                  <a:pt x="6532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8" name="Text 36"/>
          <p:cNvSpPr/>
          <p:nvPr/>
        </p:nvSpPr>
        <p:spPr>
          <a:xfrm>
            <a:off x="3297704" y="5030323"/>
            <a:ext cx="2531494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F1-Score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265040" y="5226309"/>
            <a:ext cx="2596823" cy="293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29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0.85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301787" y="5552954"/>
            <a:ext cx="2523328" cy="130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2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Excellent équilibre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7302" y="5879598"/>
            <a:ext cx="2670317" cy="849275"/>
          </a:xfrm>
          <a:custGeom>
            <a:avLst/>
            <a:gdLst/>
            <a:ahLst/>
            <a:cxnLst/>
            <a:rect l="l" t="t" r="r" b="b"/>
            <a:pathLst>
              <a:path w="2670317" h="849275">
                <a:moveTo>
                  <a:pt x="65326" y="0"/>
                </a:moveTo>
                <a:lnTo>
                  <a:pt x="2604991" y="0"/>
                </a:lnTo>
                <a:cubicBezTo>
                  <a:pt x="2641070" y="0"/>
                  <a:pt x="2670317" y="29248"/>
                  <a:pt x="2670317" y="65326"/>
                </a:cubicBezTo>
                <a:lnTo>
                  <a:pt x="2670317" y="783949"/>
                </a:lnTo>
                <a:cubicBezTo>
                  <a:pt x="2670317" y="820028"/>
                  <a:pt x="2641070" y="849275"/>
                  <a:pt x="2604991" y="849275"/>
                </a:cubicBezTo>
                <a:lnTo>
                  <a:pt x="65326" y="849275"/>
                </a:lnTo>
                <a:cubicBezTo>
                  <a:pt x="29248" y="849275"/>
                  <a:pt x="0" y="820028"/>
                  <a:pt x="0" y="783949"/>
                </a:cubicBezTo>
                <a:lnTo>
                  <a:pt x="0" y="65326"/>
                </a:lnTo>
                <a:cubicBezTo>
                  <a:pt x="0" y="29272"/>
                  <a:pt x="29272" y="0"/>
                  <a:pt x="6532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2" name="Text 40"/>
          <p:cNvSpPr/>
          <p:nvPr/>
        </p:nvSpPr>
        <p:spPr>
          <a:xfrm>
            <a:off x="526714" y="5977591"/>
            <a:ext cx="2531494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94050" y="6173578"/>
            <a:ext cx="2596823" cy="293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29" b="1" dirty="0">
                <a:solidFill>
                  <a:srgbClr val="4A6D7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0.86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0797" y="6500222"/>
            <a:ext cx="2523328" cy="130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2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Haute précision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228292" y="5879598"/>
            <a:ext cx="2670317" cy="849275"/>
          </a:xfrm>
          <a:custGeom>
            <a:avLst/>
            <a:gdLst/>
            <a:ahLst/>
            <a:cxnLst/>
            <a:rect l="l" t="t" r="r" b="b"/>
            <a:pathLst>
              <a:path w="2670317" h="849275">
                <a:moveTo>
                  <a:pt x="65326" y="0"/>
                </a:moveTo>
                <a:lnTo>
                  <a:pt x="2604991" y="0"/>
                </a:lnTo>
                <a:cubicBezTo>
                  <a:pt x="2641070" y="0"/>
                  <a:pt x="2670317" y="29248"/>
                  <a:pt x="2670317" y="65326"/>
                </a:cubicBezTo>
                <a:lnTo>
                  <a:pt x="2670317" y="783949"/>
                </a:lnTo>
                <a:cubicBezTo>
                  <a:pt x="2670317" y="820028"/>
                  <a:pt x="2641070" y="849275"/>
                  <a:pt x="2604991" y="849275"/>
                </a:cubicBezTo>
                <a:lnTo>
                  <a:pt x="65326" y="849275"/>
                </a:lnTo>
                <a:cubicBezTo>
                  <a:pt x="29248" y="849275"/>
                  <a:pt x="0" y="820028"/>
                  <a:pt x="0" y="783949"/>
                </a:cubicBezTo>
                <a:lnTo>
                  <a:pt x="0" y="65326"/>
                </a:lnTo>
                <a:cubicBezTo>
                  <a:pt x="0" y="29272"/>
                  <a:pt x="29272" y="0"/>
                  <a:pt x="6532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6" name="Text 44"/>
          <p:cNvSpPr/>
          <p:nvPr/>
        </p:nvSpPr>
        <p:spPr>
          <a:xfrm>
            <a:off x="3297704" y="5977591"/>
            <a:ext cx="2531494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Rappel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265040" y="6173578"/>
            <a:ext cx="2596823" cy="293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29" b="1" dirty="0">
                <a:solidFill>
                  <a:srgbClr val="D95D5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0.87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301787" y="6500222"/>
            <a:ext cx="2523328" cy="130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2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Sensibilité élevée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62669" y="1012597"/>
            <a:ext cx="5708110" cy="5846934"/>
          </a:xfrm>
          <a:custGeom>
            <a:avLst/>
            <a:gdLst/>
            <a:ahLst/>
            <a:cxnLst/>
            <a:rect l="l" t="t" r="r" b="b"/>
            <a:pathLst>
              <a:path w="5708110" h="5846934">
                <a:moveTo>
                  <a:pt x="98008" y="0"/>
                </a:moveTo>
                <a:lnTo>
                  <a:pt x="5610102" y="0"/>
                </a:lnTo>
                <a:cubicBezTo>
                  <a:pt x="5664230" y="0"/>
                  <a:pt x="5708110" y="43880"/>
                  <a:pt x="5708110" y="98008"/>
                </a:cubicBezTo>
                <a:lnTo>
                  <a:pt x="5708110" y="5748925"/>
                </a:lnTo>
                <a:cubicBezTo>
                  <a:pt x="5708110" y="5803054"/>
                  <a:pt x="5664230" y="5846934"/>
                  <a:pt x="5610102" y="5846934"/>
                </a:cubicBezTo>
                <a:lnTo>
                  <a:pt x="98008" y="5846934"/>
                </a:lnTo>
                <a:cubicBezTo>
                  <a:pt x="43880" y="5846934"/>
                  <a:pt x="0" y="5803054"/>
                  <a:pt x="0" y="5748925"/>
                </a:cubicBezTo>
                <a:lnTo>
                  <a:pt x="0" y="98008"/>
                </a:lnTo>
                <a:cubicBezTo>
                  <a:pt x="0" y="43880"/>
                  <a:pt x="43880" y="0"/>
                  <a:pt x="980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8997" dist="32664" dir="5400000">
              <a:srgbClr val="000000">
                <a:alpha val="1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93326" y="1143255"/>
            <a:ext cx="326644" cy="326644"/>
          </a:xfrm>
          <a:custGeom>
            <a:avLst/>
            <a:gdLst/>
            <a:ahLst/>
            <a:cxnLst/>
            <a:rect l="l" t="t" r="r" b="b"/>
            <a:pathLst>
              <a:path w="326644" h="326644">
                <a:moveTo>
                  <a:pt x="65329" y="0"/>
                </a:moveTo>
                <a:lnTo>
                  <a:pt x="261315" y="0"/>
                </a:lnTo>
                <a:cubicBezTo>
                  <a:pt x="297396" y="0"/>
                  <a:pt x="326644" y="29249"/>
                  <a:pt x="326644" y="65329"/>
                </a:cubicBezTo>
                <a:lnTo>
                  <a:pt x="326644" y="261315"/>
                </a:lnTo>
                <a:cubicBezTo>
                  <a:pt x="326644" y="297396"/>
                  <a:pt x="297396" y="326644"/>
                  <a:pt x="261315" y="326644"/>
                </a:cubicBezTo>
                <a:lnTo>
                  <a:pt x="65329" y="326644"/>
                </a:lnTo>
                <a:cubicBezTo>
                  <a:pt x="29249" y="326644"/>
                  <a:pt x="0" y="297396"/>
                  <a:pt x="0" y="261315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376008" y="1233082"/>
            <a:ext cx="165364" cy="146990"/>
          </a:xfrm>
          <a:custGeom>
            <a:avLst/>
            <a:gdLst/>
            <a:ahLst/>
            <a:cxnLst/>
            <a:rect l="l" t="t" r="r" b="b"/>
            <a:pathLst>
              <a:path w="165364" h="146990">
                <a:moveTo>
                  <a:pt x="70796" y="107544"/>
                </a:moveTo>
                <a:lnTo>
                  <a:pt x="43236" y="135104"/>
                </a:lnTo>
                <a:cubicBezTo>
                  <a:pt x="39647" y="138693"/>
                  <a:pt x="33819" y="138693"/>
                  <a:pt x="30231" y="135104"/>
                </a:cubicBezTo>
                <a:lnTo>
                  <a:pt x="2670" y="107544"/>
                </a:lnTo>
                <a:cubicBezTo>
                  <a:pt x="-919" y="103955"/>
                  <a:pt x="-919" y="98127"/>
                  <a:pt x="2670" y="94539"/>
                </a:cubicBezTo>
                <a:cubicBezTo>
                  <a:pt x="6259" y="90950"/>
                  <a:pt x="12086" y="90950"/>
                  <a:pt x="15675" y="94539"/>
                </a:cubicBezTo>
                <a:lnTo>
                  <a:pt x="27561" y="106424"/>
                </a:lnTo>
                <a:lnTo>
                  <a:pt x="27561" y="18374"/>
                </a:lnTo>
                <a:cubicBezTo>
                  <a:pt x="27561" y="13292"/>
                  <a:pt x="31666" y="9187"/>
                  <a:pt x="36747" y="9187"/>
                </a:cubicBezTo>
                <a:cubicBezTo>
                  <a:pt x="41829" y="9187"/>
                  <a:pt x="45934" y="13292"/>
                  <a:pt x="45934" y="18374"/>
                </a:cubicBezTo>
                <a:lnTo>
                  <a:pt x="45934" y="106424"/>
                </a:lnTo>
                <a:lnTo>
                  <a:pt x="57820" y="94539"/>
                </a:lnTo>
                <a:cubicBezTo>
                  <a:pt x="61408" y="90950"/>
                  <a:pt x="67236" y="90950"/>
                  <a:pt x="70825" y="94539"/>
                </a:cubicBezTo>
                <a:cubicBezTo>
                  <a:pt x="74414" y="98127"/>
                  <a:pt x="74414" y="103955"/>
                  <a:pt x="70825" y="107544"/>
                </a:cubicBezTo>
                <a:close/>
                <a:moveTo>
                  <a:pt x="91869" y="137803"/>
                </a:moveTo>
                <a:cubicBezTo>
                  <a:pt x="86787" y="137803"/>
                  <a:pt x="82682" y="133698"/>
                  <a:pt x="82682" y="128616"/>
                </a:cubicBezTo>
                <a:cubicBezTo>
                  <a:pt x="82682" y="123535"/>
                  <a:pt x="86787" y="119429"/>
                  <a:pt x="91869" y="119429"/>
                </a:cubicBezTo>
                <a:lnTo>
                  <a:pt x="101056" y="119429"/>
                </a:lnTo>
                <a:cubicBezTo>
                  <a:pt x="106137" y="119429"/>
                  <a:pt x="110242" y="123535"/>
                  <a:pt x="110242" y="128616"/>
                </a:cubicBezTo>
                <a:cubicBezTo>
                  <a:pt x="110242" y="133698"/>
                  <a:pt x="106137" y="137803"/>
                  <a:pt x="101056" y="137803"/>
                </a:cubicBezTo>
                <a:lnTo>
                  <a:pt x="91869" y="137803"/>
                </a:lnTo>
                <a:close/>
                <a:moveTo>
                  <a:pt x="91869" y="101056"/>
                </a:moveTo>
                <a:cubicBezTo>
                  <a:pt x="86787" y="101056"/>
                  <a:pt x="82682" y="96950"/>
                  <a:pt x="82682" y="91869"/>
                </a:cubicBezTo>
                <a:cubicBezTo>
                  <a:pt x="82682" y="86787"/>
                  <a:pt x="86787" y="82682"/>
                  <a:pt x="91869" y="82682"/>
                </a:cubicBezTo>
                <a:lnTo>
                  <a:pt x="119429" y="82682"/>
                </a:lnTo>
                <a:cubicBezTo>
                  <a:pt x="124511" y="82682"/>
                  <a:pt x="128616" y="86787"/>
                  <a:pt x="128616" y="91869"/>
                </a:cubicBezTo>
                <a:cubicBezTo>
                  <a:pt x="128616" y="96950"/>
                  <a:pt x="124511" y="101056"/>
                  <a:pt x="119429" y="101056"/>
                </a:cubicBezTo>
                <a:lnTo>
                  <a:pt x="91869" y="101056"/>
                </a:lnTo>
                <a:close/>
                <a:moveTo>
                  <a:pt x="91869" y="64308"/>
                </a:moveTo>
                <a:cubicBezTo>
                  <a:pt x="86787" y="64308"/>
                  <a:pt x="82682" y="60203"/>
                  <a:pt x="82682" y="55121"/>
                </a:cubicBezTo>
                <a:cubicBezTo>
                  <a:pt x="82682" y="50040"/>
                  <a:pt x="86787" y="45934"/>
                  <a:pt x="91869" y="45934"/>
                </a:cubicBezTo>
                <a:lnTo>
                  <a:pt x="137803" y="45934"/>
                </a:lnTo>
                <a:cubicBezTo>
                  <a:pt x="142885" y="45934"/>
                  <a:pt x="146990" y="50040"/>
                  <a:pt x="146990" y="55121"/>
                </a:cubicBezTo>
                <a:cubicBezTo>
                  <a:pt x="146990" y="60203"/>
                  <a:pt x="142885" y="64308"/>
                  <a:pt x="137803" y="64308"/>
                </a:cubicBezTo>
                <a:lnTo>
                  <a:pt x="91869" y="64308"/>
                </a:lnTo>
                <a:close/>
                <a:moveTo>
                  <a:pt x="91869" y="27561"/>
                </a:moveTo>
                <a:cubicBezTo>
                  <a:pt x="86787" y="27561"/>
                  <a:pt x="82682" y="23455"/>
                  <a:pt x="82682" y="18374"/>
                </a:cubicBezTo>
                <a:cubicBezTo>
                  <a:pt x="82682" y="13292"/>
                  <a:pt x="86787" y="9187"/>
                  <a:pt x="91869" y="9187"/>
                </a:cubicBezTo>
                <a:lnTo>
                  <a:pt x="156177" y="9187"/>
                </a:lnTo>
                <a:cubicBezTo>
                  <a:pt x="161258" y="9187"/>
                  <a:pt x="165364" y="13292"/>
                  <a:pt x="165364" y="18374"/>
                </a:cubicBezTo>
                <a:cubicBezTo>
                  <a:pt x="165364" y="23455"/>
                  <a:pt x="161258" y="27561"/>
                  <a:pt x="156177" y="27561"/>
                </a:cubicBezTo>
                <a:lnTo>
                  <a:pt x="91869" y="27561"/>
                </a:ln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52" name="Text 50"/>
          <p:cNvSpPr/>
          <p:nvPr/>
        </p:nvSpPr>
        <p:spPr>
          <a:xfrm>
            <a:off x="6717964" y="1192252"/>
            <a:ext cx="1731215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Importance des Variables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293326" y="1603237"/>
            <a:ext cx="5446794" cy="734950"/>
          </a:xfrm>
          <a:custGeom>
            <a:avLst/>
            <a:gdLst/>
            <a:ahLst/>
            <a:cxnLst/>
            <a:rect l="l" t="t" r="r" b="b"/>
            <a:pathLst>
              <a:path w="5446794" h="734950">
                <a:moveTo>
                  <a:pt x="65330" y="0"/>
                </a:moveTo>
                <a:lnTo>
                  <a:pt x="5381465" y="0"/>
                </a:lnTo>
                <a:cubicBezTo>
                  <a:pt x="5417545" y="0"/>
                  <a:pt x="5446794" y="29249"/>
                  <a:pt x="5446794" y="65330"/>
                </a:cubicBezTo>
                <a:lnTo>
                  <a:pt x="5446794" y="669620"/>
                </a:lnTo>
                <a:cubicBezTo>
                  <a:pt x="5446794" y="705701"/>
                  <a:pt x="5417545" y="734950"/>
                  <a:pt x="5381465" y="734950"/>
                </a:cubicBezTo>
                <a:lnTo>
                  <a:pt x="65330" y="734950"/>
                </a:lnTo>
                <a:cubicBezTo>
                  <a:pt x="29249" y="734950"/>
                  <a:pt x="0" y="705701"/>
                  <a:pt x="0" y="669620"/>
                </a:cubicBezTo>
                <a:lnTo>
                  <a:pt x="0" y="65330"/>
                </a:lnTo>
                <a:cubicBezTo>
                  <a:pt x="0" y="29273"/>
                  <a:pt x="29273" y="0"/>
                  <a:pt x="6533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4" name="Shape 52"/>
          <p:cNvSpPr/>
          <p:nvPr/>
        </p:nvSpPr>
        <p:spPr>
          <a:xfrm>
            <a:off x="6358655" y="1668566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65329" y="0"/>
                </a:moveTo>
                <a:lnTo>
                  <a:pt x="195987" y="0"/>
                </a:lnTo>
                <a:cubicBezTo>
                  <a:pt x="232067" y="0"/>
                  <a:pt x="261315" y="29249"/>
                  <a:pt x="261315" y="65329"/>
                </a:cubicBezTo>
                <a:lnTo>
                  <a:pt x="261315" y="195987"/>
                </a:lnTo>
                <a:cubicBezTo>
                  <a:pt x="261315" y="232067"/>
                  <a:pt x="232067" y="261315"/>
                  <a:pt x="195987" y="261315"/>
                </a:cubicBezTo>
                <a:lnTo>
                  <a:pt x="65329" y="261315"/>
                </a:lnTo>
                <a:cubicBezTo>
                  <a:pt x="29249" y="261315"/>
                  <a:pt x="0" y="232067"/>
                  <a:pt x="0" y="195987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55" name="Text 53"/>
          <p:cNvSpPr/>
          <p:nvPr/>
        </p:nvSpPr>
        <p:spPr>
          <a:xfrm>
            <a:off x="6466410" y="1717562"/>
            <a:ext cx="106159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717964" y="1701230"/>
            <a:ext cx="72678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bp_systolic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395358" y="1684898"/>
            <a:ext cx="351143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D95D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0.18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58655" y="1995210"/>
            <a:ext cx="5316137" cy="81661"/>
          </a:xfrm>
          <a:custGeom>
            <a:avLst/>
            <a:gdLst/>
            <a:ahLst/>
            <a:cxnLst/>
            <a:rect l="l" t="t" r="r" b="b"/>
            <a:pathLst>
              <a:path w="5316137" h="81661">
                <a:moveTo>
                  <a:pt x="40831" y="0"/>
                </a:moveTo>
                <a:lnTo>
                  <a:pt x="5275306" y="0"/>
                </a:lnTo>
                <a:cubicBezTo>
                  <a:pt x="5297856" y="0"/>
                  <a:pt x="5316137" y="18280"/>
                  <a:pt x="5316137" y="40831"/>
                </a:cubicBezTo>
                <a:lnTo>
                  <a:pt x="5316137" y="40831"/>
                </a:lnTo>
                <a:cubicBezTo>
                  <a:pt x="5316137" y="63381"/>
                  <a:pt x="5297856" y="81661"/>
                  <a:pt x="5275306" y="81661"/>
                </a:cubicBezTo>
                <a:lnTo>
                  <a:pt x="40831" y="81661"/>
                </a:lnTo>
                <a:cubicBezTo>
                  <a:pt x="18296" y="81661"/>
                  <a:pt x="0" y="63366"/>
                  <a:pt x="0" y="40831"/>
                </a:cubicBezTo>
                <a:lnTo>
                  <a:pt x="0" y="40831"/>
                </a:lnTo>
                <a:cubicBezTo>
                  <a:pt x="0" y="18296"/>
                  <a:pt x="18296" y="0"/>
                  <a:pt x="40831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59" name="Shape 57"/>
          <p:cNvSpPr/>
          <p:nvPr/>
        </p:nvSpPr>
        <p:spPr>
          <a:xfrm>
            <a:off x="6358655" y="1995210"/>
            <a:ext cx="5316137" cy="81661"/>
          </a:xfrm>
          <a:custGeom>
            <a:avLst/>
            <a:gdLst/>
            <a:ahLst/>
            <a:cxnLst/>
            <a:rect l="l" t="t" r="r" b="b"/>
            <a:pathLst>
              <a:path w="5316137" h="81661">
                <a:moveTo>
                  <a:pt x="40831" y="0"/>
                </a:moveTo>
                <a:lnTo>
                  <a:pt x="5275306" y="0"/>
                </a:lnTo>
                <a:cubicBezTo>
                  <a:pt x="5297856" y="0"/>
                  <a:pt x="5316137" y="18280"/>
                  <a:pt x="5316137" y="40831"/>
                </a:cubicBezTo>
                <a:lnTo>
                  <a:pt x="5316137" y="40831"/>
                </a:lnTo>
                <a:cubicBezTo>
                  <a:pt x="5316137" y="63381"/>
                  <a:pt x="5297856" y="81661"/>
                  <a:pt x="5275306" y="81661"/>
                </a:cubicBezTo>
                <a:lnTo>
                  <a:pt x="40831" y="81661"/>
                </a:lnTo>
                <a:cubicBezTo>
                  <a:pt x="18296" y="81661"/>
                  <a:pt x="0" y="63366"/>
                  <a:pt x="0" y="40831"/>
                </a:cubicBezTo>
                <a:lnTo>
                  <a:pt x="0" y="40831"/>
                </a:lnTo>
                <a:cubicBezTo>
                  <a:pt x="0" y="18296"/>
                  <a:pt x="18296" y="0"/>
                  <a:pt x="40831" y="0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60" name="Text 58"/>
          <p:cNvSpPr/>
          <p:nvPr/>
        </p:nvSpPr>
        <p:spPr>
          <a:xfrm>
            <a:off x="6358655" y="2109535"/>
            <a:ext cx="5373299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Pression artérielle systolique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293326" y="2474267"/>
            <a:ext cx="5446794" cy="734950"/>
          </a:xfrm>
          <a:custGeom>
            <a:avLst/>
            <a:gdLst/>
            <a:ahLst/>
            <a:cxnLst/>
            <a:rect l="l" t="t" r="r" b="b"/>
            <a:pathLst>
              <a:path w="5446794" h="734950">
                <a:moveTo>
                  <a:pt x="65330" y="0"/>
                </a:moveTo>
                <a:lnTo>
                  <a:pt x="5381465" y="0"/>
                </a:lnTo>
                <a:cubicBezTo>
                  <a:pt x="5417545" y="0"/>
                  <a:pt x="5446794" y="29249"/>
                  <a:pt x="5446794" y="65330"/>
                </a:cubicBezTo>
                <a:lnTo>
                  <a:pt x="5446794" y="669620"/>
                </a:lnTo>
                <a:cubicBezTo>
                  <a:pt x="5446794" y="705701"/>
                  <a:pt x="5417545" y="734950"/>
                  <a:pt x="5381465" y="734950"/>
                </a:cubicBezTo>
                <a:lnTo>
                  <a:pt x="65330" y="734950"/>
                </a:lnTo>
                <a:cubicBezTo>
                  <a:pt x="29249" y="734950"/>
                  <a:pt x="0" y="705701"/>
                  <a:pt x="0" y="669620"/>
                </a:cubicBezTo>
                <a:lnTo>
                  <a:pt x="0" y="65330"/>
                </a:lnTo>
                <a:cubicBezTo>
                  <a:pt x="0" y="29273"/>
                  <a:pt x="29273" y="0"/>
                  <a:pt x="6533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2" name="Shape 60"/>
          <p:cNvSpPr/>
          <p:nvPr/>
        </p:nvSpPr>
        <p:spPr>
          <a:xfrm>
            <a:off x="6358655" y="2539596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65329" y="0"/>
                </a:moveTo>
                <a:lnTo>
                  <a:pt x="195987" y="0"/>
                </a:lnTo>
                <a:cubicBezTo>
                  <a:pt x="232067" y="0"/>
                  <a:pt x="261315" y="29249"/>
                  <a:pt x="261315" y="65329"/>
                </a:cubicBezTo>
                <a:lnTo>
                  <a:pt x="261315" y="195987"/>
                </a:lnTo>
                <a:cubicBezTo>
                  <a:pt x="261315" y="232067"/>
                  <a:pt x="232067" y="261315"/>
                  <a:pt x="195987" y="261315"/>
                </a:cubicBezTo>
                <a:lnTo>
                  <a:pt x="65329" y="261315"/>
                </a:lnTo>
                <a:cubicBezTo>
                  <a:pt x="29249" y="261315"/>
                  <a:pt x="0" y="232067"/>
                  <a:pt x="0" y="195987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63" name="Text 61"/>
          <p:cNvSpPr/>
          <p:nvPr/>
        </p:nvSpPr>
        <p:spPr>
          <a:xfrm>
            <a:off x="6456074" y="2588593"/>
            <a:ext cx="122492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717964" y="2572260"/>
            <a:ext cx="277648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397718" y="2555928"/>
            <a:ext cx="351143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0.16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58655" y="2866240"/>
            <a:ext cx="5316137" cy="81661"/>
          </a:xfrm>
          <a:custGeom>
            <a:avLst/>
            <a:gdLst/>
            <a:ahLst/>
            <a:cxnLst/>
            <a:rect l="l" t="t" r="r" b="b"/>
            <a:pathLst>
              <a:path w="5316137" h="81661">
                <a:moveTo>
                  <a:pt x="40831" y="0"/>
                </a:moveTo>
                <a:lnTo>
                  <a:pt x="5275306" y="0"/>
                </a:lnTo>
                <a:cubicBezTo>
                  <a:pt x="5297856" y="0"/>
                  <a:pt x="5316137" y="18280"/>
                  <a:pt x="5316137" y="40831"/>
                </a:cubicBezTo>
                <a:lnTo>
                  <a:pt x="5316137" y="40831"/>
                </a:lnTo>
                <a:cubicBezTo>
                  <a:pt x="5316137" y="63381"/>
                  <a:pt x="5297856" y="81661"/>
                  <a:pt x="5275306" y="81661"/>
                </a:cubicBezTo>
                <a:lnTo>
                  <a:pt x="40831" y="81661"/>
                </a:lnTo>
                <a:cubicBezTo>
                  <a:pt x="18296" y="81661"/>
                  <a:pt x="0" y="63366"/>
                  <a:pt x="0" y="40831"/>
                </a:cubicBezTo>
                <a:lnTo>
                  <a:pt x="0" y="40831"/>
                </a:lnTo>
                <a:cubicBezTo>
                  <a:pt x="0" y="18296"/>
                  <a:pt x="18296" y="0"/>
                  <a:pt x="40831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67" name="Shape 65"/>
          <p:cNvSpPr/>
          <p:nvPr/>
        </p:nvSpPr>
        <p:spPr>
          <a:xfrm>
            <a:off x="6358655" y="2866240"/>
            <a:ext cx="4728177" cy="81661"/>
          </a:xfrm>
          <a:custGeom>
            <a:avLst/>
            <a:gdLst/>
            <a:ahLst/>
            <a:cxnLst/>
            <a:rect l="l" t="t" r="r" b="b"/>
            <a:pathLst>
              <a:path w="4728177" h="81661">
                <a:moveTo>
                  <a:pt x="40831" y="0"/>
                </a:moveTo>
                <a:lnTo>
                  <a:pt x="4687346" y="0"/>
                </a:lnTo>
                <a:cubicBezTo>
                  <a:pt x="4709896" y="0"/>
                  <a:pt x="4728177" y="18280"/>
                  <a:pt x="4728177" y="40831"/>
                </a:cubicBezTo>
                <a:lnTo>
                  <a:pt x="4728177" y="40831"/>
                </a:lnTo>
                <a:cubicBezTo>
                  <a:pt x="4728177" y="63381"/>
                  <a:pt x="4709896" y="81661"/>
                  <a:pt x="4687346" y="81661"/>
                </a:cubicBezTo>
                <a:lnTo>
                  <a:pt x="40831" y="81661"/>
                </a:lnTo>
                <a:cubicBezTo>
                  <a:pt x="18296" y="81661"/>
                  <a:pt x="0" y="63366"/>
                  <a:pt x="0" y="40831"/>
                </a:cubicBezTo>
                <a:lnTo>
                  <a:pt x="0" y="40831"/>
                </a:lnTo>
                <a:cubicBezTo>
                  <a:pt x="0" y="18296"/>
                  <a:pt x="18296" y="0"/>
                  <a:pt x="40831" y="0"/>
                </a:cubicBez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68" name="Text 66"/>
          <p:cNvSpPr/>
          <p:nvPr/>
        </p:nvSpPr>
        <p:spPr>
          <a:xfrm>
            <a:off x="6358655" y="2980566"/>
            <a:ext cx="5373299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Âge du patient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293326" y="3345361"/>
            <a:ext cx="5446794" cy="734950"/>
          </a:xfrm>
          <a:custGeom>
            <a:avLst/>
            <a:gdLst/>
            <a:ahLst/>
            <a:cxnLst/>
            <a:rect l="l" t="t" r="r" b="b"/>
            <a:pathLst>
              <a:path w="5446794" h="734950">
                <a:moveTo>
                  <a:pt x="65330" y="0"/>
                </a:moveTo>
                <a:lnTo>
                  <a:pt x="5381465" y="0"/>
                </a:lnTo>
                <a:cubicBezTo>
                  <a:pt x="5417545" y="0"/>
                  <a:pt x="5446794" y="29249"/>
                  <a:pt x="5446794" y="65330"/>
                </a:cubicBezTo>
                <a:lnTo>
                  <a:pt x="5446794" y="669620"/>
                </a:lnTo>
                <a:cubicBezTo>
                  <a:pt x="5446794" y="705701"/>
                  <a:pt x="5417545" y="734950"/>
                  <a:pt x="5381465" y="734950"/>
                </a:cubicBezTo>
                <a:lnTo>
                  <a:pt x="65330" y="734950"/>
                </a:lnTo>
                <a:cubicBezTo>
                  <a:pt x="29249" y="734950"/>
                  <a:pt x="0" y="705701"/>
                  <a:pt x="0" y="669620"/>
                </a:cubicBezTo>
                <a:lnTo>
                  <a:pt x="0" y="65330"/>
                </a:lnTo>
                <a:cubicBezTo>
                  <a:pt x="0" y="29273"/>
                  <a:pt x="29273" y="0"/>
                  <a:pt x="6533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0" name="Shape 68"/>
          <p:cNvSpPr/>
          <p:nvPr/>
        </p:nvSpPr>
        <p:spPr>
          <a:xfrm>
            <a:off x="6358655" y="3410690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65329" y="0"/>
                </a:moveTo>
                <a:lnTo>
                  <a:pt x="195987" y="0"/>
                </a:lnTo>
                <a:cubicBezTo>
                  <a:pt x="232067" y="0"/>
                  <a:pt x="261315" y="29249"/>
                  <a:pt x="261315" y="65329"/>
                </a:cubicBezTo>
                <a:lnTo>
                  <a:pt x="261315" y="195987"/>
                </a:lnTo>
                <a:cubicBezTo>
                  <a:pt x="261315" y="232067"/>
                  <a:pt x="232067" y="261315"/>
                  <a:pt x="195987" y="261315"/>
                </a:cubicBezTo>
                <a:lnTo>
                  <a:pt x="65329" y="261315"/>
                </a:lnTo>
                <a:cubicBezTo>
                  <a:pt x="29249" y="261315"/>
                  <a:pt x="0" y="232067"/>
                  <a:pt x="0" y="195987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71" name="Text 69"/>
          <p:cNvSpPr/>
          <p:nvPr/>
        </p:nvSpPr>
        <p:spPr>
          <a:xfrm>
            <a:off x="6455564" y="3459687"/>
            <a:ext cx="122492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717964" y="3443354"/>
            <a:ext cx="930936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cholesterol_val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1399058" y="3427022"/>
            <a:ext cx="342977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0.14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358655" y="3737334"/>
            <a:ext cx="5316137" cy="81661"/>
          </a:xfrm>
          <a:custGeom>
            <a:avLst/>
            <a:gdLst/>
            <a:ahLst/>
            <a:cxnLst/>
            <a:rect l="l" t="t" r="r" b="b"/>
            <a:pathLst>
              <a:path w="5316137" h="81661">
                <a:moveTo>
                  <a:pt x="40831" y="0"/>
                </a:moveTo>
                <a:lnTo>
                  <a:pt x="5275306" y="0"/>
                </a:lnTo>
                <a:cubicBezTo>
                  <a:pt x="5297856" y="0"/>
                  <a:pt x="5316137" y="18280"/>
                  <a:pt x="5316137" y="40831"/>
                </a:cubicBezTo>
                <a:lnTo>
                  <a:pt x="5316137" y="40831"/>
                </a:lnTo>
                <a:cubicBezTo>
                  <a:pt x="5316137" y="63381"/>
                  <a:pt x="5297856" y="81661"/>
                  <a:pt x="5275306" y="81661"/>
                </a:cubicBezTo>
                <a:lnTo>
                  <a:pt x="40831" y="81661"/>
                </a:lnTo>
                <a:cubicBezTo>
                  <a:pt x="18296" y="81661"/>
                  <a:pt x="0" y="63366"/>
                  <a:pt x="0" y="40831"/>
                </a:cubicBezTo>
                <a:lnTo>
                  <a:pt x="0" y="40831"/>
                </a:lnTo>
                <a:cubicBezTo>
                  <a:pt x="0" y="18296"/>
                  <a:pt x="18296" y="0"/>
                  <a:pt x="40831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75" name="Shape 73"/>
          <p:cNvSpPr/>
          <p:nvPr/>
        </p:nvSpPr>
        <p:spPr>
          <a:xfrm>
            <a:off x="6358655" y="3737334"/>
            <a:ext cx="4148383" cy="81661"/>
          </a:xfrm>
          <a:custGeom>
            <a:avLst/>
            <a:gdLst/>
            <a:ahLst/>
            <a:cxnLst/>
            <a:rect l="l" t="t" r="r" b="b"/>
            <a:pathLst>
              <a:path w="4148383" h="81661">
                <a:moveTo>
                  <a:pt x="40831" y="0"/>
                </a:moveTo>
                <a:lnTo>
                  <a:pt x="4107553" y="0"/>
                </a:lnTo>
                <a:cubicBezTo>
                  <a:pt x="4130103" y="0"/>
                  <a:pt x="4148383" y="18280"/>
                  <a:pt x="4148383" y="40831"/>
                </a:cubicBezTo>
                <a:lnTo>
                  <a:pt x="4148383" y="40831"/>
                </a:lnTo>
                <a:cubicBezTo>
                  <a:pt x="4148383" y="63381"/>
                  <a:pt x="4130103" y="81661"/>
                  <a:pt x="4107553" y="81661"/>
                </a:cubicBezTo>
                <a:lnTo>
                  <a:pt x="40831" y="81661"/>
                </a:lnTo>
                <a:cubicBezTo>
                  <a:pt x="18296" y="81661"/>
                  <a:pt x="0" y="63366"/>
                  <a:pt x="0" y="40831"/>
                </a:cubicBezTo>
                <a:lnTo>
                  <a:pt x="0" y="40831"/>
                </a:lnTo>
                <a:cubicBezTo>
                  <a:pt x="0" y="18296"/>
                  <a:pt x="18296" y="0"/>
                  <a:pt x="40831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76" name="Text 74"/>
          <p:cNvSpPr/>
          <p:nvPr/>
        </p:nvSpPr>
        <p:spPr>
          <a:xfrm>
            <a:off x="6358655" y="3851660"/>
            <a:ext cx="5373299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Taux de cholestérol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293326" y="4216391"/>
            <a:ext cx="5446794" cy="734950"/>
          </a:xfrm>
          <a:custGeom>
            <a:avLst/>
            <a:gdLst/>
            <a:ahLst/>
            <a:cxnLst/>
            <a:rect l="l" t="t" r="r" b="b"/>
            <a:pathLst>
              <a:path w="5446794" h="734950">
                <a:moveTo>
                  <a:pt x="65330" y="0"/>
                </a:moveTo>
                <a:lnTo>
                  <a:pt x="5381465" y="0"/>
                </a:lnTo>
                <a:cubicBezTo>
                  <a:pt x="5417545" y="0"/>
                  <a:pt x="5446794" y="29249"/>
                  <a:pt x="5446794" y="65330"/>
                </a:cubicBezTo>
                <a:lnTo>
                  <a:pt x="5446794" y="669620"/>
                </a:lnTo>
                <a:cubicBezTo>
                  <a:pt x="5446794" y="705701"/>
                  <a:pt x="5417545" y="734950"/>
                  <a:pt x="5381465" y="734950"/>
                </a:cubicBezTo>
                <a:lnTo>
                  <a:pt x="65330" y="734950"/>
                </a:lnTo>
                <a:cubicBezTo>
                  <a:pt x="29249" y="734950"/>
                  <a:pt x="0" y="705701"/>
                  <a:pt x="0" y="669620"/>
                </a:cubicBezTo>
                <a:lnTo>
                  <a:pt x="0" y="65330"/>
                </a:lnTo>
                <a:cubicBezTo>
                  <a:pt x="0" y="29273"/>
                  <a:pt x="29273" y="0"/>
                  <a:pt x="6533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8" name="Shape 76"/>
          <p:cNvSpPr/>
          <p:nvPr/>
        </p:nvSpPr>
        <p:spPr>
          <a:xfrm>
            <a:off x="6358655" y="4281720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65329" y="0"/>
                </a:moveTo>
                <a:lnTo>
                  <a:pt x="195987" y="0"/>
                </a:lnTo>
                <a:cubicBezTo>
                  <a:pt x="232067" y="0"/>
                  <a:pt x="261315" y="29249"/>
                  <a:pt x="261315" y="65329"/>
                </a:cubicBezTo>
                <a:lnTo>
                  <a:pt x="261315" y="195987"/>
                </a:lnTo>
                <a:cubicBezTo>
                  <a:pt x="261315" y="232067"/>
                  <a:pt x="232067" y="261315"/>
                  <a:pt x="195987" y="261315"/>
                </a:cubicBezTo>
                <a:lnTo>
                  <a:pt x="65329" y="261315"/>
                </a:lnTo>
                <a:cubicBezTo>
                  <a:pt x="29249" y="261315"/>
                  <a:pt x="0" y="232067"/>
                  <a:pt x="0" y="195987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D95D5D">
              <a:alpha val="70196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6455628" y="4330717"/>
            <a:ext cx="122492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717964" y="4314385"/>
            <a:ext cx="95543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heart_rate_max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1400206" y="4298053"/>
            <a:ext cx="342977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D95D5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0.12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6358655" y="4608365"/>
            <a:ext cx="5316137" cy="81661"/>
          </a:xfrm>
          <a:custGeom>
            <a:avLst/>
            <a:gdLst/>
            <a:ahLst/>
            <a:cxnLst/>
            <a:rect l="l" t="t" r="r" b="b"/>
            <a:pathLst>
              <a:path w="5316137" h="81661">
                <a:moveTo>
                  <a:pt x="40831" y="0"/>
                </a:moveTo>
                <a:lnTo>
                  <a:pt x="5275306" y="0"/>
                </a:lnTo>
                <a:cubicBezTo>
                  <a:pt x="5297856" y="0"/>
                  <a:pt x="5316137" y="18280"/>
                  <a:pt x="5316137" y="40831"/>
                </a:cubicBezTo>
                <a:lnTo>
                  <a:pt x="5316137" y="40831"/>
                </a:lnTo>
                <a:cubicBezTo>
                  <a:pt x="5316137" y="63381"/>
                  <a:pt x="5297856" y="81661"/>
                  <a:pt x="5275306" y="81661"/>
                </a:cubicBezTo>
                <a:lnTo>
                  <a:pt x="40831" y="81661"/>
                </a:lnTo>
                <a:cubicBezTo>
                  <a:pt x="18296" y="81661"/>
                  <a:pt x="0" y="63366"/>
                  <a:pt x="0" y="40831"/>
                </a:cubicBezTo>
                <a:lnTo>
                  <a:pt x="0" y="40831"/>
                </a:lnTo>
                <a:cubicBezTo>
                  <a:pt x="0" y="18296"/>
                  <a:pt x="18296" y="0"/>
                  <a:pt x="40831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83" name="Shape 81"/>
          <p:cNvSpPr/>
          <p:nvPr/>
        </p:nvSpPr>
        <p:spPr>
          <a:xfrm>
            <a:off x="6358655" y="4608365"/>
            <a:ext cx="3560423" cy="81661"/>
          </a:xfrm>
          <a:custGeom>
            <a:avLst/>
            <a:gdLst/>
            <a:ahLst/>
            <a:cxnLst/>
            <a:rect l="l" t="t" r="r" b="b"/>
            <a:pathLst>
              <a:path w="3560423" h="81661">
                <a:moveTo>
                  <a:pt x="40831" y="0"/>
                </a:moveTo>
                <a:lnTo>
                  <a:pt x="3519593" y="0"/>
                </a:lnTo>
                <a:cubicBezTo>
                  <a:pt x="3542143" y="0"/>
                  <a:pt x="3560423" y="18280"/>
                  <a:pt x="3560423" y="40831"/>
                </a:cubicBezTo>
                <a:lnTo>
                  <a:pt x="3560423" y="40831"/>
                </a:lnTo>
                <a:cubicBezTo>
                  <a:pt x="3560423" y="63381"/>
                  <a:pt x="3542143" y="81661"/>
                  <a:pt x="3519593" y="81661"/>
                </a:cubicBezTo>
                <a:lnTo>
                  <a:pt x="40831" y="81661"/>
                </a:lnTo>
                <a:cubicBezTo>
                  <a:pt x="18296" y="81661"/>
                  <a:pt x="0" y="63366"/>
                  <a:pt x="0" y="40831"/>
                </a:cubicBezTo>
                <a:lnTo>
                  <a:pt x="0" y="40831"/>
                </a:lnTo>
                <a:cubicBezTo>
                  <a:pt x="0" y="18296"/>
                  <a:pt x="18296" y="0"/>
                  <a:pt x="40831" y="0"/>
                </a:cubicBezTo>
                <a:close/>
              </a:path>
            </a:pathLst>
          </a:custGeom>
          <a:solidFill>
            <a:srgbClr val="D95D5D">
              <a:alpha val="70196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6358655" y="4722690"/>
            <a:ext cx="5373299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Fréquence cardiaque maximale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6293326" y="5087422"/>
            <a:ext cx="5446794" cy="734950"/>
          </a:xfrm>
          <a:custGeom>
            <a:avLst/>
            <a:gdLst/>
            <a:ahLst/>
            <a:cxnLst/>
            <a:rect l="l" t="t" r="r" b="b"/>
            <a:pathLst>
              <a:path w="5446794" h="734950">
                <a:moveTo>
                  <a:pt x="65330" y="0"/>
                </a:moveTo>
                <a:lnTo>
                  <a:pt x="5381465" y="0"/>
                </a:lnTo>
                <a:cubicBezTo>
                  <a:pt x="5417545" y="0"/>
                  <a:pt x="5446794" y="29249"/>
                  <a:pt x="5446794" y="65330"/>
                </a:cubicBezTo>
                <a:lnTo>
                  <a:pt x="5446794" y="669620"/>
                </a:lnTo>
                <a:cubicBezTo>
                  <a:pt x="5446794" y="705701"/>
                  <a:pt x="5417545" y="734950"/>
                  <a:pt x="5381465" y="734950"/>
                </a:cubicBezTo>
                <a:lnTo>
                  <a:pt x="65330" y="734950"/>
                </a:lnTo>
                <a:cubicBezTo>
                  <a:pt x="29249" y="734950"/>
                  <a:pt x="0" y="705701"/>
                  <a:pt x="0" y="669620"/>
                </a:cubicBezTo>
                <a:lnTo>
                  <a:pt x="0" y="65330"/>
                </a:lnTo>
                <a:cubicBezTo>
                  <a:pt x="0" y="29273"/>
                  <a:pt x="29273" y="0"/>
                  <a:pt x="6533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86" name="Shape 84"/>
          <p:cNvSpPr/>
          <p:nvPr/>
        </p:nvSpPr>
        <p:spPr>
          <a:xfrm>
            <a:off x="6358655" y="5152751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65329" y="0"/>
                </a:moveTo>
                <a:lnTo>
                  <a:pt x="195987" y="0"/>
                </a:lnTo>
                <a:cubicBezTo>
                  <a:pt x="232067" y="0"/>
                  <a:pt x="261315" y="29249"/>
                  <a:pt x="261315" y="65329"/>
                </a:cubicBezTo>
                <a:lnTo>
                  <a:pt x="261315" y="195987"/>
                </a:lnTo>
                <a:cubicBezTo>
                  <a:pt x="261315" y="232067"/>
                  <a:pt x="232067" y="261315"/>
                  <a:pt x="195987" y="261315"/>
                </a:cubicBezTo>
                <a:lnTo>
                  <a:pt x="65329" y="261315"/>
                </a:lnTo>
                <a:cubicBezTo>
                  <a:pt x="29249" y="261315"/>
                  <a:pt x="0" y="232067"/>
                  <a:pt x="0" y="195987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1A3A4A">
              <a:alpha val="70196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6456330" y="5201747"/>
            <a:ext cx="122492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6717964" y="5185415"/>
            <a:ext cx="293980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BMI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11391849" y="5169083"/>
            <a:ext cx="351143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1A3A4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0.10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6358655" y="5479395"/>
            <a:ext cx="5316137" cy="81661"/>
          </a:xfrm>
          <a:custGeom>
            <a:avLst/>
            <a:gdLst/>
            <a:ahLst/>
            <a:cxnLst/>
            <a:rect l="l" t="t" r="r" b="b"/>
            <a:pathLst>
              <a:path w="5316137" h="81661">
                <a:moveTo>
                  <a:pt x="40831" y="0"/>
                </a:moveTo>
                <a:lnTo>
                  <a:pt x="5275306" y="0"/>
                </a:lnTo>
                <a:cubicBezTo>
                  <a:pt x="5297856" y="0"/>
                  <a:pt x="5316137" y="18280"/>
                  <a:pt x="5316137" y="40831"/>
                </a:cubicBezTo>
                <a:lnTo>
                  <a:pt x="5316137" y="40831"/>
                </a:lnTo>
                <a:cubicBezTo>
                  <a:pt x="5316137" y="63381"/>
                  <a:pt x="5297856" y="81661"/>
                  <a:pt x="5275306" y="81661"/>
                </a:cubicBezTo>
                <a:lnTo>
                  <a:pt x="40831" y="81661"/>
                </a:lnTo>
                <a:cubicBezTo>
                  <a:pt x="18296" y="81661"/>
                  <a:pt x="0" y="63366"/>
                  <a:pt x="0" y="40831"/>
                </a:cubicBezTo>
                <a:lnTo>
                  <a:pt x="0" y="40831"/>
                </a:lnTo>
                <a:cubicBezTo>
                  <a:pt x="0" y="18296"/>
                  <a:pt x="18296" y="0"/>
                  <a:pt x="40831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91" name="Shape 89"/>
          <p:cNvSpPr/>
          <p:nvPr/>
        </p:nvSpPr>
        <p:spPr>
          <a:xfrm>
            <a:off x="6358655" y="5479395"/>
            <a:ext cx="2972463" cy="81661"/>
          </a:xfrm>
          <a:custGeom>
            <a:avLst/>
            <a:gdLst/>
            <a:ahLst/>
            <a:cxnLst/>
            <a:rect l="l" t="t" r="r" b="b"/>
            <a:pathLst>
              <a:path w="2972463" h="81661">
                <a:moveTo>
                  <a:pt x="40831" y="0"/>
                </a:moveTo>
                <a:lnTo>
                  <a:pt x="2931633" y="0"/>
                </a:lnTo>
                <a:cubicBezTo>
                  <a:pt x="2954183" y="0"/>
                  <a:pt x="2972463" y="18280"/>
                  <a:pt x="2972463" y="40831"/>
                </a:cubicBezTo>
                <a:lnTo>
                  <a:pt x="2972463" y="40831"/>
                </a:lnTo>
                <a:cubicBezTo>
                  <a:pt x="2972463" y="63381"/>
                  <a:pt x="2954183" y="81661"/>
                  <a:pt x="2931633" y="81661"/>
                </a:cubicBezTo>
                <a:lnTo>
                  <a:pt x="40831" y="81661"/>
                </a:lnTo>
                <a:cubicBezTo>
                  <a:pt x="18296" y="81661"/>
                  <a:pt x="0" y="63366"/>
                  <a:pt x="0" y="40831"/>
                </a:cubicBezTo>
                <a:lnTo>
                  <a:pt x="0" y="40831"/>
                </a:lnTo>
                <a:cubicBezTo>
                  <a:pt x="0" y="18296"/>
                  <a:pt x="18296" y="0"/>
                  <a:pt x="40831" y="0"/>
                </a:cubicBezTo>
                <a:close/>
              </a:path>
            </a:pathLst>
          </a:custGeom>
          <a:solidFill>
            <a:srgbClr val="1A3A4A">
              <a:alpha val="70196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6358655" y="5593721"/>
            <a:ext cx="5373299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Indice de masse corporelle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6293326" y="5958516"/>
            <a:ext cx="5446794" cy="734950"/>
          </a:xfrm>
          <a:custGeom>
            <a:avLst/>
            <a:gdLst/>
            <a:ahLst/>
            <a:cxnLst/>
            <a:rect l="l" t="t" r="r" b="b"/>
            <a:pathLst>
              <a:path w="5446794" h="734950">
                <a:moveTo>
                  <a:pt x="65330" y="0"/>
                </a:moveTo>
                <a:lnTo>
                  <a:pt x="5381465" y="0"/>
                </a:lnTo>
                <a:cubicBezTo>
                  <a:pt x="5417545" y="0"/>
                  <a:pt x="5446794" y="29249"/>
                  <a:pt x="5446794" y="65330"/>
                </a:cubicBezTo>
                <a:lnTo>
                  <a:pt x="5446794" y="669620"/>
                </a:lnTo>
                <a:cubicBezTo>
                  <a:pt x="5446794" y="705701"/>
                  <a:pt x="5417545" y="734950"/>
                  <a:pt x="5381465" y="734950"/>
                </a:cubicBezTo>
                <a:lnTo>
                  <a:pt x="65330" y="734950"/>
                </a:lnTo>
                <a:cubicBezTo>
                  <a:pt x="29249" y="734950"/>
                  <a:pt x="0" y="705701"/>
                  <a:pt x="0" y="669620"/>
                </a:cubicBezTo>
                <a:lnTo>
                  <a:pt x="0" y="65330"/>
                </a:lnTo>
                <a:cubicBezTo>
                  <a:pt x="0" y="29273"/>
                  <a:pt x="29273" y="0"/>
                  <a:pt x="6533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94" name="Shape 92"/>
          <p:cNvSpPr/>
          <p:nvPr/>
        </p:nvSpPr>
        <p:spPr>
          <a:xfrm>
            <a:off x="6358655" y="6023845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65329" y="0"/>
                </a:moveTo>
                <a:lnTo>
                  <a:pt x="195987" y="0"/>
                </a:lnTo>
                <a:cubicBezTo>
                  <a:pt x="232067" y="0"/>
                  <a:pt x="261315" y="29249"/>
                  <a:pt x="261315" y="65329"/>
                </a:cubicBezTo>
                <a:lnTo>
                  <a:pt x="261315" y="195987"/>
                </a:lnTo>
                <a:cubicBezTo>
                  <a:pt x="261315" y="232067"/>
                  <a:pt x="232067" y="261315"/>
                  <a:pt x="195987" y="261315"/>
                </a:cubicBezTo>
                <a:lnTo>
                  <a:pt x="65329" y="261315"/>
                </a:lnTo>
                <a:cubicBezTo>
                  <a:pt x="29249" y="261315"/>
                  <a:pt x="0" y="232067"/>
                  <a:pt x="0" y="195987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4A6D7C">
              <a:alpha val="70196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6455117" y="6072841"/>
            <a:ext cx="122492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6717964" y="6056509"/>
            <a:ext cx="816611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hypertension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11360397" y="6040177"/>
            <a:ext cx="383807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4A6D7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0.08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6358655" y="6350489"/>
            <a:ext cx="5316137" cy="81661"/>
          </a:xfrm>
          <a:custGeom>
            <a:avLst/>
            <a:gdLst/>
            <a:ahLst/>
            <a:cxnLst/>
            <a:rect l="l" t="t" r="r" b="b"/>
            <a:pathLst>
              <a:path w="5316137" h="81661">
                <a:moveTo>
                  <a:pt x="40831" y="0"/>
                </a:moveTo>
                <a:lnTo>
                  <a:pt x="5275306" y="0"/>
                </a:lnTo>
                <a:cubicBezTo>
                  <a:pt x="5297856" y="0"/>
                  <a:pt x="5316137" y="18280"/>
                  <a:pt x="5316137" y="40831"/>
                </a:cubicBezTo>
                <a:lnTo>
                  <a:pt x="5316137" y="40831"/>
                </a:lnTo>
                <a:cubicBezTo>
                  <a:pt x="5316137" y="63381"/>
                  <a:pt x="5297856" y="81661"/>
                  <a:pt x="5275306" y="81661"/>
                </a:cubicBezTo>
                <a:lnTo>
                  <a:pt x="40831" y="81661"/>
                </a:lnTo>
                <a:cubicBezTo>
                  <a:pt x="18296" y="81661"/>
                  <a:pt x="0" y="63366"/>
                  <a:pt x="0" y="40831"/>
                </a:cubicBezTo>
                <a:lnTo>
                  <a:pt x="0" y="40831"/>
                </a:lnTo>
                <a:cubicBezTo>
                  <a:pt x="0" y="18296"/>
                  <a:pt x="18296" y="0"/>
                  <a:pt x="40831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99" name="Shape 97"/>
          <p:cNvSpPr/>
          <p:nvPr/>
        </p:nvSpPr>
        <p:spPr>
          <a:xfrm>
            <a:off x="6358655" y="6350489"/>
            <a:ext cx="2335507" cy="81661"/>
          </a:xfrm>
          <a:custGeom>
            <a:avLst/>
            <a:gdLst/>
            <a:ahLst/>
            <a:cxnLst/>
            <a:rect l="l" t="t" r="r" b="b"/>
            <a:pathLst>
              <a:path w="2335507" h="81661">
                <a:moveTo>
                  <a:pt x="40831" y="0"/>
                </a:moveTo>
                <a:lnTo>
                  <a:pt x="2294676" y="0"/>
                </a:lnTo>
                <a:cubicBezTo>
                  <a:pt x="2317227" y="0"/>
                  <a:pt x="2335507" y="18280"/>
                  <a:pt x="2335507" y="40831"/>
                </a:cubicBezTo>
                <a:lnTo>
                  <a:pt x="2335507" y="40831"/>
                </a:lnTo>
                <a:cubicBezTo>
                  <a:pt x="2335507" y="63381"/>
                  <a:pt x="2317227" y="81661"/>
                  <a:pt x="2294676" y="81661"/>
                </a:cubicBezTo>
                <a:lnTo>
                  <a:pt x="40831" y="81661"/>
                </a:lnTo>
                <a:cubicBezTo>
                  <a:pt x="18296" y="81661"/>
                  <a:pt x="0" y="63366"/>
                  <a:pt x="0" y="40831"/>
                </a:cubicBezTo>
                <a:lnTo>
                  <a:pt x="0" y="40831"/>
                </a:lnTo>
                <a:cubicBezTo>
                  <a:pt x="0" y="18296"/>
                  <a:pt x="18296" y="0"/>
                  <a:pt x="40831" y="0"/>
                </a:cubicBezTo>
                <a:close/>
              </a:path>
            </a:pathLst>
          </a:custGeom>
          <a:solidFill>
            <a:srgbClr val="4A6D7C">
              <a:alpha val="70196"/>
            </a:srgbClr>
          </a:solidFill>
          <a:ln/>
        </p:spPr>
      </p:sp>
      <p:sp>
        <p:nvSpPr>
          <p:cNvPr id="100" name="Text 98"/>
          <p:cNvSpPr/>
          <p:nvPr/>
        </p:nvSpPr>
        <p:spPr>
          <a:xfrm>
            <a:off x="6358655" y="6464815"/>
            <a:ext cx="5373299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Flag HTA (≥140 mmHg)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398" y="417908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109019" y="0"/>
                </a:moveTo>
                <a:lnTo>
                  <a:pt x="327058" y="0"/>
                </a:lnTo>
                <a:cubicBezTo>
                  <a:pt x="387268" y="0"/>
                  <a:pt x="436077" y="48810"/>
                  <a:pt x="436077" y="109019"/>
                </a:cubicBezTo>
                <a:lnTo>
                  <a:pt x="436077" y="327058"/>
                </a:lnTo>
                <a:cubicBezTo>
                  <a:pt x="436077" y="387268"/>
                  <a:pt x="387268" y="436077"/>
                  <a:pt x="327058" y="436077"/>
                </a:cubicBezTo>
                <a:lnTo>
                  <a:pt x="109019" y="436077"/>
                </a:lnTo>
                <a:cubicBezTo>
                  <a:pt x="48810" y="436077"/>
                  <a:pt x="0" y="387268"/>
                  <a:pt x="0" y="327058"/>
                </a:cubicBezTo>
                <a:lnTo>
                  <a:pt x="0" y="109019"/>
                </a:lnTo>
                <a:cubicBezTo>
                  <a:pt x="0" y="48810"/>
                  <a:pt x="48810" y="0"/>
                  <a:pt x="109019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0587" y="545097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90849" y="0"/>
                </a:moveTo>
                <a:cubicBezTo>
                  <a:pt x="96066" y="0"/>
                  <a:pt x="100857" y="2875"/>
                  <a:pt x="103341" y="7452"/>
                </a:cubicBezTo>
                <a:lnTo>
                  <a:pt x="179996" y="149405"/>
                </a:lnTo>
                <a:cubicBezTo>
                  <a:pt x="182373" y="153805"/>
                  <a:pt x="182267" y="159129"/>
                  <a:pt x="179712" y="163423"/>
                </a:cubicBezTo>
                <a:cubicBezTo>
                  <a:pt x="177156" y="167717"/>
                  <a:pt x="172508" y="170343"/>
                  <a:pt x="167504" y="170343"/>
                </a:cubicBezTo>
                <a:lnTo>
                  <a:pt x="14195" y="170343"/>
                </a:lnTo>
                <a:cubicBezTo>
                  <a:pt x="9191" y="170343"/>
                  <a:pt x="4578" y="167717"/>
                  <a:pt x="1987" y="163423"/>
                </a:cubicBezTo>
                <a:cubicBezTo>
                  <a:pt x="-603" y="159129"/>
                  <a:pt x="-674" y="153805"/>
                  <a:pt x="1703" y="149405"/>
                </a:cubicBezTo>
                <a:lnTo>
                  <a:pt x="78358" y="7452"/>
                </a:lnTo>
                <a:cubicBezTo>
                  <a:pt x="80842" y="2875"/>
                  <a:pt x="85633" y="0"/>
                  <a:pt x="90849" y="0"/>
                </a:cubicBezTo>
                <a:close/>
                <a:moveTo>
                  <a:pt x="90849" y="59620"/>
                </a:moveTo>
                <a:cubicBezTo>
                  <a:pt x="86130" y="59620"/>
                  <a:pt x="82332" y="63417"/>
                  <a:pt x="82332" y="68137"/>
                </a:cubicBezTo>
                <a:lnTo>
                  <a:pt x="82332" y="107884"/>
                </a:lnTo>
                <a:cubicBezTo>
                  <a:pt x="82332" y="112604"/>
                  <a:pt x="86130" y="116401"/>
                  <a:pt x="90849" y="116401"/>
                </a:cubicBezTo>
                <a:cubicBezTo>
                  <a:pt x="95569" y="116401"/>
                  <a:pt x="99367" y="112604"/>
                  <a:pt x="99367" y="107884"/>
                </a:cubicBezTo>
                <a:lnTo>
                  <a:pt x="99367" y="68137"/>
                </a:lnTo>
                <a:cubicBezTo>
                  <a:pt x="99367" y="63417"/>
                  <a:pt x="95569" y="59620"/>
                  <a:pt x="90849" y="59620"/>
                </a:cubicBezTo>
                <a:close/>
                <a:moveTo>
                  <a:pt x="100325" y="136274"/>
                </a:moveTo>
                <a:cubicBezTo>
                  <a:pt x="100540" y="132757"/>
                  <a:pt x="98786" y="129411"/>
                  <a:pt x="95771" y="127587"/>
                </a:cubicBezTo>
                <a:cubicBezTo>
                  <a:pt x="92756" y="125763"/>
                  <a:pt x="88978" y="125763"/>
                  <a:pt x="85963" y="127587"/>
                </a:cubicBezTo>
                <a:cubicBezTo>
                  <a:pt x="82948" y="129411"/>
                  <a:pt x="81194" y="132757"/>
                  <a:pt x="81410" y="136274"/>
                </a:cubicBezTo>
                <a:cubicBezTo>
                  <a:pt x="81194" y="139791"/>
                  <a:pt x="82948" y="143138"/>
                  <a:pt x="85963" y="144961"/>
                </a:cubicBezTo>
                <a:cubicBezTo>
                  <a:pt x="88978" y="146785"/>
                  <a:pt x="92756" y="146785"/>
                  <a:pt x="95771" y="144961"/>
                </a:cubicBezTo>
                <a:cubicBezTo>
                  <a:pt x="98786" y="143138"/>
                  <a:pt x="100540" y="139791"/>
                  <a:pt x="100325" y="136274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4" name="Text 2"/>
          <p:cNvSpPr/>
          <p:nvPr/>
        </p:nvSpPr>
        <p:spPr>
          <a:xfrm>
            <a:off x="908495" y="363398"/>
            <a:ext cx="2616465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spc="50" kern="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Clinique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08495" y="545097"/>
            <a:ext cx="2716399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5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Analyse des Erreurs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3398" y="981174"/>
            <a:ext cx="11537884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Matrice de confusion et interprétation clinique des erreurs de prédiction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3398" y="1344572"/>
            <a:ext cx="4497049" cy="5514563"/>
          </a:xfrm>
          <a:custGeom>
            <a:avLst/>
            <a:gdLst/>
            <a:ahLst/>
            <a:cxnLst/>
            <a:rect l="l" t="t" r="r" b="b"/>
            <a:pathLst>
              <a:path w="4497049" h="5514563">
                <a:moveTo>
                  <a:pt x="109008" y="0"/>
                </a:moveTo>
                <a:lnTo>
                  <a:pt x="4388041" y="0"/>
                </a:lnTo>
                <a:cubicBezTo>
                  <a:pt x="4448244" y="0"/>
                  <a:pt x="4497049" y="48805"/>
                  <a:pt x="4497049" y="109008"/>
                </a:cubicBezTo>
                <a:lnTo>
                  <a:pt x="4497049" y="5405555"/>
                </a:lnTo>
                <a:cubicBezTo>
                  <a:pt x="4497049" y="5465759"/>
                  <a:pt x="4448244" y="5514563"/>
                  <a:pt x="4388041" y="5514563"/>
                </a:cubicBezTo>
                <a:lnTo>
                  <a:pt x="109008" y="5514563"/>
                </a:lnTo>
                <a:cubicBezTo>
                  <a:pt x="48805" y="5514563"/>
                  <a:pt x="0" y="5465759"/>
                  <a:pt x="0" y="5405555"/>
                </a:cubicBezTo>
                <a:lnTo>
                  <a:pt x="0" y="109008"/>
                </a:lnTo>
                <a:cubicBezTo>
                  <a:pt x="0" y="48845"/>
                  <a:pt x="48845" y="0"/>
                  <a:pt x="1090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4510" dist="3634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757" y="1489931"/>
            <a:ext cx="363398" cy="363398"/>
          </a:xfrm>
          <a:custGeom>
            <a:avLst/>
            <a:gdLst/>
            <a:ahLst/>
            <a:cxnLst/>
            <a:rect l="l" t="t" r="r" b="b"/>
            <a:pathLst>
              <a:path w="363398" h="363398">
                <a:moveTo>
                  <a:pt x="72680" y="0"/>
                </a:moveTo>
                <a:lnTo>
                  <a:pt x="290718" y="0"/>
                </a:lnTo>
                <a:cubicBezTo>
                  <a:pt x="330831" y="0"/>
                  <a:pt x="363398" y="32567"/>
                  <a:pt x="363398" y="72680"/>
                </a:cubicBezTo>
                <a:lnTo>
                  <a:pt x="363398" y="290718"/>
                </a:lnTo>
                <a:cubicBezTo>
                  <a:pt x="363398" y="330831"/>
                  <a:pt x="330831" y="363398"/>
                  <a:pt x="290718" y="363398"/>
                </a:cubicBezTo>
                <a:lnTo>
                  <a:pt x="72680" y="363398"/>
                </a:lnTo>
                <a:cubicBezTo>
                  <a:pt x="32567" y="363398"/>
                  <a:pt x="0" y="330831"/>
                  <a:pt x="0" y="290718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1A3A4A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1183" y="1589866"/>
            <a:ext cx="143088" cy="163529"/>
          </a:xfrm>
          <a:custGeom>
            <a:avLst/>
            <a:gdLst/>
            <a:ahLst/>
            <a:cxnLst/>
            <a:rect l="l" t="t" r="r" b="b"/>
            <a:pathLst>
              <a:path w="143088" h="163529">
                <a:moveTo>
                  <a:pt x="122647" y="30662"/>
                </a:moveTo>
                <a:lnTo>
                  <a:pt x="122647" y="51103"/>
                </a:lnTo>
                <a:lnTo>
                  <a:pt x="102206" y="51103"/>
                </a:lnTo>
                <a:lnTo>
                  <a:pt x="102206" y="30662"/>
                </a:lnTo>
                <a:lnTo>
                  <a:pt x="122647" y="30662"/>
                </a:lnTo>
                <a:close/>
                <a:moveTo>
                  <a:pt x="122647" y="71544"/>
                </a:moveTo>
                <a:lnTo>
                  <a:pt x="122647" y="91985"/>
                </a:lnTo>
                <a:lnTo>
                  <a:pt x="102206" y="91985"/>
                </a:lnTo>
                <a:lnTo>
                  <a:pt x="102206" y="71544"/>
                </a:lnTo>
                <a:lnTo>
                  <a:pt x="122647" y="71544"/>
                </a:lnTo>
                <a:close/>
                <a:moveTo>
                  <a:pt x="122647" y="112426"/>
                </a:moveTo>
                <a:lnTo>
                  <a:pt x="122647" y="132867"/>
                </a:lnTo>
                <a:lnTo>
                  <a:pt x="102206" y="132867"/>
                </a:lnTo>
                <a:lnTo>
                  <a:pt x="102206" y="112426"/>
                </a:lnTo>
                <a:lnTo>
                  <a:pt x="122647" y="112426"/>
                </a:lnTo>
                <a:close/>
                <a:moveTo>
                  <a:pt x="81765" y="91985"/>
                </a:moveTo>
                <a:lnTo>
                  <a:pt x="61323" y="91985"/>
                </a:lnTo>
                <a:lnTo>
                  <a:pt x="61323" y="71544"/>
                </a:lnTo>
                <a:lnTo>
                  <a:pt x="81765" y="71544"/>
                </a:lnTo>
                <a:lnTo>
                  <a:pt x="81765" y="91985"/>
                </a:lnTo>
                <a:close/>
                <a:moveTo>
                  <a:pt x="61323" y="112426"/>
                </a:moveTo>
                <a:lnTo>
                  <a:pt x="81765" y="112426"/>
                </a:lnTo>
                <a:lnTo>
                  <a:pt x="81765" y="132867"/>
                </a:lnTo>
                <a:lnTo>
                  <a:pt x="61323" y="132867"/>
                </a:lnTo>
                <a:lnTo>
                  <a:pt x="61323" y="112426"/>
                </a:lnTo>
                <a:close/>
                <a:moveTo>
                  <a:pt x="40882" y="91985"/>
                </a:moveTo>
                <a:lnTo>
                  <a:pt x="20441" y="91985"/>
                </a:lnTo>
                <a:lnTo>
                  <a:pt x="20441" y="71544"/>
                </a:lnTo>
                <a:lnTo>
                  <a:pt x="40882" y="71544"/>
                </a:lnTo>
                <a:lnTo>
                  <a:pt x="40882" y="91985"/>
                </a:lnTo>
                <a:close/>
                <a:moveTo>
                  <a:pt x="20441" y="112426"/>
                </a:moveTo>
                <a:lnTo>
                  <a:pt x="40882" y="112426"/>
                </a:lnTo>
                <a:lnTo>
                  <a:pt x="40882" y="132867"/>
                </a:lnTo>
                <a:lnTo>
                  <a:pt x="20441" y="132867"/>
                </a:lnTo>
                <a:lnTo>
                  <a:pt x="20441" y="112426"/>
                </a:lnTo>
                <a:close/>
                <a:moveTo>
                  <a:pt x="20441" y="51103"/>
                </a:moveTo>
                <a:lnTo>
                  <a:pt x="20441" y="30662"/>
                </a:lnTo>
                <a:lnTo>
                  <a:pt x="40882" y="30662"/>
                </a:lnTo>
                <a:lnTo>
                  <a:pt x="40882" y="51103"/>
                </a:lnTo>
                <a:lnTo>
                  <a:pt x="20441" y="51103"/>
                </a:lnTo>
                <a:close/>
                <a:moveTo>
                  <a:pt x="61323" y="51103"/>
                </a:moveTo>
                <a:lnTo>
                  <a:pt x="61323" y="30662"/>
                </a:lnTo>
                <a:lnTo>
                  <a:pt x="81765" y="30662"/>
                </a:lnTo>
                <a:lnTo>
                  <a:pt x="81765" y="51103"/>
                </a:lnTo>
                <a:lnTo>
                  <a:pt x="61323" y="51103"/>
                </a:lnTo>
                <a:close/>
                <a:moveTo>
                  <a:pt x="20441" y="10221"/>
                </a:moveTo>
                <a:cubicBezTo>
                  <a:pt x="9167" y="10221"/>
                  <a:pt x="0" y="19387"/>
                  <a:pt x="0" y="30662"/>
                </a:cubicBezTo>
                <a:lnTo>
                  <a:pt x="0" y="132867"/>
                </a:lnTo>
                <a:cubicBezTo>
                  <a:pt x="0" y="144142"/>
                  <a:pt x="9167" y="153308"/>
                  <a:pt x="20441" y="153308"/>
                </a:cubicBezTo>
                <a:lnTo>
                  <a:pt x="122647" y="153308"/>
                </a:lnTo>
                <a:cubicBezTo>
                  <a:pt x="133921" y="153308"/>
                  <a:pt x="143088" y="144142"/>
                  <a:pt x="143088" y="132867"/>
                </a:cubicBezTo>
                <a:lnTo>
                  <a:pt x="143088" y="30662"/>
                </a:lnTo>
                <a:cubicBezTo>
                  <a:pt x="143088" y="19387"/>
                  <a:pt x="133921" y="10221"/>
                  <a:pt x="122647" y="10221"/>
                </a:cubicBezTo>
                <a:lnTo>
                  <a:pt x="20441" y="10221"/>
                </a:ln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10" name="Text 8"/>
          <p:cNvSpPr/>
          <p:nvPr/>
        </p:nvSpPr>
        <p:spPr>
          <a:xfrm>
            <a:off x="981174" y="1544441"/>
            <a:ext cx="1635291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Matrice de Confusion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35946" y="2965100"/>
            <a:ext cx="1353657" cy="472417"/>
          </a:xfrm>
          <a:custGeom>
            <a:avLst/>
            <a:gdLst/>
            <a:ahLst/>
            <a:cxnLst/>
            <a:rect l="l" t="t" r="r" b="b"/>
            <a:pathLst>
              <a:path w="1353657" h="472417">
                <a:moveTo>
                  <a:pt x="72681" y="0"/>
                </a:moveTo>
                <a:lnTo>
                  <a:pt x="1280976" y="0"/>
                </a:lnTo>
                <a:cubicBezTo>
                  <a:pt x="1321117" y="0"/>
                  <a:pt x="1353657" y="32541"/>
                  <a:pt x="1353657" y="72681"/>
                </a:cubicBezTo>
                <a:lnTo>
                  <a:pt x="1353657" y="399736"/>
                </a:lnTo>
                <a:cubicBezTo>
                  <a:pt x="1353657" y="439877"/>
                  <a:pt x="1321117" y="472417"/>
                  <a:pt x="1280976" y="472417"/>
                </a:cubicBezTo>
                <a:lnTo>
                  <a:pt x="72681" y="472417"/>
                </a:lnTo>
                <a:cubicBezTo>
                  <a:pt x="32541" y="472417"/>
                  <a:pt x="0" y="439877"/>
                  <a:pt x="0" y="399736"/>
                </a:cubicBezTo>
                <a:lnTo>
                  <a:pt x="0" y="72681"/>
                </a:lnTo>
                <a:cubicBezTo>
                  <a:pt x="0" y="32567"/>
                  <a:pt x="32567" y="0"/>
                  <a:pt x="72681" y="0"/>
                </a:cubicBezTo>
                <a:close/>
              </a:path>
            </a:pathLst>
          </a:custGeom>
          <a:solidFill>
            <a:srgbClr val="4A6D7C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981370" y="3037779"/>
            <a:ext cx="1262808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8" b="1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Prédit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76828" y="3183139"/>
            <a:ext cx="1271893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 de MCV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63134" y="2965100"/>
            <a:ext cx="1353657" cy="472417"/>
          </a:xfrm>
          <a:custGeom>
            <a:avLst/>
            <a:gdLst/>
            <a:ahLst/>
            <a:cxnLst/>
            <a:rect l="l" t="t" r="r" b="b"/>
            <a:pathLst>
              <a:path w="1353657" h="472417">
                <a:moveTo>
                  <a:pt x="72681" y="0"/>
                </a:moveTo>
                <a:lnTo>
                  <a:pt x="1280976" y="0"/>
                </a:lnTo>
                <a:cubicBezTo>
                  <a:pt x="1321117" y="0"/>
                  <a:pt x="1353657" y="32541"/>
                  <a:pt x="1353657" y="72681"/>
                </a:cubicBezTo>
                <a:lnTo>
                  <a:pt x="1353657" y="399736"/>
                </a:lnTo>
                <a:cubicBezTo>
                  <a:pt x="1353657" y="439877"/>
                  <a:pt x="1321117" y="472417"/>
                  <a:pt x="1280976" y="472417"/>
                </a:cubicBezTo>
                <a:lnTo>
                  <a:pt x="72681" y="472417"/>
                </a:lnTo>
                <a:cubicBezTo>
                  <a:pt x="32541" y="472417"/>
                  <a:pt x="0" y="439877"/>
                  <a:pt x="0" y="399736"/>
                </a:cubicBezTo>
                <a:lnTo>
                  <a:pt x="0" y="72681"/>
                </a:lnTo>
                <a:cubicBezTo>
                  <a:pt x="0" y="32567"/>
                  <a:pt x="32567" y="0"/>
                  <a:pt x="72681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408559" y="3037779"/>
            <a:ext cx="1262808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8" b="1" dirty="0">
                <a:solidFill>
                  <a:srgbClr val="D95D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Prédit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04016" y="3183139"/>
            <a:ext cx="1271893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MCV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757" y="3510197"/>
            <a:ext cx="1353657" cy="881240"/>
          </a:xfrm>
          <a:custGeom>
            <a:avLst/>
            <a:gdLst/>
            <a:ahLst/>
            <a:cxnLst/>
            <a:rect l="l" t="t" r="r" b="b"/>
            <a:pathLst>
              <a:path w="1353657" h="881240">
                <a:moveTo>
                  <a:pt x="72676" y="0"/>
                </a:moveTo>
                <a:lnTo>
                  <a:pt x="1280981" y="0"/>
                </a:lnTo>
                <a:cubicBezTo>
                  <a:pt x="1321119" y="0"/>
                  <a:pt x="1353657" y="32538"/>
                  <a:pt x="1353657" y="72676"/>
                </a:cubicBezTo>
                <a:lnTo>
                  <a:pt x="1353657" y="808564"/>
                </a:lnTo>
                <a:cubicBezTo>
                  <a:pt x="1353657" y="848702"/>
                  <a:pt x="1321119" y="881240"/>
                  <a:pt x="1280981" y="881240"/>
                </a:cubicBezTo>
                <a:lnTo>
                  <a:pt x="72676" y="881240"/>
                </a:lnTo>
                <a:cubicBezTo>
                  <a:pt x="32538" y="881240"/>
                  <a:pt x="0" y="848702"/>
                  <a:pt x="0" y="808564"/>
                </a:cubicBezTo>
                <a:lnTo>
                  <a:pt x="0" y="72676"/>
                </a:lnTo>
                <a:cubicBezTo>
                  <a:pt x="0" y="32565"/>
                  <a:pt x="32565" y="0"/>
                  <a:pt x="72676" y="0"/>
                </a:cubicBezTo>
                <a:close/>
              </a:path>
            </a:pathLst>
          </a:custGeom>
          <a:solidFill>
            <a:srgbClr val="4A6D7C">
              <a:alpha val="1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65696" y="3803186"/>
            <a:ext cx="645031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8" b="1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Réel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858" b="1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 de MCV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935946" y="3510197"/>
            <a:ext cx="1353657" cy="881240"/>
          </a:xfrm>
          <a:custGeom>
            <a:avLst/>
            <a:gdLst/>
            <a:ahLst/>
            <a:cxnLst/>
            <a:rect l="l" t="t" r="r" b="b"/>
            <a:pathLst>
              <a:path w="1353657" h="881240">
                <a:moveTo>
                  <a:pt x="72676" y="0"/>
                </a:moveTo>
                <a:lnTo>
                  <a:pt x="1280981" y="0"/>
                </a:lnTo>
                <a:cubicBezTo>
                  <a:pt x="1321119" y="0"/>
                  <a:pt x="1353657" y="32538"/>
                  <a:pt x="1353657" y="72676"/>
                </a:cubicBezTo>
                <a:lnTo>
                  <a:pt x="1353657" y="808564"/>
                </a:lnTo>
                <a:cubicBezTo>
                  <a:pt x="1353657" y="848702"/>
                  <a:pt x="1321119" y="881240"/>
                  <a:pt x="1280981" y="881240"/>
                </a:cubicBezTo>
                <a:lnTo>
                  <a:pt x="72676" y="881240"/>
                </a:lnTo>
                <a:cubicBezTo>
                  <a:pt x="32538" y="881240"/>
                  <a:pt x="0" y="848702"/>
                  <a:pt x="0" y="808564"/>
                </a:cubicBezTo>
                <a:lnTo>
                  <a:pt x="0" y="72676"/>
                </a:lnTo>
                <a:cubicBezTo>
                  <a:pt x="0" y="32565"/>
                  <a:pt x="32565" y="0"/>
                  <a:pt x="72676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20" name="Shape 18"/>
          <p:cNvSpPr/>
          <p:nvPr/>
        </p:nvSpPr>
        <p:spPr>
          <a:xfrm>
            <a:off x="2522351" y="3623759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90849" y="181699"/>
                </a:moveTo>
                <a:cubicBezTo>
                  <a:pt x="140991" y="181699"/>
                  <a:pt x="181699" y="140991"/>
                  <a:pt x="181699" y="90849"/>
                </a:cubicBezTo>
                <a:cubicBezTo>
                  <a:pt x="181699" y="40708"/>
                  <a:pt x="140991" y="0"/>
                  <a:pt x="90849" y="0"/>
                </a:cubicBezTo>
                <a:cubicBezTo>
                  <a:pt x="40708" y="0"/>
                  <a:pt x="0" y="40708"/>
                  <a:pt x="0" y="90849"/>
                </a:cubicBezTo>
                <a:cubicBezTo>
                  <a:pt x="0" y="140991"/>
                  <a:pt x="40708" y="181699"/>
                  <a:pt x="90849" y="181699"/>
                </a:cubicBezTo>
                <a:close/>
                <a:moveTo>
                  <a:pt x="120801" y="75483"/>
                </a:moveTo>
                <a:lnTo>
                  <a:pt x="92411" y="120908"/>
                </a:lnTo>
                <a:cubicBezTo>
                  <a:pt x="90920" y="123286"/>
                  <a:pt x="88365" y="124776"/>
                  <a:pt x="85562" y="124918"/>
                </a:cubicBezTo>
                <a:cubicBezTo>
                  <a:pt x="82758" y="125060"/>
                  <a:pt x="80061" y="123782"/>
                  <a:pt x="78393" y="121511"/>
                </a:cubicBezTo>
                <a:lnTo>
                  <a:pt x="61359" y="98799"/>
                </a:lnTo>
                <a:cubicBezTo>
                  <a:pt x="58520" y="95037"/>
                  <a:pt x="59301" y="89714"/>
                  <a:pt x="63062" y="86875"/>
                </a:cubicBezTo>
                <a:cubicBezTo>
                  <a:pt x="66824" y="84036"/>
                  <a:pt x="72147" y="84817"/>
                  <a:pt x="74986" y="88578"/>
                </a:cubicBezTo>
                <a:lnTo>
                  <a:pt x="84568" y="101354"/>
                </a:lnTo>
                <a:lnTo>
                  <a:pt x="106358" y="66469"/>
                </a:lnTo>
                <a:cubicBezTo>
                  <a:pt x="108842" y="62495"/>
                  <a:pt x="114094" y="61252"/>
                  <a:pt x="118104" y="63772"/>
                </a:cubicBezTo>
                <a:cubicBezTo>
                  <a:pt x="122114" y="66292"/>
                  <a:pt x="123321" y="71508"/>
                  <a:pt x="120801" y="755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004083" y="3841797"/>
            <a:ext cx="1217383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~820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17710" y="4096176"/>
            <a:ext cx="1190128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8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Vrai Négatif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72219" y="3519282"/>
            <a:ext cx="1335487" cy="863070"/>
          </a:xfrm>
          <a:custGeom>
            <a:avLst/>
            <a:gdLst/>
            <a:ahLst/>
            <a:cxnLst/>
            <a:rect l="l" t="t" r="r" b="b"/>
            <a:pathLst>
              <a:path w="1335487" h="863070">
                <a:moveTo>
                  <a:pt x="72679" y="0"/>
                </a:moveTo>
                <a:lnTo>
                  <a:pt x="1262808" y="0"/>
                </a:lnTo>
                <a:cubicBezTo>
                  <a:pt x="1302948" y="0"/>
                  <a:pt x="1335487" y="32540"/>
                  <a:pt x="1335487" y="72679"/>
                </a:cubicBezTo>
                <a:lnTo>
                  <a:pt x="1335487" y="790391"/>
                </a:lnTo>
                <a:cubicBezTo>
                  <a:pt x="1335487" y="830530"/>
                  <a:pt x="1302948" y="863070"/>
                  <a:pt x="1262808" y="863070"/>
                </a:cubicBezTo>
                <a:lnTo>
                  <a:pt x="72679" y="863070"/>
                </a:lnTo>
                <a:cubicBezTo>
                  <a:pt x="32540" y="863070"/>
                  <a:pt x="0" y="830530"/>
                  <a:pt x="0" y="790391"/>
                </a:cubicBezTo>
                <a:lnTo>
                  <a:pt x="0" y="72679"/>
                </a:lnTo>
                <a:cubicBezTo>
                  <a:pt x="0" y="32566"/>
                  <a:pt x="32566" y="0"/>
                  <a:pt x="72679" y="0"/>
                </a:cubicBezTo>
                <a:close/>
              </a:path>
            </a:pathLst>
          </a:custGeom>
          <a:solidFill>
            <a:srgbClr val="D95D5D">
              <a:alpha val="30196"/>
            </a:srgbClr>
          </a:solidFill>
          <a:ln w="25400">
            <a:solidFill>
              <a:srgbClr val="D95D5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49539" y="3641928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90849" y="181699"/>
                </a:moveTo>
                <a:cubicBezTo>
                  <a:pt x="140991" y="181699"/>
                  <a:pt x="181699" y="140991"/>
                  <a:pt x="181699" y="90849"/>
                </a:cubicBezTo>
                <a:cubicBezTo>
                  <a:pt x="181699" y="40708"/>
                  <a:pt x="140991" y="0"/>
                  <a:pt x="90849" y="0"/>
                </a:cubicBezTo>
                <a:cubicBezTo>
                  <a:pt x="40708" y="0"/>
                  <a:pt x="0" y="40708"/>
                  <a:pt x="0" y="90849"/>
                </a:cubicBezTo>
                <a:cubicBezTo>
                  <a:pt x="0" y="140991"/>
                  <a:pt x="40708" y="181699"/>
                  <a:pt x="90849" y="181699"/>
                </a:cubicBezTo>
                <a:close/>
                <a:moveTo>
                  <a:pt x="90849" y="48264"/>
                </a:moveTo>
                <a:cubicBezTo>
                  <a:pt x="95569" y="48264"/>
                  <a:pt x="99367" y="52061"/>
                  <a:pt x="99367" y="56781"/>
                </a:cubicBezTo>
                <a:lnTo>
                  <a:pt x="99367" y="96528"/>
                </a:lnTo>
                <a:cubicBezTo>
                  <a:pt x="99367" y="101247"/>
                  <a:pt x="95569" y="105045"/>
                  <a:pt x="90849" y="105045"/>
                </a:cubicBezTo>
                <a:cubicBezTo>
                  <a:pt x="86130" y="105045"/>
                  <a:pt x="82332" y="101247"/>
                  <a:pt x="82332" y="96528"/>
                </a:cubicBezTo>
                <a:lnTo>
                  <a:pt x="82332" y="56781"/>
                </a:lnTo>
                <a:cubicBezTo>
                  <a:pt x="82332" y="52061"/>
                  <a:pt x="86130" y="48264"/>
                  <a:pt x="90849" y="48264"/>
                </a:cubicBezTo>
                <a:close/>
                <a:moveTo>
                  <a:pt x="81374" y="124918"/>
                </a:moveTo>
                <a:cubicBezTo>
                  <a:pt x="81159" y="121401"/>
                  <a:pt x="82913" y="118055"/>
                  <a:pt x="85928" y="116231"/>
                </a:cubicBezTo>
                <a:cubicBezTo>
                  <a:pt x="88943" y="114407"/>
                  <a:pt x="92721" y="114407"/>
                  <a:pt x="95736" y="116231"/>
                </a:cubicBezTo>
                <a:cubicBezTo>
                  <a:pt x="98751" y="118055"/>
                  <a:pt x="100505" y="121401"/>
                  <a:pt x="100289" y="124918"/>
                </a:cubicBezTo>
                <a:cubicBezTo>
                  <a:pt x="100505" y="128435"/>
                  <a:pt x="98751" y="131781"/>
                  <a:pt x="95736" y="133605"/>
                </a:cubicBezTo>
                <a:cubicBezTo>
                  <a:pt x="92721" y="135429"/>
                  <a:pt x="88943" y="135429"/>
                  <a:pt x="85928" y="133605"/>
                </a:cubicBezTo>
                <a:cubicBezTo>
                  <a:pt x="82913" y="131781"/>
                  <a:pt x="81159" y="128435"/>
                  <a:pt x="81374" y="124918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25" name="Text 23"/>
          <p:cNvSpPr/>
          <p:nvPr/>
        </p:nvSpPr>
        <p:spPr>
          <a:xfrm>
            <a:off x="3449441" y="3859967"/>
            <a:ext cx="1181043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8" b="1" dirty="0">
                <a:solidFill>
                  <a:srgbClr val="D95D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~95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463069" y="4114346"/>
            <a:ext cx="1153788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8" dirty="0">
                <a:solidFill>
                  <a:srgbClr val="D95D5D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Faux Positif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8757" y="4459574"/>
            <a:ext cx="1353657" cy="844900"/>
          </a:xfrm>
          <a:custGeom>
            <a:avLst/>
            <a:gdLst/>
            <a:ahLst/>
            <a:cxnLst/>
            <a:rect l="l" t="t" r="r" b="b"/>
            <a:pathLst>
              <a:path w="1353657" h="844900">
                <a:moveTo>
                  <a:pt x="72678" y="0"/>
                </a:moveTo>
                <a:lnTo>
                  <a:pt x="1280979" y="0"/>
                </a:lnTo>
                <a:cubicBezTo>
                  <a:pt x="1321118" y="0"/>
                  <a:pt x="1353657" y="32539"/>
                  <a:pt x="1353657" y="72678"/>
                </a:cubicBezTo>
                <a:lnTo>
                  <a:pt x="1353657" y="772222"/>
                </a:lnTo>
                <a:cubicBezTo>
                  <a:pt x="1353657" y="812361"/>
                  <a:pt x="1321118" y="844900"/>
                  <a:pt x="1280979" y="844900"/>
                </a:cubicBezTo>
                <a:lnTo>
                  <a:pt x="72678" y="844900"/>
                </a:lnTo>
                <a:cubicBezTo>
                  <a:pt x="32539" y="844900"/>
                  <a:pt x="0" y="812361"/>
                  <a:pt x="0" y="772222"/>
                </a:cubicBezTo>
                <a:lnTo>
                  <a:pt x="0" y="72678"/>
                </a:lnTo>
                <a:cubicBezTo>
                  <a:pt x="0" y="32566"/>
                  <a:pt x="32566" y="0"/>
                  <a:pt x="72678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35826" y="4734393"/>
            <a:ext cx="299803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8" b="1" dirty="0">
                <a:solidFill>
                  <a:srgbClr val="D95D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Réel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858" b="1" dirty="0">
                <a:solidFill>
                  <a:srgbClr val="D95D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MCV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935946" y="4459574"/>
            <a:ext cx="1353657" cy="844900"/>
          </a:xfrm>
          <a:custGeom>
            <a:avLst/>
            <a:gdLst/>
            <a:ahLst/>
            <a:cxnLst/>
            <a:rect l="l" t="t" r="r" b="b"/>
            <a:pathLst>
              <a:path w="1353657" h="844900">
                <a:moveTo>
                  <a:pt x="72678" y="0"/>
                </a:moveTo>
                <a:lnTo>
                  <a:pt x="1280979" y="0"/>
                </a:lnTo>
                <a:cubicBezTo>
                  <a:pt x="1321118" y="0"/>
                  <a:pt x="1353657" y="32539"/>
                  <a:pt x="1353657" y="72678"/>
                </a:cubicBezTo>
                <a:lnTo>
                  <a:pt x="1353657" y="772222"/>
                </a:lnTo>
                <a:cubicBezTo>
                  <a:pt x="1353657" y="812361"/>
                  <a:pt x="1321118" y="844900"/>
                  <a:pt x="1280979" y="844900"/>
                </a:cubicBezTo>
                <a:lnTo>
                  <a:pt x="72678" y="844900"/>
                </a:lnTo>
                <a:cubicBezTo>
                  <a:pt x="32539" y="844900"/>
                  <a:pt x="0" y="812361"/>
                  <a:pt x="0" y="772222"/>
                </a:cubicBezTo>
                <a:lnTo>
                  <a:pt x="0" y="72678"/>
                </a:lnTo>
                <a:cubicBezTo>
                  <a:pt x="0" y="32566"/>
                  <a:pt x="32566" y="0"/>
                  <a:pt x="72678" y="0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30" name="Shape 28"/>
          <p:cNvSpPr/>
          <p:nvPr/>
        </p:nvSpPr>
        <p:spPr>
          <a:xfrm>
            <a:off x="2522351" y="4573136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90849" y="181699"/>
                </a:moveTo>
                <a:cubicBezTo>
                  <a:pt x="140991" y="181699"/>
                  <a:pt x="181699" y="140991"/>
                  <a:pt x="181699" y="90849"/>
                </a:cubicBezTo>
                <a:cubicBezTo>
                  <a:pt x="181699" y="40708"/>
                  <a:pt x="140991" y="0"/>
                  <a:pt x="90849" y="0"/>
                </a:cubicBezTo>
                <a:cubicBezTo>
                  <a:pt x="40708" y="0"/>
                  <a:pt x="0" y="40708"/>
                  <a:pt x="0" y="90849"/>
                </a:cubicBezTo>
                <a:cubicBezTo>
                  <a:pt x="0" y="140991"/>
                  <a:pt x="40708" y="181699"/>
                  <a:pt x="90849" y="181699"/>
                </a:cubicBezTo>
                <a:close/>
                <a:moveTo>
                  <a:pt x="59265" y="59265"/>
                </a:moveTo>
                <a:cubicBezTo>
                  <a:pt x="62601" y="55929"/>
                  <a:pt x="67995" y="55929"/>
                  <a:pt x="71296" y="59265"/>
                </a:cubicBezTo>
                <a:lnTo>
                  <a:pt x="90814" y="78784"/>
                </a:lnTo>
                <a:lnTo>
                  <a:pt x="110332" y="59265"/>
                </a:lnTo>
                <a:cubicBezTo>
                  <a:pt x="113668" y="55929"/>
                  <a:pt x="119063" y="55929"/>
                  <a:pt x="122363" y="59265"/>
                </a:cubicBezTo>
                <a:cubicBezTo>
                  <a:pt x="125663" y="62601"/>
                  <a:pt x="125699" y="67995"/>
                  <a:pt x="122363" y="71296"/>
                </a:cubicBezTo>
                <a:lnTo>
                  <a:pt x="102844" y="90814"/>
                </a:lnTo>
                <a:lnTo>
                  <a:pt x="122363" y="110332"/>
                </a:lnTo>
                <a:cubicBezTo>
                  <a:pt x="125699" y="113668"/>
                  <a:pt x="125699" y="119063"/>
                  <a:pt x="122363" y="122363"/>
                </a:cubicBezTo>
                <a:cubicBezTo>
                  <a:pt x="119027" y="125663"/>
                  <a:pt x="113633" y="125699"/>
                  <a:pt x="110332" y="122363"/>
                </a:cubicBezTo>
                <a:lnTo>
                  <a:pt x="90814" y="102844"/>
                </a:lnTo>
                <a:lnTo>
                  <a:pt x="71296" y="122363"/>
                </a:lnTo>
                <a:cubicBezTo>
                  <a:pt x="67960" y="125699"/>
                  <a:pt x="62565" y="125699"/>
                  <a:pt x="59265" y="122363"/>
                </a:cubicBezTo>
                <a:cubicBezTo>
                  <a:pt x="55965" y="119027"/>
                  <a:pt x="55929" y="113633"/>
                  <a:pt x="59265" y="110332"/>
                </a:cubicBezTo>
                <a:lnTo>
                  <a:pt x="78784" y="90814"/>
                </a:lnTo>
                <a:lnTo>
                  <a:pt x="59265" y="71296"/>
                </a:lnTo>
                <a:cubicBezTo>
                  <a:pt x="55929" y="67960"/>
                  <a:pt x="55929" y="62565"/>
                  <a:pt x="59265" y="592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004083" y="4791174"/>
            <a:ext cx="1217383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~65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017710" y="5045553"/>
            <a:ext cx="1190128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8" b="1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FAUX NÉGATIF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363134" y="4459574"/>
            <a:ext cx="1353657" cy="844900"/>
          </a:xfrm>
          <a:custGeom>
            <a:avLst/>
            <a:gdLst/>
            <a:ahLst/>
            <a:cxnLst/>
            <a:rect l="l" t="t" r="r" b="b"/>
            <a:pathLst>
              <a:path w="1353657" h="844900">
                <a:moveTo>
                  <a:pt x="72678" y="0"/>
                </a:moveTo>
                <a:lnTo>
                  <a:pt x="1280979" y="0"/>
                </a:lnTo>
                <a:cubicBezTo>
                  <a:pt x="1321118" y="0"/>
                  <a:pt x="1353657" y="32539"/>
                  <a:pt x="1353657" y="72678"/>
                </a:cubicBezTo>
                <a:lnTo>
                  <a:pt x="1353657" y="772222"/>
                </a:lnTo>
                <a:cubicBezTo>
                  <a:pt x="1353657" y="812361"/>
                  <a:pt x="1321118" y="844900"/>
                  <a:pt x="1280979" y="844900"/>
                </a:cubicBezTo>
                <a:lnTo>
                  <a:pt x="72678" y="844900"/>
                </a:lnTo>
                <a:cubicBezTo>
                  <a:pt x="32539" y="844900"/>
                  <a:pt x="0" y="812361"/>
                  <a:pt x="0" y="772222"/>
                </a:cubicBezTo>
                <a:lnTo>
                  <a:pt x="0" y="72678"/>
                </a:lnTo>
                <a:cubicBezTo>
                  <a:pt x="0" y="32566"/>
                  <a:pt x="32566" y="0"/>
                  <a:pt x="72678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34" name="Shape 32"/>
          <p:cNvSpPr/>
          <p:nvPr/>
        </p:nvSpPr>
        <p:spPr>
          <a:xfrm>
            <a:off x="3949539" y="4573136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90849" y="181699"/>
                </a:moveTo>
                <a:cubicBezTo>
                  <a:pt x="140991" y="181699"/>
                  <a:pt x="181699" y="140991"/>
                  <a:pt x="181699" y="90849"/>
                </a:cubicBezTo>
                <a:cubicBezTo>
                  <a:pt x="181699" y="40708"/>
                  <a:pt x="140991" y="0"/>
                  <a:pt x="90849" y="0"/>
                </a:cubicBezTo>
                <a:cubicBezTo>
                  <a:pt x="40708" y="0"/>
                  <a:pt x="0" y="40708"/>
                  <a:pt x="0" y="90849"/>
                </a:cubicBezTo>
                <a:cubicBezTo>
                  <a:pt x="0" y="140991"/>
                  <a:pt x="40708" y="181699"/>
                  <a:pt x="90849" y="181699"/>
                </a:cubicBezTo>
                <a:close/>
                <a:moveTo>
                  <a:pt x="120801" y="75483"/>
                </a:moveTo>
                <a:lnTo>
                  <a:pt x="92411" y="120908"/>
                </a:lnTo>
                <a:cubicBezTo>
                  <a:pt x="90920" y="123286"/>
                  <a:pt x="88365" y="124776"/>
                  <a:pt x="85562" y="124918"/>
                </a:cubicBezTo>
                <a:cubicBezTo>
                  <a:pt x="82758" y="125060"/>
                  <a:pt x="80061" y="123782"/>
                  <a:pt x="78393" y="121511"/>
                </a:cubicBezTo>
                <a:lnTo>
                  <a:pt x="61359" y="98799"/>
                </a:lnTo>
                <a:cubicBezTo>
                  <a:pt x="58520" y="95037"/>
                  <a:pt x="59301" y="89714"/>
                  <a:pt x="63062" y="86875"/>
                </a:cubicBezTo>
                <a:cubicBezTo>
                  <a:pt x="66824" y="84036"/>
                  <a:pt x="72147" y="84817"/>
                  <a:pt x="74986" y="88578"/>
                </a:cubicBezTo>
                <a:lnTo>
                  <a:pt x="84568" y="101354"/>
                </a:lnTo>
                <a:lnTo>
                  <a:pt x="106358" y="66469"/>
                </a:lnTo>
                <a:cubicBezTo>
                  <a:pt x="108842" y="62495"/>
                  <a:pt x="114094" y="61252"/>
                  <a:pt x="118104" y="63772"/>
                </a:cubicBezTo>
                <a:cubicBezTo>
                  <a:pt x="122114" y="66292"/>
                  <a:pt x="123321" y="71508"/>
                  <a:pt x="120801" y="755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431271" y="4791174"/>
            <a:ext cx="1217383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~680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444899" y="5045553"/>
            <a:ext cx="1190128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8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Vrai Positif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8757" y="6416244"/>
            <a:ext cx="4206331" cy="9085"/>
          </a:xfrm>
          <a:custGeom>
            <a:avLst/>
            <a:gdLst/>
            <a:ahLst/>
            <a:cxnLst/>
            <a:rect l="l" t="t" r="r" b="b"/>
            <a:pathLst>
              <a:path w="4206331" h="9085">
                <a:moveTo>
                  <a:pt x="0" y="0"/>
                </a:moveTo>
                <a:lnTo>
                  <a:pt x="4206331" y="0"/>
                </a:lnTo>
                <a:lnTo>
                  <a:pt x="4206331" y="9085"/>
                </a:lnTo>
                <a:lnTo>
                  <a:pt x="0" y="908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8" name="Shape 36"/>
          <p:cNvSpPr/>
          <p:nvPr/>
        </p:nvSpPr>
        <p:spPr>
          <a:xfrm>
            <a:off x="1904077" y="6557061"/>
            <a:ext cx="127189" cy="127189"/>
          </a:xfrm>
          <a:custGeom>
            <a:avLst/>
            <a:gdLst/>
            <a:ahLst/>
            <a:cxnLst/>
            <a:rect l="l" t="t" r="r" b="b"/>
            <a:pathLst>
              <a:path w="127189" h="127189">
                <a:moveTo>
                  <a:pt x="63595" y="127189"/>
                </a:moveTo>
                <a:cubicBezTo>
                  <a:pt x="98693" y="127189"/>
                  <a:pt x="127189" y="98693"/>
                  <a:pt x="127189" y="63595"/>
                </a:cubicBezTo>
                <a:cubicBezTo>
                  <a:pt x="127189" y="28496"/>
                  <a:pt x="98693" y="0"/>
                  <a:pt x="63595" y="0"/>
                </a:cubicBezTo>
                <a:cubicBezTo>
                  <a:pt x="28496" y="0"/>
                  <a:pt x="0" y="28496"/>
                  <a:pt x="0" y="63595"/>
                </a:cubicBezTo>
                <a:cubicBezTo>
                  <a:pt x="0" y="98693"/>
                  <a:pt x="28496" y="127189"/>
                  <a:pt x="63595" y="127189"/>
                </a:cubicBezTo>
                <a:close/>
                <a:moveTo>
                  <a:pt x="55645" y="39747"/>
                </a:moveTo>
                <a:cubicBezTo>
                  <a:pt x="55645" y="35359"/>
                  <a:pt x="59207" y="31797"/>
                  <a:pt x="63595" y="31797"/>
                </a:cubicBezTo>
                <a:cubicBezTo>
                  <a:pt x="67982" y="31797"/>
                  <a:pt x="71544" y="35359"/>
                  <a:pt x="71544" y="39747"/>
                </a:cubicBezTo>
                <a:cubicBezTo>
                  <a:pt x="71544" y="44134"/>
                  <a:pt x="67982" y="47696"/>
                  <a:pt x="63595" y="47696"/>
                </a:cubicBezTo>
                <a:cubicBezTo>
                  <a:pt x="59207" y="47696"/>
                  <a:pt x="55645" y="44134"/>
                  <a:pt x="55645" y="39747"/>
                </a:cubicBezTo>
                <a:close/>
                <a:moveTo>
                  <a:pt x="53658" y="55645"/>
                </a:moveTo>
                <a:lnTo>
                  <a:pt x="65582" y="55645"/>
                </a:lnTo>
                <a:cubicBezTo>
                  <a:pt x="68886" y="55645"/>
                  <a:pt x="71544" y="58303"/>
                  <a:pt x="71544" y="61607"/>
                </a:cubicBezTo>
                <a:lnTo>
                  <a:pt x="71544" y="83468"/>
                </a:lnTo>
                <a:lnTo>
                  <a:pt x="73531" y="83468"/>
                </a:lnTo>
                <a:cubicBezTo>
                  <a:pt x="76835" y="83468"/>
                  <a:pt x="79493" y="86126"/>
                  <a:pt x="79493" y="89430"/>
                </a:cubicBezTo>
                <a:cubicBezTo>
                  <a:pt x="79493" y="92734"/>
                  <a:pt x="76835" y="95392"/>
                  <a:pt x="73531" y="95392"/>
                </a:cubicBezTo>
                <a:lnTo>
                  <a:pt x="53658" y="95392"/>
                </a:lnTo>
                <a:cubicBezTo>
                  <a:pt x="50354" y="95392"/>
                  <a:pt x="47696" y="92734"/>
                  <a:pt x="47696" y="89430"/>
                </a:cubicBezTo>
                <a:cubicBezTo>
                  <a:pt x="47696" y="86126"/>
                  <a:pt x="50354" y="83468"/>
                  <a:pt x="53658" y="83468"/>
                </a:cubicBezTo>
                <a:lnTo>
                  <a:pt x="59620" y="83468"/>
                </a:lnTo>
                <a:lnTo>
                  <a:pt x="59620" y="67569"/>
                </a:lnTo>
                <a:lnTo>
                  <a:pt x="53658" y="67569"/>
                </a:lnTo>
                <a:cubicBezTo>
                  <a:pt x="50354" y="67569"/>
                  <a:pt x="47696" y="64911"/>
                  <a:pt x="47696" y="61607"/>
                </a:cubicBezTo>
                <a:cubicBezTo>
                  <a:pt x="47696" y="58303"/>
                  <a:pt x="50354" y="55645"/>
                  <a:pt x="53658" y="55645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39" name="Text 37"/>
          <p:cNvSpPr/>
          <p:nvPr/>
        </p:nvSpPr>
        <p:spPr>
          <a:xfrm>
            <a:off x="692480" y="6529806"/>
            <a:ext cx="4054405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 ~1 660 cas de test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008361" y="1344572"/>
            <a:ext cx="6822796" cy="2625550"/>
          </a:xfrm>
          <a:custGeom>
            <a:avLst/>
            <a:gdLst/>
            <a:ahLst/>
            <a:cxnLst/>
            <a:rect l="l" t="t" r="r" b="b"/>
            <a:pathLst>
              <a:path w="6822796" h="2625550">
                <a:moveTo>
                  <a:pt x="109013" y="0"/>
                </a:moveTo>
                <a:lnTo>
                  <a:pt x="6713783" y="0"/>
                </a:lnTo>
                <a:cubicBezTo>
                  <a:pt x="6773989" y="0"/>
                  <a:pt x="6822796" y="48807"/>
                  <a:pt x="6822796" y="109013"/>
                </a:cubicBezTo>
                <a:lnTo>
                  <a:pt x="6822796" y="2516537"/>
                </a:lnTo>
                <a:cubicBezTo>
                  <a:pt x="6822796" y="2576743"/>
                  <a:pt x="6773989" y="2625550"/>
                  <a:pt x="6713783" y="2625550"/>
                </a:cubicBezTo>
                <a:lnTo>
                  <a:pt x="109013" y="2625550"/>
                </a:lnTo>
                <a:cubicBezTo>
                  <a:pt x="48807" y="2625550"/>
                  <a:pt x="0" y="2576743"/>
                  <a:pt x="0" y="2516537"/>
                </a:cubicBezTo>
                <a:lnTo>
                  <a:pt x="0" y="109013"/>
                </a:lnTo>
                <a:cubicBezTo>
                  <a:pt x="0" y="48807"/>
                  <a:pt x="48807" y="0"/>
                  <a:pt x="10901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4510" dist="36340" dir="540000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153721" y="1489931"/>
            <a:ext cx="363398" cy="363398"/>
          </a:xfrm>
          <a:custGeom>
            <a:avLst/>
            <a:gdLst/>
            <a:ahLst/>
            <a:cxnLst/>
            <a:rect l="l" t="t" r="r" b="b"/>
            <a:pathLst>
              <a:path w="363398" h="363398">
                <a:moveTo>
                  <a:pt x="72680" y="0"/>
                </a:moveTo>
                <a:lnTo>
                  <a:pt x="290718" y="0"/>
                </a:lnTo>
                <a:cubicBezTo>
                  <a:pt x="330831" y="0"/>
                  <a:pt x="363398" y="32567"/>
                  <a:pt x="363398" y="72680"/>
                </a:cubicBezTo>
                <a:lnTo>
                  <a:pt x="363398" y="290718"/>
                </a:lnTo>
                <a:cubicBezTo>
                  <a:pt x="363398" y="330831"/>
                  <a:pt x="330831" y="363398"/>
                  <a:pt x="290718" y="363398"/>
                </a:cubicBezTo>
                <a:lnTo>
                  <a:pt x="72680" y="363398"/>
                </a:lnTo>
                <a:cubicBezTo>
                  <a:pt x="32567" y="363398"/>
                  <a:pt x="0" y="330831"/>
                  <a:pt x="0" y="290718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245706" y="1589866"/>
            <a:ext cx="183970" cy="163529"/>
          </a:xfrm>
          <a:custGeom>
            <a:avLst/>
            <a:gdLst/>
            <a:ahLst/>
            <a:cxnLst/>
            <a:rect l="l" t="t" r="r" b="b"/>
            <a:pathLst>
              <a:path w="183970" h="163529">
                <a:moveTo>
                  <a:pt x="10221" y="15331"/>
                </a:moveTo>
                <a:cubicBezTo>
                  <a:pt x="10221" y="6867"/>
                  <a:pt x="17088" y="0"/>
                  <a:pt x="25551" y="0"/>
                </a:cubicBezTo>
                <a:lnTo>
                  <a:pt x="40882" y="0"/>
                </a:lnTo>
                <a:cubicBezTo>
                  <a:pt x="46536" y="0"/>
                  <a:pt x="51103" y="4567"/>
                  <a:pt x="51103" y="10221"/>
                </a:cubicBezTo>
                <a:cubicBezTo>
                  <a:pt x="51103" y="15874"/>
                  <a:pt x="46536" y="20441"/>
                  <a:pt x="40882" y="20441"/>
                </a:cubicBezTo>
                <a:lnTo>
                  <a:pt x="30662" y="20441"/>
                </a:lnTo>
                <a:lnTo>
                  <a:pt x="30662" y="61323"/>
                </a:lnTo>
                <a:cubicBezTo>
                  <a:pt x="30662" y="78251"/>
                  <a:pt x="44396" y="91985"/>
                  <a:pt x="61323" y="91985"/>
                </a:cubicBezTo>
                <a:cubicBezTo>
                  <a:pt x="78251" y="91985"/>
                  <a:pt x="91985" y="78251"/>
                  <a:pt x="91985" y="61323"/>
                </a:cubicBezTo>
                <a:lnTo>
                  <a:pt x="91985" y="20441"/>
                </a:lnTo>
                <a:lnTo>
                  <a:pt x="81765" y="20441"/>
                </a:lnTo>
                <a:cubicBezTo>
                  <a:pt x="76111" y="20441"/>
                  <a:pt x="71544" y="15874"/>
                  <a:pt x="71544" y="10221"/>
                </a:cubicBezTo>
                <a:cubicBezTo>
                  <a:pt x="71544" y="4567"/>
                  <a:pt x="76111" y="0"/>
                  <a:pt x="81765" y="0"/>
                </a:cubicBezTo>
                <a:lnTo>
                  <a:pt x="97095" y="0"/>
                </a:lnTo>
                <a:cubicBezTo>
                  <a:pt x="105559" y="0"/>
                  <a:pt x="112426" y="6867"/>
                  <a:pt x="112426" y="15331"/>
                </a:cubicBezTo>
                <a:lnTo>
                  <a:pt x="112426" y="61323"/>
                </a:lnTo>
                <a:cubicBezTo>
                  <a:pt x="112426" y="86044"/>
                  <a:pt x="94860" y="106677"/>
                  <a:pt x="71544" y="111404"/>
                </a:cubicBezTo>
                <a:lnTo>
                  <a:pt x="71544" y="117537"/>
                </a:lnTo>
                <a:cubicBezTo>
                  <a:pt x="71544" y="137307"/>
                  <a:pt x="87546" y="153308"/>
                  <a:pt x="107316" y="153308"/>
                </a:cubicBezTo>
                <a:cubicBezTo>
                  <a:pt x="127086" y="153308"/>
                  <a:pt x="143088" y="137307"/>
                  <a:pt x="143088" y="117537"/>
                </a:cubicBezTo>
                <a:lnTo>
                  <a:pt x="143088" y="90228"/>
                </a:lnTo>
                <a:cubicBezTo>
                  <a:pt x="131175" y="86012"/>
                  <a:pt x="122647" y="74674"/>
                  <a:pt x="122647" y="61323"/>
                </a:cubicBezTo>
                <a:cubicBezTo>
                  <a:pt x="122647" y="44396"/>
                  <a:pt x="136381" y="30662"/>
                  <a:pt x="153308" y="30662"/>
                </a:cubicBezTo>
                <a:cubicBezTo>
                  <a:pt x="170236" y="30662"/>
                  <a:pt x="183970" y="44396"/>
                  <a:pt x="183970" y="61323"/>
                </a:cubicBezTo>
                <a:cubicBezTo>
                  <a:pt x="183970" y="74674"/>
                  <a:pt x="175442" y="86044"/>
                  <a:pt x="163529" y="90228"/>
                </a:cubicBezTo>
                <a:lnTo>
                  <a:pt x="163529" y="117537"/>
                </a:lnTo>
                <a:cubicBezTo>
                  <a:pt x="163529" y="148581"/>
                  <a:pt x="138361" y="173750"/>
                  <a:pt x="107316" y="173750"/>
                </a:cubicBezTo>
                <a:cubicBezTo>
                  <a:pt x="76271" y="173750"/>
                  <a:pt x="51103" y="148581"/>
                  <a:pt x="51103" y="117537"/>
                </a:cubicBezTo>
                <a:lnTo>
                  <a:pt x="51103" y="111404"/>
                </a:lnTo>
                <a:cubicBezTo>
                  <a:pt x="27787" y="106677"/>
                  <a:pt x="10221" y="86044"/>
                  <a:pt x="10221" y="61323"/>
                </a:cubicBezTo>
                <a:lnTo>
                  <a:pt x="10221" y="15331"/>
                </a:lnTo>
                <a:close/>
                <a:moveTo>
                  <a:pt x="153308" y="71544"/>
                </a:moveTo>
                <a:cubicBezTo>
                  <a:pt x="158949" y="71544"/>
                  <a:pt x="163529" y="66964"/>
                  <a:pt x="163529" y="61323"/>
                </a:cubicBezTo>
                <a:cubicBezTo>
                  <a:pt x="163529" y="55683"/>
                  <a:pt x="158949" y="51103"/>
                  <a:pt x="153308" y="51103"/>
                </a:cubicBezTo>
                <a:cubicBezTo>
                  <a:pt x="147668" y="51103"/>
                  <a:pt x="143088" y="55683"/>
                  <a:pt x="143088" y="61323"/>
                </a:cubicBezTo>
                <a:cubicBezTo>
                  <a:pt x="143088" y="66964"/>
                  <a:pt x="147668" y="71544"/>
                  <a:pt x="153308" y="71544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43" name="Text 41"/>
          <p:cNvSpPr/>
          <p:nvPr/>
        </p:nvSpPr>
        <p:spPr>
          <a:xfrm>
            <a:off x="5626138" y="1544441"/>
            <a:ext cx="1753395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Interprétation Clinique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53721" y="1962349"/>
          <a:ext cx="6532077" cy="1862414"/>
        </p:xfrm>
        <a:graphic>
          <a:graphicData uri="http://schemas.openxmlformats.org/drawingml/2006/table">
            <a:tbl>
              <a:tblPr/>
              <a:tblGrid>
                <a:gridCol w="1816990"/>
                <a:gridCol w="944835"/>
                <a:gridCol w="663201"/>
                <a:gridCol w="1880584"/>
                <a:gridCol w="1226468"/>
              </a:tblGrid>
              <a:tr h="372483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Type d'Erreur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Nombre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Taux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Impact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Priorité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4A"/>
                    </a:solidFill>
                  </a:tcPr>
                </a:tc>
              </a:tr>
              <a:tr h="372483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Vrais Positifs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~680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Détection correcte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Essentiel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2483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Vrais Négatifs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~820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Exclusion correcte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Essentiel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2483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Faux Positifs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~95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95D5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~11%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Fausse alarme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Gérable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2483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Faux Négatifs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5D5D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~65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5D5D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95D5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&lt;9%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5D5D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Cas manqués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5D5D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CRITIQUE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2680" marR="72680" marT="72680" marB="726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5D5D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5" name="Shape 42"/>
          <p:cNvSpPr/>
          <p:nvPr/>
        </p:nvSpPr>
        <p:spPr>
          <a:xfrm>
            <a:off x="5008361" y="4115481"/>
            <a:ext cx="3334176" cy="2743654"/>
          </a:xfrm>
          <a:custGeom>
            <a:avLst/>
            <a:gdLst/>
            <a:ahLst/>
            <a:cxnLst/>
            <a:rect l="l" t="t" r="r" b="b"/>
            <a:pathLst>
              <a:path w="3334176" h="2743654">
                <a:moveTo>
                  <a:pt x="109033" y="0"/>
                </a:moveTo>
                <a:lnTo>
                  <a:pt x="3225143" y="0"/>
                </a:lnTo>
                <a:cubicBezTo>
                  <a:pt x="3285360" y="0"/>
                  <a:pt x="3334176" y="48816"/>
                  <a:pt x="3334176" y="109033"/>
                </a:cubicBezTo>
                <a:lnTo>
                  <a:pt x="3334176" y="2634621"/>
                </a:lnTo>
                <a:cubicBezTo>
                  <a:pt x="3334176" y="2694839"/>
                  <a:pt x="3285360" y="2743654"/>
                  <a:pt x="3225143" y="2743654"/>
                </a:cubicBezTo>
                <a:lnTo>
                  <a:pt x="109033" y="2743654"/>
                </a:lnTo>
                <a:cubicBezTo>
                  <a:pt x="48816" y="2743654"/>
                  <a:pt x="0" y="2694839"/>
                  <a:pt x="0" y="2634621"/>
                </a:cubicBezTo>
                <a:lnTo>
                  <a:pt x="0" y="109033"/>
                </a:lnTo>
                <a:cubicBezTo>
                  <a:pt x="0" y="48856"/>
                  <a:pt x="48856" y="0"/>
                  <a:pt x="10903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4510" dist="36340" dir="5400000">
              <a:srgbClr val="000000">
                <a:alpha val="10196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153721" y="4260841"/>
            <a:ext cx="363398" cy="363398"/>
          </a:xfrm>
          <a:custGeom>
            <a:avLst/>
            <a:gdLst/>
            <a:ahLst/>
            <a:cxnLst/>
            <a:rect l="l" t="t" r="r" b="b"/>
            <a:pathLst>
              <a:path w="363398" h="363398">
                <a:moveTo>
                  <a:pt x="72680" y="0"/>
                </a:moveTo>
                <a:lnTo>
                  <a:pt x="290718" y="0"/>
                </a:lnTo>
                <a:cubicBezTo>
                  <a:pt x="330831" y="0"/>
                  <a:pt x="363398" y="32567"/>
                  <a:pt x="363398" y="72680"/>
                </a:cubicBezTo>
                <a:lnTo>
                  <a:pt x="363398" y="290718"/>
                </a:lnTo>
                <a:cubicBezTo>
                  <a:pt x="363398" y="330831"/>
                  <a:pt x="330831" y="363398"/>
                  <a:pt x="290718" y="363398"/>
                </a:cubicBezTo>
                <a:lnTo>
                  <a:pt x="72680" y="363398"/>
                </a:lnTo>
                <a:cubicBezTo>
                  <a:pt x="32567" y="363398"/>
                  <a:pt x="0" y="330831"/>
                  <a:pt x="0" y="290718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1A3A4A">
              <a:alpha val="10196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5266147" y="4360775"/>
            <a:ext cx="143088" cy="163529"/>
          </a:xfrm>
          <a:custGeom>
            <a:avLst/>
            <a:gdLst/>
            <a:ahLst/>
            <a:cxnLst/>
            <a:rect l="l" t="t" r="r" b="b"/>
            <a:pathLst>
              <a:path w="143088" h="163529">
                <a:moveTo>
                  <a:pt x="77517" y="25551"/>
                </a:moveTo>
                <a:lnTo>
                  <a:pt x="106677" y="25551"/>
                </a:lnTo>
                <a:cubicBezTo>
                  <a:pt x="103260" y="17694"/>
                  <a:pt x="97255" y="11211"/>
                  <a:pt x="89781" y="7154"/>
                </a:cubicBezTo>
                <a:lnTo>
                  <a:pt x="77517" y="25551"/>
                </a:lnTo>
                <a:close/>
                <a:moveTo>
                  <a:pt x="77229" y="2970"/>
                </a:moveTo>
                <a:cubicBezTo>
                  <a:pt x="75377" y="2683"/>
                  <a:pt x="73460" y="2555"/>
                  <a:pt x="71544" y="2555"/>
                </a:cubicBezTo>
                <a:cubicBezTo>
                  <a:pt x="55830" y="2555"/>
                  <a:pt x="42320" y="12009"/>
                  <a:pt x="36411" y="25551"/>
                </a:cubicBezTo>
                <a:lnTo>
                  <a:pt x="62154" y="25551"/>
                </a:lnTo>
                <a:lnTo>
                  <a:pt x="77197" y="2970"/>
                </a:lnTo>
                <a:close/>
                <a:moveTo>
                  <a:pt x="71544" y="79209"/>
                </a:moveTo>
                <a:cubicBezTo>
                  <a:pt x="92720" y="79209"/>
                  <a:pt x="109871" y="62058"/>
                  <a:pt x="109871" y="40882"/>
                </a:cubicBezTo>
                <a:lnTo>
                  <a:pt x="33217" y="40882"/>
                </a:lnTo>
                <a:cubicBezTo>
                  <a:pt x="33217" y="62058"/>
                  <a:pt x="50368" y="79209"/>
                  <a:pt x="71544" y="79209"/>
                </a:cubicBezTo>
                <a:close/>
                <a:moveTo>
                  <a:pt x="31524" y="109168"/>
                </a:moveTo>
                <a:cubicBezTo>
                  <a:pt x="15746" y="118239"/>
                  <a:pt x="5110" y="135263"/>
                  <a:pt x="5110" y="154778"/>
                </a:cubicBezTo>
                <a:cubicBezTo>
                  <a:pt x="5110" y="159601"/>
                  <a:pt x="9039" y="163529"/>
                  <a:pt x="13862" y="163529"/>
                </a:cubicBezTo>
                <a:lnTo>
                  <a:pt x="62090" y="163529"/>
                </a:lnTo>
                <a:lnTo>
                  <a:pt x="31492" y="109168"/>
                </a:lnTo>
                <a:close/>
                <a:moveTo>
                  <a:pt x="45929" y="103515"/>
                </a:moveTo>
                <a:lnTo>
                  <a:pt x="59567" y="127757"/>
                </a:lnTo>
                <a:lnTo>
                  <a:pt x="86875" y="127757"/>
                </a:lnTo>
                <a:cubicBezTo>
                  <a:pt x="100992" y="127757"/>
                  <a:pt x="112426" y="139191"/>
                  <a:pt x="112426" y="153308"/>
                </a:cubicBezTo>
                <a:cubicBezTo>
                  <a:pt x="112426" y="156950"/>
                  <a:pt x="111660" y="160399"/>
                  <a:pt x="110286" y="163529"/>
                </a:cubicBezTo>
                <a:lnTo>
                  <a:pt x="129194" y="163529"/>
                </a:lnTo>
                <a:cubicBezTo>
                  <a:pt x="134017" y="163529"/>
                  <a:pt x="137946" y="159601"/>
                  <a:pt x="137946" y="154778"/>
                </a:cubicBezTo>
                <a:cubicBezTo>
                  <a:pt x="137946" y="125745"/>
                  <a:pt x="114406" y="102206"/>
                  <a:pt x="85374" y="102206"/>
                </a:cubicBezTo>
                <a:lnTo>
                  <a:pt x="57618" y="102206"/>
                </a:lnTo>
                <a:cubicBezTo>
                  <a:pt x="53594" y="102206"/>
                  <a:pt x="49666" y="102653"/>
                  <a:pt x="45897" y="103515"/>
                </a:cubicBezTo>
                <a:close/>
                <a:moveTo>
                  <a:pt x="68190" y="143088"/>
                </a:moveTo>
                <a:lnTo>
                  <a:pt x="79688" y="163529"/>
                </a:lnTo>
                <a:lnTo>
                  <a:pt x="86875" y="163529"/>
                </a:lnTo>
                <a:cubicBezTo>
                  <a:pt x="92528" y="163529"/>
                  <a:pt x="97095" y="158962"/>
                  <a:pt x="97095" y="153308"/>
                </a:cubicBezTo>
                <a:cubicBezTo>
                  <a:pt x="97095" y="147655"/>
                  <a:pt x="92528" y="143088"/>
                  <a:pt x="86875" y="143088"/>
                </a:cubicBezTo>
                <a:lnTo>
                  <a:pt x="68190" y="143088"/>
                </a:ln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48" name="Text 45"/>
          <p:cNvSpPr/>
          <p:nvPr/>
        </p:nvSpPr>
        <p:spPr>
          <a:xfrm>
            <a:off x="5626138" y="4315350"/>
            <a:ext cx="1589866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Profil des Cas Manqués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5153721" y="4733258"/>
            <a:ext cx="3043458" cy="508757"/>
          </a:xfrm>
          <a:custGeom>
            <a:avLst/>
            <a:gdLst/>
            <a:ahLst/>
            <a:cxnLst/>
            <a:rect l="l" t="t" r="r" b="b"/>
            <a:pathLst>
              <a:path w="3043458" h="508757">
                <a:moveTo>
                  <a:pt x="72681" y="0"/>
                </a:moveTo>
                <a:lnTo>
                  <a:pt x="2970776" y="0"/>
                </a:lnTo>
                <a:cubicBezTo>
                  <a:pt x="3010917" y="0"/>
                  <a:pt x="3043458" y="32540"/>
                  <a:pt x="3043458" y="72681"/>
                </a:cubicBezTo>
                <a:lnTo>
                  <a:pt x="3043458" y="436076"/>
                </a:lnTo>
                <a:cubicBezTo>
                  <a:pt x="3043458" y="476217"/>
                  <a:pt x="3010917" y="508757"/>
                  <a:pt x="2970776" y="508757"/>
                </a:cubicBezTo>
                <a:lnTo>
                  <a:pt x="72681" y="508757"/>
                </a:lnTo>
                <a:cubicBezTo>
                  <a:pt x="32540" y="508757"/>
                  <a:pt x="0" y="476217"/>
                  <a:pt x="0" y="436076"/>
                </a:cubicBezTo>
                <a:lnTo>
                  <a:pt x="0" y="72681"/>
                </a:lnTo>
                <a:cubicBezTo>
                  <a:pt x="0" y="32567"/>
                  <a:pt x="32567" y="0"/>
                  <a:pt x="7268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0" name="Shape 47"/>
          <p:cNvSpPr/>
          <p:nvPr/>
        </p:nvSpPr>
        <p:spPr>
          <a:xfrm>
            <a:off x="5253655" y="4842277"/>
            <a:ext cx="127189" cy="145359"/>
          </a:xfrm>
          <a:custGeom>
            <a:avLst/>
            <a:gdLst/>
            <a:ahLst/>
            <a:cxnLst/>
            <a:rect l="l" t="t" r="r" b="b"/>
            <a:pathLst>
              <a:path w="127189" h="145359">
                <a:moveTo>
                  <a:pt x="24529" y="-2981"/>
                </a:moveTo>
                <a:lnTo>
                  <a:pt x="17545" y="8971"/>
                </a:lnTo>
                <a:cubicBezTo>
                  <a:pt x="16466" y="10817"/>
                  <a:pt x="15899" y="12946"/>
                  <a:pt x="15899" y="15104"/>
                </a:cubicBezTo>
                <a:lnTo>
                  <a:pt x="15899" y="15899"/>
                </a:lnTo>
                <a:cubicBezTo>
                  <a:pt x="15899" y="22173"/>
                  <a:pt x="20981" y="27255"/>
                  <a:pt x="27255" y="27255"/>
                </a:cubicBezTo>
                <a:cubicBezTo>
                  <a:pt x="33529" y="27255"/>
                  <a:pt x="38611" y="22173"/>
                  <a:pt x="38611" y="15899"/>
                </a:cubicBezTo>
                <a:lnTo>
                  <a:pt x="38611" y="15104"/>
                </a:lnTo>
                <a:cubicBezTo>
                  <a:pt x="38611" y="12946"/>
                  <a:pt x="38043" y="10845"/>
                  <a:pt x="36964" y="8971"/>
                </a:cubicBezTo>
                <a:lnTo>
                  <a:pt x="29980" y="-2981"/>
                </a:lnTo>
                <a:cubicBezTo>
                  <a:pt x="29413" y="-3946"/>
                  <a:pt x="28362" y="-4542"/>
                  <a:pt x="27255" y="-4542"/>
                </a:cubicBezTo>
                <a:cubicBezTo>
                  <a:pt x="26148" y="-4542"/>
                  <a:pt x="25097" y="-3946"/>
                  <a:pt x="24529" y="-2981"/>
                </a:cubicBezTo>
                <a:close/>
                <a:moveTo>
                  <a:pt x="60869" y="-2981"/>
                </a:moveTo>
                <a:lnTo>
                  <a:pt x="53885" y="8971"/>
                </a:lnTo>
                <a:cubicBezTo>
                  <a:pt x="52806" y="10817"/>
                  <a:pt x="52238" y="12946"/>
                  <a:pt x="52238" y="15104"/>
                </a:cubicBezTo>
                <a:lnTo>
                  <a:pt x="52238" y="15899"/>
                </a:lnTo>
                <a:cubicBezTo>
                  <a:pt x="52238" y="22173"/>
                  <a:pt x="57320" y="27255"/>
                  <a:pt x="63595" y="27255"/>
                </a:cubicBezTo>
                <a:cubicBezTo>
                  <a:pt x="69869" y="27255"/>
                  <a:pt x="74951" y="22173"/>
                  <a:pt x="74951" y="15899"/>
                </a:cubicBezTo>
                <a:lnTo>
                  <a:pt x="74951" y="15104"/>
                </a:lnTo>
                <a:cubicBezTo>
                  <a:pt x="74951" y="12946"/>
                  <a:pt x="74383" y="10845"/>
                  <a:pt x="73304" y="8971"/>
                </a:cubicBezTo>
                <a:lnTo>
                  <a:pt x="66320" y="-2981"/>
                </a:lnTo>
                <a:cubicBezTo>
                  <a:pt x="65752" y="-3946"/>
                  <a:pt x="64702" y="-4542"/>
                  <a:pt x="63595" y="-4542"/>
                </a:cubicBezTo>
                <a:cubicBezTo>
                  <a:pt x="62487" y="-4542"/>
                  <a:pt x="61437" y="-3946"/>
                  <a:pt x="60869" y="-2981"/>
                </a:cubicBezTo>
                <a:close/>
                <a:moveTo>
                  <a:pt x="90225" y="8971"/>
                </a:moveTo>
                <a:cubicBezTo>
                  <a:pt x="89146" y="10817"/>
                  <a:pt x="88578" y="12946"/>
                  <a:pt x="88578" y="15104"/>
                </a:cubicBezTo>
                <a:lnTo>
                  <a:pt x="88578" y="15899"/>
                </a:lnTo>
                <a:cubicBezTo>
                  <a:pt x="88578" y="22173"/>
                  <a:pt x="93660" y="27255"/>
                  <a:pt x="99934" y="27255"/>
                </a:cubicBezTo>
                <a:cubicBezTo>
                  <a:pt x="106209" y="27255"/>
                  <a:pt x="111291" y="22173"/>
                  <a:pt x="111291" y="15899"/>
                </a:cubicBezTo>
                <a:lnTo>
                  <a:pt x="111291" y="15104"/>
                </a:lnTo>
                <a:cubicBezTo>
                  <a:pt x="111291" y="12946"/>
                  <a:pt x="110723" y="10845"/>
                  <a:pt x="109644" y="8971"/>
                </a:cubicBezTo>
                <a:lnTo>
                  <a:pt x="102660" y="-2981"/>
                </a:lnTo>
                <a:cubicBezTo>
                  <a:pt x="102092" y="-3946"/>
                  <a:pt x="101042" y="-4542"/>
                  <a:pt x="99934" y="-4542"/>
                </a:cubicBezTo>
                <a:cubicBezTo>
                  <a:pt x="98827" y="-4542"/>
                  <a:pt x="97777" y="-3946"/>
                  <a:pt x="97209" y="-2981"/>
                </a:cubicBezTo>
                <a:lnTo>
                  <a:pt x="90225" y="8971"/>
                </a:lnTo>
                <a:close/>
                <a:moveTo>
                  <a:pt x="36340" y="45425"/>
                </a:moveTo>
                <a:cubicBezTo>
                  <a:pt x="36340" y="40400"/>
                  <a:pt x="32280" y="36340"/>
                  <a:pt x="27255" y="36340"/>
                </a:cubicBezTo>
                <a:cubicBezTo>
                  <a:pt x="22230" y="36340"/>
                  <a:pt x="18170" y="40400"/>
                  <a:pt x="18170" y="45425"/>
                </a:cubicBezTo>
                <a:lnTo>
                  <a:pt x="18170" y="60614"/>
                </a:lnTo>
                <a:cubicBezTo>
                  <a:pt x="7580" y="64333"/>
                  <a:pt x="0" y="74440"/>
                  <a:pt x="0" y="86307"/>
                </a:cubicBezTo>
                <a:lnTo>
                  <a:pt x="0" y="92212"/>
                </a:lnTo>
                <a:cubicBezTo>
                  <a:pt x="5934" y="92581"/>
                  <a:pt x="11810" y="94285"/>
                  <a:pt x="17119" y="97323"/>
                </a:cubicBezTo>
                <a:lnTo>
                  <a:pt x="19135" y="98487"/>
                </a:lnTo>
                <a:cubicBezTo>
                  <a:pt x="26602" y="102745"/>
                  <a:pt x="35857" y="102291"/>
                  <a:pt x="42870" y="97294"/>
                </a:cubicBezTo>
                <a:cubicBezTo>
                  <a:pt x="55276" y="88436"/>
                  <a:pt x="71913" y="88436"/>
                  <a:pt x="84320" y="97294"/>
                </a:cubicBezTo>
                <a:cubicBezTo>
                  <a:pt x="91304" y="102291"/>
                  <a:pt x="100587" y="102773"/>
                  <a:pt x="108054" y="98487"/>
                </a:cubicBezTo>
                <a:lnTo>
                  <a:pt x="110070" y="97323"/>
                </a:lnTo>
                <a:cubicBezTo>
                  <a:pt x="115379" y="94285"/>
                  <a:pt x="121227" y="92581"/>
                  <a:pt x="127189" y="92212"/>
                </a:cubicBezTo>
                <a:lnTo>
                  <a:pt x="127189" y="86307"/>
                </a:lnTo>
                <a:cubicBezTo>
                  <a:pt x="127189" y="74440"/>
                  <a:pt x="119609" y="64333"/>
                  <a:pt x="109019" y="60614"/>
                </a:cubicBezTo>
                <a:lnTo>
                  <a:pt x="109019" y="45425"/>
                </a:lnTo>
                <a:cubicBezTo>
                  <a:pt x="109019" y="40400"/>
                  <a:pt x="104960" y="36340"/>
                  <a:pt x="99934" y="36340"/>
                </a:cubicBezTo>
                <a:cubicBezTo>
                  <a:pt x="94909" y="36340"/>
                  <a:pt x="90849" y="40400"/>
                  <a:pt x="90849" y="45425"/>
                </a:cubicBezTo>
                <a:lnTo>
                  <a:pt x="90849" y="59052"/>
                </a:lnTo>
                <a:lnTo>
                  <a:pt x="72680" y="59052"/>
                </a:lnTo>
                <a:lnTo>
                  <a:pt x="72680" y="45425"/>
                </a:lnTo>
                <a:cubicBezTo>
                  <a:pt x="72680" y="40400"/>
                  <a:pt x="68620" y="36340"/>
                  <a:pt x="63595" y="36340"/>
                </a:cubicBezTo>
                <a:cubicBezTo>
                  <a:pt x="58570" y="36340"/>
                  <a:pt x="54510" y="40400"/>
                  <a:pt x="54510" y="45425"/>
                </a:cubicBezTo>
                <a:lnTo>
                  <a:pt x="54510" y="59052"/>
                </a:lnTo>
                <a:lnTo>
                  <a:pt x="36340" y="59052"/>
                </a:lnTo>
                <a:lnTo>
                  <a:pt x="36340" y="45425"/>
                </a:lnTo>
                <a:close/>
                <a:moveTo>
                  <a:pt x="127189" y="105896"/>
                </a:moveTo>
                <a:cubicBezTo>
                  <a:pt x="123584" y="106237"/>
                  <a:pt x="120063" y="107316"/>
                  <a:pt x="116827" y="109161"/>
                </a:cubicBezTo>
                <a:lnTo>
                  <a:pt x="114811" y="110325"/>
                </a:lnTo>
                <a:cubicBezTo>
                  <a:pt x="102717" y="117224"/>
                  <a:pt x="87727" y="116486"/>
                  <a:pt x="76399" y="108395"/>
                </a:cubicBezTo>
                <a:cubicBezTo>
                  <a:pt x="68733" y="102915"/>
                  <a:pt x="58456" y="102915"/>
                  <a:pt x="50791" y="108395"/>
                </a:cubicBezTo>
                <a:cubicBezTo>
                  <a:pt x="39463" y="116486"/>
                  <a:pt x="24473" y="117253"/>
                  <a:pt x="12378" y="110325"/>
                </a:cubicBezTo>
                <a:lnTo>
                  <a:pt x="10363" y="109161"/>
                </a:lnTo>
                <a:cubicBezTo>
                  <a:pt x="7126" y="107316"/>
                  <a:pt x="3606" y="106209"/>
                  <a:pt x="0" y="105896"/>
                </a:cubicBezTo>
                <a:lnTo>
                  <a:pt x="0" y="127189"/>
                </a:lnTo>
                <a:cubicBezTo>
                  <a:pt x="0" y="137211"/>
                  <a:pt x="8148" y="145359"/>
                  <a:pt x="18170" y="145359"/>
                </a:cubicBezTo>
                <a:lnTo>
                  <a:pt x="109019" y="145359"/>
                </a:lnTo>
                <a:cubicBezTo>
                  <a:pt x="119041" y="145359"/>
                  <a:pt x="127189" y="137211"/>
                  <a:pt x="127189" y="127189"/>
                </a:cubicBezTo>
                <a:lnTo>
                  <a:pt x="127189" y="105896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51" name="Text 48"/>
          <p:cNvSpPr/>
          <p:nvPr/>
        </p:nvSpPr>
        <p:spPr>
          <a:xfrm>
            <a:off x="5517118" y="4805937"/>
            <a:ext cx="1580781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Âge moyen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5517118" y="4987636"/>
            <a:ext cx="1580781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Plus jeunes (~52 vs 58 ans)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5153721" y="5314694"/>
            <a:ext cx="3043458" cy="508757"/>
          </a:xfrm>
          <a:custGeom>
            <a:avLst/>
            <a:gdLst/>
            <a:ahLst/>
            <a:cxnLst/>
            <a:rect l="l" t="t" r="r" b="b"/>
            <a:pathLst>
              <a:path w="3043458" h="508757">
                <a:moveTo>
                  <a:pt x="72681" y="0"/>
                </a:moveTo>
                <a:lnTo>
                  <a:pt x="2970776" y="0"/>
                </a:lnTo>
                <a:cubicBezTo>
                  <a:pt x="3010917" y="0"/>
                  <a:pt x="3043458" y="32540"/>
                  <a:pt x="3043458" y="72681"/>
                </a:cubicBezTo>
                <a:lnTo>
                  <a:pt x="3043458" y="436076"/>
                </a:lnTo>
                <a:cubicBezTo>
                  <a:pt x="3043458" y="476217"/>
                  <a:pt x="3010917" y="508757"/>
                  <a:pt x="2970776" y="508757"/>
                </a:cubicBezTo>
                <a:lnTo>
                  <a:pt x="72681" y="508757"/>
                </a:lnTo>
                <a:cubicBezTo>
                  <a:pt x="32540" y="508757"/>
                  <a:pt x="0" y="476217"/>
                  <a:pt x="0" y="436076"/>
                </a:cubicBezTo>
                <a:lnTo>
                  <a:pt x="0" y="72681"/>
                </a:lnTo>
                <a:cubicBezTo>
                  <a:pt x="0" y="32567"/>
                  <a:pt x="32567" y="0"/>
                  <a:pt x="7268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4" name="Shape 51"/>
          <p:cNvSpPr/>
          <p:nvPr/>
        </p:nvSpPr>
        <p:spPr>
          <a:xfrm>
            <a:off x="5244570" y="5423714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72680" y="30633"/>
                </a:moveTo>
                <a:lnTo>
                  <a:pt x="68421" y="24728"/>
                </a:lnTo>
                <a:cubicBezTo>
                  <a:pt x="61323" y="14905"/>
                  <a:pt x="49939" y="9085"/>
                  <a:pt x="37788" y="9085"/>
                </a:cubicBezTo>
                <a:cubicBezTo>
                  <a:pt x="16921" y="9085"/>
                  <a:pt x="0" y="26006"/>
                  <a:pt x="0" y="46873"/>
                </a:cubicBezTo>
                <a:lnTo>
                  <a:pt x="0" y="47611"/>
                </a:lnTo>
                <a:cubicBezTo>
                  <a:pt x="0" y="54311"/>
                  <a:pt x="1760" y="61238"/>
                  <a:pt x="4713" y="68137"/>
                </a:cubicBezTo>
                <a:lnTo>
                  <a:pt x="34807" y="68137"/>
                </a:lnTo>
                <a:cubicBezTo>
                  <a:pt x="35715" y="68137"/>
                  <a:pt x="36539" y="67598"/>
                  <a:pt x="36908" y="66746"/>
                </a:cubicBezTo>
                <a:lnTo>
                  <a:pt x="45936" y="45084"/>
                </a:lnTo>
                <a:cubicBezTo>
                  <a:pt x="46986" y="42586"/>
                  <a:pt x="49428" y="40939"/>
                  <a:pt x="52125" y="40882"/>
                </a:cubicBezTo>
                <a:cubicBezTo>
                  <a:pt x="54822" y="40825"/>
                  <a:pt x="57320" y="42415"/>
                  <a:pt x="58428" y="44885"/>
                </a:cubicBezTo>
                <a:lnTo>
                  <a:pt x="72992" y="77222"/>
                </a:lnTo>
                <a:lnTo>
                  <a:pt x="84746" y="53715"/>
                </a:lnTo>
                <a:cubicBezTo>
                  <a:pt x="85910" y="51415"/>
                  <a:pt x="88266" y="49939"/>
                  <a:pt x="90849" y="49939"/>
                </a:cubicBezTo>
                <a:cubicBezTo>
                  <a:pt x="93433" y="49939"/>
                  <a:pt x="95789" y="51387"/>
                  <a:pt x="96953" y="53715"/>
                </a:cubicBezTo>
                <a:lnTo>
                  <a:pt x="103540" y="66860"/>
                </a:lnTo>
                <a:cubicBezTo>
                  <a:pt x="103937" y="67626"/>
                  <a:pt x="104704" y="68109"/>
                  <a:pt x="105584" y="68109"/>
                </a:cubicBezTo>
                <a:lnTo>
                  <a:pt x="140675" y="68109"/>
                </a:lnTo>
                <a:cubicBezTo>
                  <a:pt x="143656" y="61210"/>
                  <a:pt x="145388" y="54283"/>
                  <a:pt x="145388" y="47582"/>
                </a:cubicBezTo>
                <a:lnTo>
                  <a:pt x="145388" y="46844"/>
                </a:lnTo>
                <a:cubicBezTo>
                  <a:pt x="145359" y="26006"/>
                  <a:pt x="128438" y="9085"/>
                  <a:pt x="107571" y="9085"/>
                </a:cubicBezTo>
                <a:cubicBezTo>
                  <a:pt x="95449" y="9085"/>
                  <a:pt x="84036" y="14905"/>
                  <a:pt x="76938" y="24728"/>
                </a:cubicBezTo>
                <a:lnTo>
                  <a:pt x="72680" y="30605"/>
                </a:lnTo>
                <a:close/>
                <a:moveTo>
                  <a:pt x="133322" y="81765"/>
                </a:moveTo>
                <a:lnTo>
                  <a:pt x="105556" y="81765"/>
                </a:lnTo>
                <a:cubicBezTo>
                  <a:pt x="99537" y="81765"/>
                  <a:pt x="94029" y="78358"/>
                  <a:pt x="91332" y="72963"/>
                </a:cubicBezTo>
                <a:lnTo>
                  <a:pt x="90849" y="71998"/>
                </a:lnTo>
                <a:lnTo>
                  <a:pt x="78784" y="96158"/>
                </a:lnTo>
                <a:cubicBezTo>
                  <a:pt x="77620" y="98515"/>
                  <a:pt x="75178" y="99991"/>
                  <a:pt x="72538" y="99934"/>
                </a:cubicBezTo>
                <a:cubicBezTo>
                  <a:pt x="69897" y="99878"/>
                  <a:pt x="67541" y="98316"/>
                  <a:pt x="66462" y="95931"/>
                </a:cubicBezTo>
                <a:lnTo>
                  <a:pt x="52466" y="64844"/>
                </a:lnTo>
                <a:lnTo>
                  <a:pt x="49485" y="71998"/>
                </a:lnTo>
                <a:cubicBezTo>
                  <a:pt x="47015" y="77932"/>
                  <a:pt x="41223" y="81793"/>
                  <a:pt x="34807" y="81793"/>
                </a:cubicBezTo>
                <a:lnTo>
                  <a:pt x="12038" y="81793"/>
                </a:lnTo>
                <a:cubicBezTo>
                  <a:pt x="25438" y="102745"/>
                  <a:pt x="46958" y="122022"/>
                  <a:pt x="60415" y="132300"/>
                </a:cubicBezTo>
                <a:cubicBezTo>
                  <a:pt x="63935" y="134968"/>
                  <a:pt x="68251" y="136303"/>
                  <a:pt x="72651" y="136303"/>
                </a:cubicBezTo>
                <a:cubicBezTo>
                  <a:pt x="77052" y="136303"/>
                  <a:pt x="81395" y="134997"/>
                  <a:pt x="84887" y="132300"/>
                </a:cubicBezTo>
                <a:cubicBezTo>
                  <a:pt x="98401" y="121994"/>
                  <a:pt x="119921" y="102717"/>
                  <a:pt x="133322" y="81765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55" name="Text 52"/>
          <p:cNvSpPr/>
          <p:nvPr/>
        </p:nvSpPr>
        <p:spPr>
          <a:xfrm>
            <a:off x="5517118" y="5387374"/>
            <a:ext cx="2480191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 moyenne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5517118" y="5569073"/>
            <a:ext cx="2480191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Légèrement inférieure (~135 vs 142 mmHg)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5153721" y="5896131"/>
            <a:ext cx="3043458" cy="508757"/>
          </a:xfrm>
          <a:custGeom>
            <a:avLst/>
            <a:gdLst/>
            <a:ahLst/>
            <a:cxnLst/>
            <a:rect l="l" t="t" r="r" b="b"/>
            <a:pathLst>
              <a:path w="3043458" h="508757">
                <a:moveTo>
                  <a:pt x="72681" y="0"/>
                </a:moveTo>
                <a:lnTo>
                  <a:pt x="2970776" y="0"/>
                </a:lnTo>
                <a:cubicBezTo>
                  <a:pt x="3010917" y="0"/>
                  <a:pt x="3043458" y="32540"/>
                  <a:pt x="3043458" y="72681"/>
                </a:cubicBezTo>
                <a:lnTo>
                  <a:pt x="3043458" y="436076"/>
                </a:lnTo>
                <a:cubicBezTo>
                  <a:pt x="3043458" y="476217"/>
                  <a:pt x="3010917" y="508757"/>
                  <a:pt x="2970776" y="508757"/>
                </a:cubicBezTo>
                <a:lnTo>
                  <a:pt x="72681" y="508757"/>
                </a:lnTo>
                <a:cubicBezTo>
                  <a:pt x="32540" y="508757"/>
                  <a:pt x="0" y="476217"/>
                  <a:pt x="0" y="436076"/>
                </a:cubicBezTo>
                <a:lnTo>
                  <a:pt x="0" y="72681"/>
                </a:lnTo>
                <a:cubicBezTo>
                  <a:pt x="0" y="32567"/>
                  <a:pt x="32567" y="0"/>
                  <a:pt x="7268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8" name="Shape 55"/>
          <p:cNvSpPr/>
          <p:nvPr/>
        </p:nvSpPr>
        <p:spPr>
          <a:xfrm>
            <a:off x="5244570" y="6005151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27255" y="99934"/>
                </a:moveTo>
                <a:cubicBezTo>
                  <a:pt x="27255" y="109956"/>
                  <a:pt x="35403" y="118104"/>
                  <a:pt x="45425" y="118104"/>
                </a:cubicBezTo>
                <a:lnTo>
                  <a:pt x="96953" y="118104"/>
                </a:lnTo>
                <a:cubicBezTo>
                  <a:pt x="101780" y="118104"/>
                  <a:pt x="106407" y="116202"/>
                  <a:pt x="109814" y="112795"/>
                </a:cubicBezTo>
                <a:lnTo>
                  <a:pt x="140050" y="82531"/>
                </a:lnTo>
                <a:cubicBezTo>
                  <a:pt x="143457" y="79124"/>
                  <a:pt x="145359" y="74497"/>
                  <a:pt x="145359" y="69670"/>
                </a:cubicBezTo>
                <a:lnTo>
                  <a:pt x="145359" y="18170"/>
                </a:lnTo>
                <a:cubicBezTo>
                  <a:pt x="145359" y="8148"/>
                  <a:pt x="137211" y="0"/>
                  <a:pt x="127189" y="0"/>
                </a:cubicBezTo>
                <a:lnTo>
                  <a:pt x="45425" y="0"/>
                </a:lnTo>
                <a:cubicBezTo>
                  <a:pt x="35403" y="0"/>
                  <a:pt x="27255" y="8148"/>
                  <a:pt x="27255" y="18170"/>
                </a:cubicBezTo>
                <a:lnTo>
                  <a:pt x="27255" y="99934"/>
                </a:lnTo>
                <a:close/>
                <a:moveTo>
                  <a:pt x="81765" y="31797"/>
                </a:moveTo>
                <a:lnTo>
                  <a:pt x="90849" y="31797"/>
                </a:lnTo>
                <a:cubicBezTo>
                  <a:pt x="93348" y="31797"/>
                  <a:pt x="95392" y="33841"/>
                  <a:pt x="95392" y="36340"/>
                </a:cubicBezTo>
                <a:lnTo>
                  <a:pt x="95392" y="49967"/>
                </a:lnTo>
                <a:lnTo>
                  <a:pt x="109019" y="49967"/>
                </a:lnTo>
                <a:cubicBezTo>
                  <a:pt x="111518" y="49967"/>
                  <a:pt x="113562" y="52011"/>
                  <a:pt x="113562" y="54510"/>
                </a:cubicBezTo>
                <a:lnTo>
                  <a:pt x="113562" y="63595"/>
                </a:lnTo>
                <a:cubicBezTo>
                  <a:pt x="113562" y="66093"/>
                  <a:pt x="111518" y="68137"/>
                  <a:pt x="109019" y="68137"/>
                </a:cubicBezTo>
                <a:lnTo>
                  <a:pt x="95392" y="68137"/>
                </a:lnTo>
                <a:lnTo>
                  <a:pt x="95392" y="81765"/>
                </a:lnTo>
                <a:cubicBezTo>
                  <a:pt x="95392" y="84263"/>
                  <a:pt x="93348" y="86307"/>
                  <a:pt x="90849" y="86307"/>
                </a:cubicBezTo>
                <a:lnTo>
                  <a:pt x="81765" y="86307"/>
                </a:lnTo>
                <a:cubicBezTo>
                  <a:pt x="79266" y="86307"/>
                  <a:pt x="77222" y="84263"/>
                  <a:pt x="77222" y="81765"/>
                </a:cubicBezTo>
                <a:lnTo>
                  <a:pt x="77222" y="68137"/>
                </a:lnTo>
                <a:lnTo>
                  <a:pt x="63595" y="68137"/>
                </a:lnTo>
                <a:cubicBezTo>
                  <a:pt x="61096" y="68137"/>
                  <a:pt x="59052" y="66093"/>
                  <a:pt x="59052" y="63595"/>
                </a:cubicBezTo>
                <a:lnTo>
                  <a:pt x="59052" y="54510"/>
                </a:lnTo>
                <a:cubicBezTo>
                  <a:pt x="59052" y="52011"/>
                  <a:pt x="61096" y="49967"/>
                  <a:pt x="63595" y="49967"/>
                </a:cubicBezTo>
                <a:lnTo>
                  <a:pt x="77222" y="49967"/>
                </a:lnTo>
                <a:lnTo>
                  <a:pt x="77222" y="36340"/>
                </a:lnTo>
                <a:cubicBezTo>
                  <a:pt x="77222" y="33841"/>
                  <a:pt x="79266" y="31797"/>
                  <a:pt x="81765" y="31797"/>
                </a:cubicBezTo>
                <a:close/>
                <a:moveTo>
                  <a:pt x="13627" y="34069"/>
                </a:moveTo>
                <a:cubicBezTo>
                  <a:pt x="13627" y="30293"/>
                  <a:pt x="10590" y="27255"/>
                  <a:pt x="6814" y="27255"/>
                </a:cubicBezTo>
                <a:cubicBezTo>
                  <a:pt x="3038" y="27255"/>
                  <a:pt x="0" y="30293"/>
                  <a:pt x="0" y="34069"/>
                </a:cubicBezTo>
                <a:lnTo>
                  <a:pt x="0" y="127189"/>
                </a:lnTo>
                <a:cubicBezTo>
                  <a:pt x="0" y="137211"/>
                  <a:pt x="8148" y="145359"/>
                  <a:pt x="18170" y="145359"/>
                </a:cubicBezTo>
                <a:lnTo>
                  <a:pt x="93121" y="145359"/>
                </a:lnTo>
                <a:cubicBezTo>
                  <a:pt x="96897" y="145359"/>
                  <a:pt x="99934" y="142321"/>
                  <a:pt x="99934" y="138545"/>
                </a:cubicBezTo>
                <a:cubicBezTo>
                  <a:pt x="99934" y="134770"/>
                  <a:pt x="96897" y="131732"/>
                  <a:pt x="93121" y="131732"/>
                </a:cubicBezTo>
                <a:lnTo>
                  <a:pt x="18170" y="131732"/>
                </a:lnTo>
                <a:cubicBezTo>
                  <a:pt x="15672" y="131732"/>
                  <a:pt x="13627" y="129688"/>
                  <a:pt x="13627" y="127189"/>
                </a:cubicBezTo>
                <a:lnTo>
                  <a:pt x="13627" y="34069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59" name="Text 56"/>
          <p:cNvSpPr/>
          <p:nvPr/>
        </p:nvSpPr>
        <p:spPr>
          <a:xfrm>
            <a:off x="5517118" y="5968811"/>
            <a:ext cx="1880584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Présentation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5517118" y="6150510"/>
            <a:ext cx="1880584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Moins de symptômes classiques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8492155" y="4115481"/>
            <a:ext cx="3334176" cy="2743654"/>
          </a:xfrm>
          <a:custGeom>
            <a:avLst/>
            <a:gdLst/>
            <a:ahLst/>
            <a:cxnLst/>
            <a:rect l="l" t="t" r="r" b="b"/>
            <a:pathLst>
              <a:path w="3334176" h="2743654">
                <a:moveTo>
                  <a:pt x="109033" y="0"/>
                </a:moveTo>
                <a:lnTo>
                  <a:pt x="3225143" y="0"/>
                </a:lnTo>
                <a:cubicBezTo>
                  <a:pt x="3285360" y="0"/>
                  <a:pt x="3334176" y="48816"/>
                  <a:pt x="3334176" y="109033"/>
                </a:cubicBezTo>
                <a:lnTo>
                  <a:pt x="3334176" y="2634621"/>
                </a:lnTo>
                <a:cubicBezTo>
                  <a:pt x="3334176" y="2694839"/>
                  <a:pt x="3285360" y="2743654"/>
                  <a:pt x="3225143" y="2743654"/>
                </a:cubicBezTo>
                <a:lnTo>
                  <a:pt x="109033" y="2743654"/>
                </a:lnTo>
                <a:cubicBezTo>
                  <a:pt x="48816" y="2743654"/>
                  <a:pt x="0" y="2694839"/>
                  <a:pt x="0" y="2634621"/>
                </a:cubicBezTo>
                <a:lnTo>
                  <a:pt x="0" y="109033"/>
                </a:lnTo>
                <a:cubicBezTo>
                  <a:pt x="0" y="48856"/>
                  <a:pt x="48856" y="0"/>
                  <a:pt x="109033" y="0"/>
                </a:cubicBezTo>
                <a:close/>
              </a:path>
            </a:pathLst>
          </a:custGeom>
          <a:gradFill rotWithShape="1" flip="none">
            <a:gsLst>
              <a:gs pos="0">
                <a:srgbClr val="D95D5D"/>
              </a:gs>
              <a:gs pos="100000">
                <a:srgbClr val="D95D5D">
                  <a:alpha val="80000"/>
                </a:srgbClr>
              </a:gs>
            </a:gsLst>
            <a:lin ang="0" scaled="1"/>
          </a:gradFill>
          <a:ln/>
          <a:effectLst>
            <a:outerShdw sx="100000" sy="100000" kx="0" ky="0" algn="bl" rotWithShape="0" blurRad="54510" dist="36340" dir="5400000">
              <a:srgbClr val="000000">
                <a:alpha val="10196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8637514" y="4260841"/>
            <a:ext cx="363398" cy="363398"/>
          </a:xfrm>
          <a:custGeom>
            <a:avLst/>
            <a:gdLst/>
            <a:ahLst/>
            <a:cxnLst/>
            <a:rect l="l" t="t" r="r" b="b"/>
            <a:pathLst>
              <a:path w="363398" h="363398">
                <a:moveTo>
                  <a:pt x="72680" y="0"/>
                </a:moveTo>
                <a:lnTo>
                  <a:pt x="290718" y="0"/>
                </a:lnTo>
                <a:cubicBezTo>
                  <a:pt x="330831" y="0"/>
                  <a:pt x="363398" y="32567"/>
                  <a:pt x="363398" y="72680"/>
                </a:cubicBezTo>
                <a:lnTo>
                  <a:pt x="363398" y="290718"/>
                </a:lnTo>
                <a:cubicBezTo>
                  <a:pt x="363398" y="330831"/>
                  <a:pt x="330831" y="363398"/>
                  <a:pt x="290718" y="363398"/>
                </a:cubicBezTo>
                <a:lnTo>
                  <a:pt x="72680" y="363398"/>
                </a:lnTo>
                <a:cubicBezTo>
                  <a:pt x="32567" y="363398"/>
                  <a:pt x="0" y="330831"/>
                  <a:pt x="0" y="290718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8760161" y="4360775"/>
            <a:ext cx="122647" cy="163529"/>
          </a:xfrm>
          <a:custGeom>
            <a:avLst/>
            <a:gdLst/>
            <a:ahLst/>
            <a:cxnLst/>
            <a:rect l="l" t="t" r="r" b="b"/>
            <a:pathLst>
              <a:path w="122647" h="163529">
                <a:moveTo>
                  <a:pt x="93550" y="122647"/>
                </a:moveTo>
                <a:cubicBezTo>
                  <a:pt x="95882" y="115524"/>
                  <a:pt x="100545" y="109073"/>
                  <a:pt x="105815" y="103515"/>
                </a:cubicBezTo>
                <a:cubicBezTo>
                  <a:pt x="116259" y="92528"/>
                  <a:pt x="122647" y="77676"/>
                  <a:pt x="122647" y="61323"/>
                </a:cubicBezTo>
                <a:cubicBezTo>
                  <a:pt x="122647" y="27468"/>
                  <a:pt x="95179" y="0"/>
                  <a:pt x="61323" y="0"/>
                </a:cubicBezTo>
                <a:cubicBezTo>
                  <a:pt x="27468" y="0"/>
                  <a:pt x="0" y="27468"/>
                  <a:pt x="0" y="61323"/>
                </a:cubicBezTo>
                <a:cubicBezTo>
                  <a:pt x="0" y="77676"/>
                  <a:pt x="6388" y="92528"/>
                  <a:pt x="16832" y="103515"/>
                </a:cubicBezTo>
                <a:cubicBezTo>
                  <a:pt x="22102" y="109073"/>
                  <a:pt x="26797" y="115524"/>
                  <a:pt x="29097" y="122647"/>
                </a:cubicBezTo>
                <a:lnTo>
                  <a:pt x="93518" y="122647"/>
                </a:lnTo>
                <a:close/>
                <a:moveTo>
                  <a:pt x="91985" y="137978"/>
                </a:moveTo>
                <a:lnTo>
                  <a:pt x="30662" y="137978"/>
                </a:lnTo>
                <a:lnTo>
                  <a:pt x="30662" y="143088"/>
                </a:lnTo>
                <a:cubicBezTo>
                  <a:pt x="30662" y="157205"/>
                  <a:pt x="42096" y="168639"/>
                  <a:pt x="56213" y="168639"/>
                </a:cubicBezTo>
                <a:lnTo>
                  <a:pt x="66434" y="168639"/>
                </a:lnTo>
                <a:cubicBezTo>
                  <a:pt x="80551" y="168639"/>
                  <a:pt x="91985" y="157205"/>
                  <a:pt x="91985" y="143088"/>
                </a:cubicBezTo>
                <a:lnTo>
                  <a:pt x="91985" y="137978"/>
                </a:lnTo>
                <a:close/>
                <a:moveTo>
                  <a:pt x="58768" y="35772"/>
                </a:moveTo>
                <a:cubicBezTo>
                  <a:pt x="46056" y="35772"/>
                  <a:pt x="35772" y="46056"/>
                  <a:pt x="35772" y="58768"/>
                </a:cubicBezTo>
                <a:cubicBezTo>
                  <a:pt x="35772" y="63016"/>
                  <a:pt x="32354" y="66434"/>
                  <a:pt x="28107" y="66434"/>
                </a:cubicBezTo>
                <a:cubicBezTo>
                  <a:pt x="23859" y="66434"/>
                  <a:pt x="20441" y="63016"/>
                  <a:pt x="20441" y="58768"/>
                </a:cubicBezTo>
                <a:cubicBezTo>
                  <a:pt x="20441" y="37593"/>
                  <a:pt x="37593" y="20441"/>
                  <a:pt x="58768" y="20441"/>
                </a:cubicBezTo>
                <a:cubicBezTo>
                  <a:pt x="63016" y="20441"/>
                  <a:pt x="66434" y="23859"/>
                  <a:pt x="66434" y="28107"/>
                </a:cubicBezTo>
                <a:cubicBezTo>
                  <a:pt x="66434" y="32354"/>
                  <a:pt x="63016" y="35772"/>
                  <a:pt x="58768" y="357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4" name="Text 61"/>
          <p:cNvSpPr/>
          <p:nvPr/>
        </p:nvSpPr>
        <p:spPr>
          <a:xfrm>
            <a:off x="9109931" y="4315350"/>
            <a:ext cx="1226468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Recommandation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8637514" y="4733258"/>
            <a:ext cx="3043458" cy="1053854"/>
          </a:xfrm>
          <a:custGeom>
            <a:avLst/>
            <a:gdLst/>
            <a:ahLst/>
            <a:cxnLst/>
            <a:rect l="l" t="t" r="r" b="b"/>
            <a:pathLst>
              <a:path w="3043458" h="1053854">
                <a:moveTo>
                  <a:pt x="72684" y="0"/>
                </a:moveTo>
                <a:lnTo>
                  <a:pt x="2970773" y="0"/>
                </a:lnTo>
                <a:cubicBezTo>
                  <a:pt x="3010916" y="0"/>
                  <a:pt x="3043458" y="32542"/>
                  <a:pt x="3043458" y="72684"/>
                </a:cubicBezTo>
                <a:lnTo>
                  <a:pt x="3043458" y="981170"/>
                </a:lnTo>
                <a:cubicBezTo>
                  <a:pt x="3043458" y="1021312"/>
                  <a:pt x="3010916" y="1053854"/>
                  <a:pt x="2970773" y="1053854"/>
                </a:cubicBezTo>
                <a:lnTo>
                  <a:pt x="72684" y="1053854"/>
                </a:lnTo>
                <a:cubicBezTo>
                  <a:pt x="32542" y="1053854"/>
                  <a:pt x="0" y="1021312"/>
                  <a:pt x="0" y="981170"/>
                </a:cubicBezTo>
                <a:lnTo>
                  <a:pt x="0" y="72684"/>
                </a:lnTo>
                <a:cubicBezTo>
                  <a:pt x="0" y="32569"/>
                  <a:pt x="32569" y="0"/>
                  <a:pt x="7268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8746534" y="4842277"/>
            <a:ext cx="2889013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Priorité Absolue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8746534" y="5060316"/>
            <a:ext cx="2889013" cy="617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1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Minimiser les faux négatifs — Un cas de MCV manqué a des conséquences cliniques bien plus graves qu'une fausse alarme.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8637514" y="5862063"/>
            <a:ext cx="3043458" cy="853985"/>
          </a:xfrm>
          <a:custGeom>
            <a:avLst/>
            <a:gdLst/>
            <a:ahLst/>
            <a:cxnLst/>
            <a:rect l="l" t="t" r="r" b="b"/>
            <a:pathLst>
              <a:path w="3043458" h="853985">
                <a:moveTo>
                  <a:pt x="72683" y="0"/>
                </a:moveTo>
                <a:lnTo>
                  <a:pt x="2970775" y="0"/>
                </a:lnTo>
                <a:cubicBezTo>
                  <a:pt x="3010916" y="0"/>
                  <a:pt x="3043458" y="32541"/>
                  <a:pt x="3043458" y="72683"/>
                </a:cubicBezTo>
                <a:lnTo>
                  <a:pt x="3043458" y="781302"/>
                </a:lnTo>
                <a:cubicBezTo>
                  <a:pt x="3043458" y="821417"/>
                  <a:pt x="3010890" y="853985"/>
                  <a:pt x="2970775" y="853985"/>
                </a:cubicBezTo>
                <a:lnTo>
                  <a:pt x="72683" y="853985"/>
                </a:lnTo>
                <a:cubicBezTo>
                  <a:pt x="32541" y="853985"/>
                  <a:pt x="0" y="821444"/>
                  <a:pt x="0" y="781302"/>
                </a:cubicBezTo>
                <a:lnTo>
                  <a:pt x="0" y="72683"/>
                </a:lnTo>
                <a:cubicBezTo>
                  <a:pt x="0" y="32568"/>
                  <a:pt x="32568" y="0"/>
                  <a:pt x="7268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9" name="Text 66"/>
          <p:cNvSpPr/>
          <p:nvPr/>
        </p:nvSpPr>
        <p:spPr>
          <a:xfrm>
            <a:off x="8746534" y="5971082"/>
            <a:ext cx="2889013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 Recommandée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8746534" y="6189121"/>
            <a:ext cx="2889013" cy="417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1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Optimisation du seuil de classification pour favoriser le rappel (sensibilité).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65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A6D7C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48469" y="47625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6552" y="9922"/>
                </a:moveTo>
                <a:lnTo>
                  <a:pt x="99219" y="9922"/>
                </a:lnTo>
                <a:cubicBezTo>
                  <a:pt x="110164" y="9922"/>
                  <a:pt x="119062" y="18821"/>
                  <a:pt x="119062" y="2976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29766"/>
                </a:lnTo>
                <a:cubicBezTo>
                  <a:pt x="0" y="18821"/>
                  <a:pt x="8899" y="9922"/>
                  <a:pt x="19844" y="9922"/>
                </a:cubicBezTo>
                <a:lnTo>
                  <a:pt x="22510" y="9922"/>
                </a:lnTo>
                <a:cubicBezTo>
                  <a:pt x="25921" y="4000"/>
                  <a:pt x="32339" y="0"/>
                  <a:pt x="39688" y="0"/>
                </a:cubicBezTo>
                <a:lnTo>
                  <a:pt x="79375" y="0"/>
                </a:lnTo>
                <a:cubicBezTo>
                  <a:pt x="86723" y="0"/>
                  <a:pt x="93142" y="4000"/>
                  <a:pt x="96552" y="9922"/>
                </a:cubicBezTo>
                <a:close/>
                <a:moveTo>
                  <a:pt x="76895" y="34727"/>
                </a:moveTo>
                <a:cubicBezTo>
                  <a:pt x="81018" y="34727"/>
                  <a:pt x="84336" y="31409"/>
                  <a:pt x="84336" y="27285"/>
                </a:cubicBezTo>
                <a:cubicBezTo>
                  <a:pt x="84336" y="23161"/>
                  <a:pt x="81018" y="19844"/>
                  <a:pt x="76895" y="19844"/>
                </a:cubicBezTo>
                <a:lnTo>
                  <a:pt x="42168" y="19844"/>
                </a:lnTo>
                <a:cubicBezTo>
                  <a:pt x="38044" y="19844"/>
                  <a:pt x="34727" y="23161"/>
                  <a:pt x="34727" y="27285"/>
                </a:cubicBezTo>
                <a:cubicBezTo>
                  <a:pt x="34727" y="31409"/>
                  <a:pt x="38044" y="34727"/>
                  <a:pt x="42168" y="34727"/>
                </a:cubicBezTo>
                <a:lnTo>
                  <a:pt x="76895" y="34727"/>
                </a:lnTo>
                <a:close/>
                <a:moveTo>
                  <a:pt x="85700" y="80832"/>
                </a:moveTo>
                <a:cubicBezTo>
                  <a:pt x="87871" y="77360"/>
                  <a:pt x="86816" y="72771"/>
                  <a:pt x="83344" y="70569"/>
                </a:cubicBezTo>
                <a:cubicBezTo>
                  <a:pt x="79871" y="68368"/>
                  <a:pt x="75282" y="69453"/>
                  <a:pt x="73081" y="72926"/>
                </a:cubicBezTo>
                <a:lnTo>
                  <a:pt x="54043" y="103405"/>
                </a:lnTo>
                <a:lnTo>
                  <a:pt x="45672" y="92242"/>
                </a:lnTo>
                <a:cubicBezTo>
                  <a:pt x="43191" y="88956"/>
                  <a:pt x="38540" y="88274"/>
                  <a:pt x="35254" y="90754"/>
                </a:cubicBezTo>
                <a:cubicBezTo>
                  <a:pt x="31967" y="93235"/>
                  <a:pt x="31285" y="97885"/>
                  <a:pt x="33765" y="101172"/>
                </a:cubicBezTo>
                <a:lnTo>
                  <a:pt x="48648" y="121016"/>
                </a:lnTo>
                <a:cubicBezTo>
                  <a:pt x="50105" y="122969"/>
                  <a:pt x="52462" y="124085"/>
                  <a:pt x="54911" y="123992"/>
                </a:cubicBezTo>
                <a:cubicBezTo>
                  <a:pt x="57361" y="123899"/>
                  <a:pt x="59593" y="122597"/>
                  <a:pt x="60896" y="120489"/>
                </a:cubicBezTo>
                <a:lnTo>
                  <a:pt x="85700" y="80801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4" name="Text 2"/>
          <p:cNvSpPr/>
          <p:nvPr/>
        </p:nvSpPr>
        <p:spPr>
          <a:xfrm>
            <a:off x="793750" y="317500"/>
            <a:ext cx="140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Synthèse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50" y="476250"/>
            <a:ext cx="14922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7500" y="984250"/>
            <a:ext cx="11557000" cy="1555750"/>
          </a:xfrm>
          <a:custGeom>
            <a:avLst/>
            <a:gdLst/>
            <a:ahLst/>
            <a:cxnLst/>
            <a:rect l="l" t="t" r="r" b="b"/>
            <a:pathLst>
              <a:path w="11557000" h="1555750">
                <a:moveTo>
                  <a:pt x="95243" y="0"/>
                </a:moveTo>
                <a:lnTo>
                  <a:pt x="11461757" y="0"/>
                </a:lnTo>
                <a:cubicBezTo>
                  <a:pt x="11514358" y="0"/>
                  <a:pt x="11557000" y="42642"/>
                  <a:pt x="11557000" y="95243"/>
                </a:cubicBezTo>
                <a:lnTo>
                  <a:pt x="11557000" y="1460507"/>
                </a:lnTo>
                <a:cubicBezTo>
                  <a:pt x="11557000" y="1513108"/>
                  <a:pt x="11514358" y="1555750"/>
                  <a:pt x="11461757" y="1555750"/>
                </a:cubicBezTo>
                <a:lnTo>
                  <a:pt x="95243" y="1555750"/>
                </a:lnTo>
                <a:cubicBezTo>
                  <a:pt x="42642" y="1555750"/>
                  <a:pt x="0" y="1513108"/>
                  <a:pt x="0" y="1460507"/>
                </a:cubicBezTo>
                <a:lnTo>
                  <a:pt x="0" y="95243"/>
                </a:lnTo>
                <a:cubicBezTo>
                  <a:pt x="0" y="42677"/>
                  <a:pt x="42677" y="0"/>
                  <a:pt x="9524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4500" y="1111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33797" y="119856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7337" y="10130"/>
                </a:moveTo>
                <a:cubicBezTo>
                  <a:pt x="40379" y="12250"/>
                  <a:pt x="41104" y="16436"/>
                  <a:pt x="38984" y="19450"/>
                </a:cubicBezTo>
                <a:lnTo>
                  <a:pt x="23357" y="41774"/>
                </a:lnTo>
                <a:cubicBezTo>
                  <a:pt x="22213" y="43393"/>
                  <a:pt x="20427" y="44425"/>
                  <a:pt x="18445" y="44593"/>
                </a:cubicBezTo>
                <a:cubicBezTo>
                  <a:pt x="16464" y="44760"/>
                  <a:pt x="14511" y="44090"/>
                  <a:pt x="13115" y="42695"/>
                </a:cubicBezTo>
                <a:lnTo>
                  <a:pt x="1953" y="31533"/>
                </a:lnTo>
                <a:cubicBezTo>
                  <a:pt x="-642" y="28910"/>
                  <a:pt x="-642" y="24668"/>
                  <a:pt x="1953" y="22045"/>
                </a:cubicBezTo>
                <a:cubicBezTo>
                  <a:pt x="4549" y="19422"/>
                  <a:pt x="8818" y="19450"/>
                  <a:pt x="11441" y="22045"/>
                </a:cubicBezTo>
                <a:lnTo>
                  <a:pt x="16966" y="27570"/>
                </a:lnTo>
                <a:lnTo>
                  <a:pt x="28017" y="11776"/>
                </a:lnTo>
                <a:cubicBezTo>
                  <a:pt x="30138" y="8734"/>
                  <a:pt x="34323" y="8009"/>
                  <a:pt x="37337" y="10130"/>
                </a:cubicBezTo>
                <a:close/>
                <a:moveTo>
                  <a:pt x="37337" y="54778"/>
                </a:moveTo>
                <a:cubicBezTo>
                  <a:pt x="40379" y="56899"/>
                  <a:pt x="41104" y="61085"/>
                  <a:pt x="38984" y="64098"/>
                </a:cubicBezTo>
                <a:lnTo>
                  <a:pt x="23357" y="86423"/>
                </a:lnTo>
                <a:cubicBezTo>
                  <a:pt x="22213" y="88041"/>
                  <a:pt x="20427" y="89074"/>
                  <a:pt x="18445" y="89241"/>
                </a:cubicBezTo>
                <a:cubicBezTo>
                  <a:pt x="16464" y="89408"/>
                  <a:pt x="14511" y="88739"/>
                  <a:pt x="13115" y="87344"/>
                </a:cubicBezTo>
                <a:lnTo>
                  <a:pt x="1953" y="76181"/>
                </a:lnTo>
                <a:cubicBezTo>
                  <a:pt x="-670" y="73558"/>
                  <a:pt x="-670" y="69317"/>
                  <a:pt x="1953" y="66722"/>
                </a:cubicBezTo>
                <a:cubicBezTo>
                  <a:pt x="4576" y="64126"/>
                  <a:pt x="8818" y="64098"/>
                  <a:pt x="11413" y="66722"/>
                </a:cubicBezTo>
                <a:lnTo>
                  <a:pt x="16939" y="72247"/>
                </a:lnTo>
                <a:lnTo>
                  <a:pt x="27989" y="56452"/>
                </a:lnTo>
                <a:cubicBezTo>
                  <a:pt x="30110" y="53411"/>
                  <a:pt x="34296" y="52685"/>
                  <a:pt x="37309" y="54806"/>
                </a:cubicBezTo>
                <a:close/>
                <a:moveTo>
                  <a:pt x="62508" y="26789"/>
                </a:moveTo>
                <a:cubicBezTo>
                  <a:pt x="62508" y="21850"/>
                  <a:pt x="66498" y="17859"/>
                  <a:pt x="71438" y="17859"/>
                </a:cubicBezTo>
                <a:lnTo>
                  <a:pt x="133945" y="17859"/>
                </a:lnTo>
                <a:cubicBezTo>
                  <a:pt x="138885" y="17859"/>
                  <a:pt x="142875" y="21850"/>
                  <a:pt x="142875" y="26789"/>
                </a:cubicBezTo>
                <a:cubicBezTo>
                  <a:pt x="142875" y="31728"/>
                  <a:pt x="138885" y="35719"/>
                  <a:pt x="133945" y="35719"/>
                </a:cubicBezTo>
                <a:lnTo>
                  <a:pt x="71438" y="35719"/>
                </a:lnTo>
                <a:cubicBezTo>
                  <a:pt x="66498" y="35719"/>
                  <a:pt x="62508" y="31728"/>
                  <a:pt x="62508" y="26789"/>
                </a:cubicBezTo>
                <a:close/>
                <a:moveTo>
                  <a:pt x="62508" y="71438"/>
                </a:moveTo>
                <a:cubicBezTo>
                  <a:pt x="62508" y="66498"/>
                  <a:pt x="66498" y="62508"/>
                  <a:pt x="71438" y="62508"/>
                </a:cubicBezTo>
                <a:lnTo>
                  <a:pt x="133945" y="62508"/>
                </a:lnTo>
                <a:cubicBezTo>
                  <a:pt x="138885" y="62508"/>
                  <a:pt x="142875" y="66498"/>
                  <a:pt x="142875" y="71438"/>
                </a:cubicBezTo>
                <a:cubicBezTo>
                  <a:pt x="142875" y="76377"/>
                  <a:pt x="138885" y="80367"/>
                  <a:pt x="133945" y="80367"/>
                </a:cubicBezTo>
                <a:lnTo>
                  <a:pt x="71438" y="80367"/>
                </a:lnTo>
                <a:cubicBezTo>
                  <a:pt x="66498" y="80367"/>
                  <a:pt x="62508" y="76377"/>
                  <a:pt x="62508" y="71438"/>
                </a:cubicBezTo>
                <a:close/>
                <a:moveTo>
                  <a:pt x="44648" y="116086"/>
                </a:moveTo>
                <a:cubicBezTo>
                  <a:pt x="44648" y="111147"/>
                  <a:pt x="48639" y="107156"/>
                  <a:pt x="53578" y="107156"/>
                </a:cubicBezTo>
                <a:lnTo>
                  <a:pt x="133945" y="107156"/>
                </a:lnTo>
                <a:cubicBezTo>
                  <a:pt x="138885" y="107156"/>
                  <a:pt x="142875" y="111147"/>
                  <a:pt x="142875" y="116086"/>
                </a:cubicBezTo>
                <a:cubicBezTo>
                  <a:pt x="142875" y="121025"/>
                  <a:pt x="138885" y="125016"/>
                  <a:pt x="133945" y="125016"/>
                </a:cubicBezTo>
                <a:lnTo>
                  <a:pt x="53578" y="125016"/>
                </a:lnTo>
                <a:cubicBezTo>
                  <a:pt x="48639" y="125016"/>
                  <a:pt x="44648" y="121025"/>
                  <a:pt x="44648" y="116086"/>
                </a:cubicBezTo>
                <a:close/>
                <a:moveTo>
                  <a:pt x="17859" y="104924"/>
                </a:moveTo>
                <a:cubicBezTo>
                  <a:pt x="24020" y="104924"/>
                  <a:pt x="29021" y="109925"/>
                  <a:pt x="29021" y="116086"/>
                </a:cubicBezTo>
                <a:cubicBezTo>
                  <a:pt x="29021" y="122246"/>
                  <a:pt x="24020" y="127248"/>
                  <a:pt x="17859" y="127248"/>
                </a:cubicBezTo>
                <a:cubicBezTo>
                  <a:pt x="11699" y="127248"/>
                  <a:pt x="6697" y="122246"/>
                  <a:pt x="6697" y="116086"/>
                </a:cubicBezTo>
                <a:cubicBezTo>
                  <a:pt x="6697" y="109925"/>
                  <a:pt x="11699" y="104924"/>
                  <a:pt x="17859" y="104924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9" name="Text 7"/>
          <p:cNvSpPr/>
          <p:nvPr/>
        </p:nvSpPr>
        <p:spPr>
          <a:xfrm>
            <a:off x="857250" y="1158875"/>
            <a:ext cx="1928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Résultats Principaux Atteints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4500" y="1524000"/>
            <a:ext cx="2182813" cy="889000"/>
          </a:xfrm>
          <a:custGeom>
            <a:avLst/>
            <a:gdLst/>
            <a:ahLst/>
            <a:cxnLst/>
            <a:rect l="l" t="t" r="r" b="b"/>
            <a:pathLst>
              <a:path w="2182813" h="889000">
                <a:moveTo>
                  <a:pt x="63501" y="0"/>
                </a:moveTo>
                <a:lnTo>
                  <a:pt x="2119311" y="0"/>
                </a:lnTo>
                <a:cubicBezTo>
                  <a:pt x="2154382" y="0"/>
                  <a:pt x="2182813" y="28430"/>
                  <a:pt x="2182813" y="63501"/>
                </a:cubicBezTo>
                <a:lnTo>
                  <a:pt x="2182813" y="825499"/>
                </a:lnTo>
                <a:cubicBezTo>
                  <a:pt x="2182813" y="860570"/>
                  <a:pt x="2154382" y="889000"/>
                  <a:pt x="2119311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1377900" y="1619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12" name="Shape 10"/>
          <p:cNvSpPr/>
          <p:nvPr/>
        </p:nvSpPr>
        <p:spPr>
          <a:xfrm>
            <a:off x="1481088" y="17145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11969" y="2000250"/>
            <a:ext cx="204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clinique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5938" y="2190750"/>
            <a:ext cx="2039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AUC-ROC = 0.93 (grade clinique)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24113" y="1524000"/>
            <a:ext cx="2182813" cy="889000"/>
          </a:xfrm>
          <a:custGeom>
            <a:avLst/>
            <a:gdLst/>
            <a:ahLst/>
            <a:cxnLst/>
            <a:rect l="l" t="t" r="r" b="b"/>
            <a:pathLst>
              <a:path w="2182813" h="889000">
                <a:moveTo>
                  <a:pt x="63501" y="0"/>
                </a:moveTo>
                <a:lnTo>
                  <a:pt x="2119311" y="0"/>
                </a:lnTo>
                <a:cubicBezTo>
                  <a:pt x="2154382" y="0"/>
                  <a:pt x="2182813" y="28430"/>
                  <a:pt x="2182813" y="63501"/>
                </a:cubicBezTo>
                <a:lnTo>
                  <a:pt x="2182813" y="825499"/>
                </a:lnTo>
                <a:cubicBezTo>
                  <a:pt x="2182813" y="860570"/>
                  <a:pt x="2154382" y="889000"/>
                  <a:pt x="2119311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575" y="1619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17" name="Shape 15"/>
          <p:cNvSpPr/>
          <p:nvPr/>
        </p:nvSpPr>
        <p:spPr>
          <a:xfrm>
            <a:off x="3760763" y="17145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791582" y="2000250"/>
            <a:ext cx="204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Généralisation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95550" y="2190750"/>
            <a:ext cx="2039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Fusion multi-sources efficace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03788" y="1524000"/>
            <a:ext cx="2182813" cy="889000"/>
          </a:xfrm>
          <a:custGeom>
            <a:avLst/>
            <a:gdLst/>
            <a:ahLst/>
            <a:cxnLst/>
            <a:rect l="l" t="t" r="r" b="b"/>
            <a:pathLst>
              <a:path w="2182813" h="889000">
                <a:moveTo>
                  <a:pt x="63501" y="0"/>
                </a:moveTo>
                <a:lnTo>
                  <a:pt x="2119311" y="0"/>
                </a:lnTo>
                <a:cubicBezTo>
                  <a:pt x="2154382" y="0"/>
                  <a:pt x="2182813" y="28430"/>
                  <a:pt x="2182813" y="63501"/>
                </a:cubicBezTo>
                <a:lnTo>
                  <a:pt x="2182813" y="825499"/>
                </a:lnTo>
                <a:cubicBezTo>
                  <a:pt x="2182813" y="860570"/>
                  <a:pt x="2154382" y="889000"/>
                  <a:pt x="2119311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1" name="Shape 19"/>
          <p:cNvSpPr/>
          <p:nvPr/>
        </p:nvSpPr>
        <p:spPr>
          <a:xfrm>
            <a:off x="5937188" y="1619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22" name="Shape 20"/>
          <p:cNvSpPr/>
          <p:nvPr/>
        </p:nvSpPr>
        <p:spPr>
          <a:xfrm>
            <a:off x="6040375" y="17145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71256" y="2000250"/>
            <a:ext cx="204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Identification facteurs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75225" y="2190750"/>
            <a:ext cx="2039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Âge, PA, cholestérol dominants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83400" y="1524000"/>
            <a:ext cx="2182813" cy="889000"/>
          </a:xfrm>
          <a:custGeom>
            <a:avLst/>
            <a:gdLst/>
            <a:ahLst/>
            <a:cxnLst/>
            <a:rect l="l" t="t" r="r" b="b"/>
            <a:pathLst>
              <a:path w="2182813" h="889000">
                <a:moveTo>
                  <a:pt x="63501" y="0"/>
                </a:moveTo>
                <a:lnTo>
                  <a:pt x="2119311" y="0"/>
                </a:lnTo>
                <a:cubicBezTo>
                  <a:pt x="2154382" y="0"/>
                  <a:pt x="2182813" y="28430"/>
                  <a:pt x="2182813" y="63501"/>
                </a:cubicBezTo>
                <a:lnTo>
                  <a:pt x="2182813" y="825499"/>
                </a:lnTo>
                <a:cubicBezTo>
                  <a:pt x="2182813" y="860570"/>
                  <a:pt x="2154382" y="889000"/>
                  <a:pt x="2119311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6" name="Shape 24"/>
          <p:cNvSpPr/>
          <p:nvPr/>
        </p:nvSpPr>
        <p:spPr>
          <a:xfrm>
            <a:off x="8216863" y="1619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27" name="Shape 25"/>
          <p:cNvSpPr/>
          <p:nvPr/>
        </p:nvSpPr>
        <p:spPr>
          <a:xfrm>
            <a:off x="8320050" y="17145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350869" y="2000250"/>
            <a:ext cx="204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 déséquilibre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54838" y="2190750"/>
            <a:ext cx="2039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SMOTE + class_weight efficaces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63075" y="1524000"/>
            <a:ext cx="2182813" cy="889000"/>
          </a:xfrm>
          <a:custGeom>
            <a:avLst/>
            <a:gdLst/>
            <a:ahLst/>
            <a:cxnLst/>
            <a:rect l="l" t="t" r="r" b="b"/>
            <a:pathLst>
              <a:path w="2182813" h="889000">
                <a:moveTo>
                  <a:pt x="63501" y="0"/>
                </a:moveTo>
                <a:lnTo>
                  <a:pt x="2119311" y="0"/>
                </a:lnTo>
                <a:cubicBezTo>
                  <a:pt x="2154382" y="0"/>
                  <a:pt x="2182813" y="28430"/>
                  <a:pt x="2182813" y="63501"/>
                </a:cubicBezTo>
                <a:lnTo>
                  <a:pt x="2182813" y="825499"/>
                </a:lnTo>
                <a:cubicBezTo>
                  <a:pt x="2182813" y="860570"/>
                  <a:pt x="2154382" y="889000"/>
                  <a:pt x="2119311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496538" y="1619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32" name="Shape 30"/>
          <p:cNvSpPr/>
          <p:nvPr/>
        </p:nvSpPr>
        <p:spPr>
          <a:xfrm>
            <a:off x="10599725" y="17145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9630544" y="2000250"/>
            <a:ext cx="204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Taux de faux négatifs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634513" y="2190750"/>
            <a:ext cx="2039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&lt;9% (seuil screening)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17500" y="2667000"/>
            <a:ext cx="5715000" cy="4214813"/>
          </a:xfrm>
          <a:custGeom>
            <a:avLst/>
            <a:gdLst/>
            <a:ahLst/>
            <a:cxnLst/>
            <a:rect l="l" t="t" r="r" b="b"/>
            <a:pathLst>
              <a:path w="5715000" h="4214813">
                <a:moveTo>
                  <a:pt x="95255" y="0"/>
                </a:moveTo>
                <a:lnTo>
                  <a:pt x="5619745" y="0"/>
                </a:lnTo>
                <a:cubicBezTo>
                  <a:pt x="5672353" y="0"/>
                  <a:pt x="5715000" y="42647"/>
                  <a:pt x="5715000" y="95255"/>
                </a:cubicBezTo>
                <a:lnTo>
                  <a:pt x="5715000" y="4119558"/>
                </a:lnTo>
                <a:cubicBezTo>
                  <a:pt x="5715000" y="4172165"/>
                  <a:pt x="5672353" y="4214813"/>
                  <a:pt x="5619745" y="4214813"/>
                </a:cubicBezTo>
                <a:lnTo>
                  <a:pt x="95255" y="4214813"/>
                </a:lnTo>
                <a:cubicBezTo>
                  <a:pt x="42647" y="4214813"/>
                  <a:pt x="0" y="4172165"/>
                  <a:pt x="0" y="4119558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4500" y="2794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D7C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3797" y="288131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22324" y="44648"/>
                </a:moveTo>
                <a:cubicBezTo>
                  <a:pt x="27263" y="44648"/>
                  <a:pt x="31254" y="48639"/>
                  <a:pt x="31254" y="53578"/>
                </a:cubicBezTo>
                <a:lnTo>
                  <a:pt x="31254" y="125016"/>
                </a:lnTo>
                <a:cubicBezTo>
                  <a:pt x="31254" y="129955"/>
                  <a:pt x="27263" y="133945"/>
                  <a:pt x="22324" y="133945"/>
                </a:cubicBezTo>
                <a:lnTo>
                  <a:pt x="8930" y="133945"/>
                </a:lnTo>
                <a:cubicBezTo>
                  <a:pt x="3990" y="133945"/>
                  <a:pt x="0" y="129955"/>
                  <a:pt x="0" y="125016"/>
                </a:cubicBezTo>
                <a:lnTo>
                  <a:pt x="0" y="53578"/>
                </a:lnTo>
                <a:cubicBezTo>
                  <a:pt x="0" y="48639"/>
                  <a:pt x="3990" y="44648"/>
                  <a:pt x="8930" y="44648"/>
                </a:cubicBezTo>
                <a:lnTo>
                  <a:pt x="22324" y="44648"/>
                </a:lnTo>
                <a:close/>
                <a:moveTo>
                  <a:pt x="75512" y="4465"/>
                </a:moveTo>
                <a:cubicBezTo>
                  <a:pt x="83130" y="4465"/>
                  <a:pt x="89297" y="10632"/>
                  <a:pt x="89297" y="18250"/>
                </a:cubicBezTo>
                <a:lnTo>
                  <a:pt x="89297" y="19422"/>
                </a:lnTo>
                <a:cubicBezTo>
                  <a:pt x="89297" y="21320"/>
                  <a:pt x="88934" y="23217"/>
                  <a:pt x="88236" y="24975"/>
                </a:cubicBezTo>
                <a:lnTo>
                  <a:pt x="80367" y="44648"/>
                </a:lnTo>
                <a:lnTo>
                  <a:pt x="125016" y="44648"/>
                </a:lnTo>
                <a:cubicBezTo>
                  <a:pt x="132411" y="44648"/>
                  <a:pt x="138410" y="50648"/>
                  <a:pt x="138410" y="58043"/>
                </a:cubicBezTo>
                <a:cubicBezTo>
                  <a:pt x="138410" y="63540"/>
                  <a:pt x="135089" y="68256"/>
                  <a:pt x="130346" y="70321"/>
                </a:cubicBezTo>
                <a:cubicBezTo>
                  <a:pt x="135089" y="72386"/>
                  <a:pt x="138410" y="77102"/>
                  <a:pt x="138410" y="82600"/>
                </a:cubicBezTo>
                <a:cubicBezTo>
                  <a:pt x="138410" y="89129"/>
                  <a:pt x="133722" y="94571"/>
                  <a:pt x="127527" y="95743"/>
                </a:cubicBezTo>
                <a:cubicBezTo>
                  <a:pt x="128755" y="97780"/>
                  <a:pt x="129480" y="100152"/>
                  <a:pt x="129480" y="102691"/>
                </a:cubicBezTo>
                <a:cubicBezTo>
                  <a:pt x="129480" y="108886"/>
                  <a:pt x="125295" y="114077"/>
                  <a:pt x="119602" y="115612"/>
                </a:cubicBezTo>
                <a:cubicBezTo>
                  <a:pt x="120216" y="117146"/>
                  <a:pt x="120551" y="118821"/>
                  <a:pt x="120551" y="120551"/>
                </a:cubicBezTo>
                <a:cubicBezTo>
                  <a:pt x="120551" y="127946"/>
                  <a:pt x="114551" y="133945"/>
                  <a:pt x="107156" y="133945"/>
                </a:cubicBezTo>
                <a:lnTo>
                  <a:pt x="82628" y="133945"/>
                </a:lnTo>
                <a:cubicBezTo>
                  <a:pt x="72498" y="133945"/>
                  <a:pt x="62647" y="130485"/>
                  <a:pt x="54750" y="124151"/>
                </a:cubicBezTo>
                <a:lnTo>
                  <a:pt x="51346" y="121444"/>
                </a:lnTo>
                <a:cubicBezTo>
                  <a:pt x="47104" y="118067"/>
                  <a:pt x="44648" y="112933"/>
                  <a:pt x="44648" y="107491"/>
                </a:cubicBezTo>
                <a:lnTo>
                  <a:pt x="44648" y="55420"/>
                </a:lnTo>
                <a:cubicBezTo>
                  <a:pt x="44648" y="51262"/>
                  <a:pt x="45625" y="47160"/>
                  <a:pt x="47467" y="43449"/>
                </a:cubicBezTo>
                <a:lnTo>
                  <a:pt x="63150" y="12083"/>
                </a:lnTo>
                <a:cubicBezTo>
                  <a:pt x="65494" y="7423"/>
                  <a:pt x="70265" y="4465"/>
                  <a:pt x="75512" y="4465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38" name="Text 36"/>
          <p:cNvSpPr/>
          <p:nvPr/>
        </p:nvSpPr>
        <p:spPr>
          <a:xfrm>
            <a:off x="857250" y="2841625"/>
            <a:ext cx="1103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Forces du Projet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4500" y="3317875"/>
            <a:ext cx="5461000" cy="595313"/>
          </a:xfrm>
          <a:custGeom>
            <a:avLst/>
            <a:gdLst/>
            <a:ahLst/>
            <a:cxnLst/>
            <a:rect l="l" t="t" r="r" b="b"/>
            <a:pathLst>
              <a:path w="5461000" h="595313">
                <a:moveTo>
                  <a:pt x="63502" y="0"/>
                </a:moveTo>
                <a:lnTo>
                  <a:pt x="5397498" y="0"/>
                </a:lnTo>
                <a:cubicBezTo>
                  <a:pt x="5432569" y="0"/>
                  <a:pt x="5461000" y="28431"/>
                  <a:pt x="5461000" y="63502"/>
                </a:cubicBezTo>
                <a:lnTo>
                  <a:pt x="5461000" y="531811"/>
                </a:lnTo>
                <a:cubicBezTo>
                  <a:pt x="5461000" y="566882"/>
                  <a:pt x="5432569" y="595312"/>
                  <a:pt x="5397498" y="595313"/>
                </a:cubicBezTo>
                <a:lnTo>
                  <a:pt x="63502" y="595313"/>
                </a:lnTo>
                <a:cubicBezTo>
                  <a:pt x="28431" y="595313"/>
                  <a:pt x="0" y="566882"/>
                  <a:pt x="0" y="5318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0" name="Shape 38"/>
          <p:cNvSpPr/>
          <p:nvPr/>
        </p:nvSpPr>
        <p:spPr>
          <a:xfrm>
            <a:off x="539750" y="34131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41" name="Text 39"/>
          <p:cNvSpPr/>
          <p:nvPr/>
        </p:nvSpPr>
        <p:spPr>
          <a:xfrm>
            <a:off x="644488" y="3460750"/>
            <a:ext cx="10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89000" y="3413125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Méthodologie rigoureuse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89000" y="3635375"/>
            <a:ext cx="35639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croisée stratifiée, recherche d'hyperparamètres systématique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44500" y="4228703"/>
            <a:ext cx="5461000" cy="595313"/>
          </a:xfrm>
          <a:custGeom>
            <a:avLst/>
            <a:gdLst/>
            <a:ahLst/>
            <a:cxnLst/>
            <a:rect l="l" t="t" r="r" b="b"/>
            <a:pathLst>
              <a:path w="5461000" h="595313">
                <a:moveTo>
                  <a:pt x="63502" y="0"/>
                </a:moveTo>
                <a:lnTo>
                  <a:pt x="5397498" y="0"/>
                </a:lnTo>
                <a:cubicBezTo>
                  <a:pt x="5432569" y="0"/>
                  <a:pt x="5461000" y="28431"/>
                  <a:pt x="5461000" y="63502"/>
                </a:cubicBezTo>
                <a:lnTo>
                  <a:pt x="5461000" y="531811"/>
                </a:lnTo>
                <a:cubicBezTo>
                  <a:pt x="5461000" y="566882"/>
                  <a:pt x="5432569" y="595312"/>
                  <a:pt x="5397498" y="595313"/>
                </a:cubicBezTo>
                <a:lnTo>
                  <a:pt x="63502" y="595313"/>
                </a:lnTo>
                <a:cubicBezTo>
                  <a:pt x="28431" y="595313"/>
                  <a:pt x="0" y="566882"/>
                  <a:pt x="0" y="5318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5" name="Shape 43"/>
          <p:cNvSpPr/>
          <p:nvPr/>
        </p:nvSpPr>
        <p:spPr>
          <a:xfrm>
            <a:off x="539750" y="432395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46" name="Text 44"/>
          <p:cNvSpPr/>
          <p:nvPr/>
        </p:nvSpPr>
        <p:spPr>
          <a:xfrm>
            <a:off x="634442" y="4371578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89000" y="4323953"/>
            <a:ext cx="375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Données diversifiées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89000" y="4546203"/>
            <a:ext cx="3746500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Trois contextes cliniques différents (hospitalier, épidémiologique, préventif)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44500" y="5139531"/>
            <a:ext cx="5461000" cy="595313"/>
          </a:xfrm>
          <a:custGeom>
            <a:avLst/>
            <a:gdLst/>
            <a:ahLst/>
            <a:cxnLst/>
            <a:rect l="l" t="t" r="r" b="b"/>
            <a:pathLst>
              <a:path w="5461000" h="595313">
                <a:moveTo>
                  <a:pt x="63502" y="0"/>
                </a:moveTo>
                <a:lnTo>
                  <a:pt x="5397498" y="0"/>
                </a:lnTo>
                <a:cubicBezTo>
                  <a:pt x="5432569" y="0"/>
                  <a:pt x="5461000" y="28431"/>
                  <a:pt x="5461000" y="63502"/>
                </a:cubicBezTo>
                <a:lnTo>
                  <a:pt x="5461000" y="531811"/>
                </a:lnTo>
                <a:cubicBezTo>
                  <a:pt x="5461000" y="566882"/>
                  <a:pt x="5432569" y="595312"/>
                  <a:pt x="5397498" y="595313"/>
                </a:cubicBezTo>
                <a:lnTo>
                  <a:pt x="63502" y="595313"/>
                </a:lnTo>
                <a:cubicBezTo>
                  <a:pt x="28431" y="595313"/>
                  <a:pt x="0" y="566882"/>
                  <a:pt x="0" y="5318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0" name="Shape 48"/>
          <p:cNvSpPr/>
          <p:nvPr/>
        </p:nvSpPr>
        <p:spPr>
          <a:xfrm>
            <a:off x="539750" y="523478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51" name="Text 49"/>
          <p:cNvSpPr/>
          <p:nvPr/>
        </p:nvSpPr>
        <p:spPr>
          <a:xfrm>
            <a:off x="633946" y="5282406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89000" y="5234781"/>
            <a:ext cx="3008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clinique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89000" y="5457031"/>
            <a:ext cx="3000375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Optimisation pour minimiser les cas manqués (faux négatifs)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44500" y="6050359"/>
            <a:ext cx="5461000" cy="595313"/>
          </a:xfrm>
          <a:custGeom>
            <a:avLst/>
            <a:gdLst/>
            <a:ahLst/>
            <a:cxnLst/>
            <a:rect l="l" t="t" r="r" b="b"/>
            <a:pathLst>
              <a:path w="5461000" h="595313">
                <a:moveTo>
                  <a:pt x="63502" y="0"/>
                </a:moveTo>
                <a:lnTo>
                  <a:pt x="5397498" y="0"/>
                </a:lnTo>
                <a:cubicBezTo>
                  <a:pt x="5432569" y="0"/>
                  <a:pt x="5461000" y="28431"/>
                  <a:pt x="5461000" y="63502"/>
                </a:cubicBezTo>
                <a:lnTo>
                  <a:pt x="5461000" y="531811"/>
                </a:lnTo>
                <a:cubicBezTo>
                  <a:pt x="5461000" y="566882"/>
                  <a:pt x="5432569" y="595312"/>
                  <a:pt x="5397498" y="595313"/>
                </a:cubicBezTo>
                <a:lnTo>
                  <a:pt x="63502" y="595313"/>
                </a:lnTo>
                <a:cubicBezTo>
                  <a:pt x="28431" y="595313"/>
                  <a:pt x="0" y="566882"/>
                  <a:pt x="0" y="5318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5" name="Shape 53"/>
          <p:cNvSpPr/>
          <p:nvPr/>
        </p:nvSpPr>
        <p:spPr>
          <a:xfrm>
            <a:off x="539750" y="614560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56" name="Text 54"/>
          <p:cNvSpPr/>
          <p:nvPr/>
        </p:nvSpPr>
        <p:spPr>
          <a:xfrm>
            <a:off x="634008" y="6193234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89000" y="6145609"/>
            <a:ext cx="3119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Reproductibilité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89000" y="6367859"/>
            <a:ext cx="3111500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modulaire, documentation complète, pipelines structurés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59500" y="2667000"/>
            <a:ext cx="5715000" cy="4214813"/>
          </a:xfrm>
          <a:custGeom>
            <a:avLst/>
            <a:gdLst/>
            <a:ahLst/>
            <a:cxnLst/>
            <a:rect l="l" t="t" r="r" b="b"/>
            <a:pathLst>
              <a:path w="5715000" h="4214813">
                <a:moveTo>
                  <a:pt x="95255" y="0"/>
                </a:moveTo>
                <a:lnTo>
                  <a:pt x="5619745" y="0"/>
                </a:lnTo>
                <a:cubicBezTo>
                  <a:pt x="5672353" y="0"/>
                  <a:pt x="5715000" y="42647"/>
                  <a:pt x="5715000" y="95255"/>
                </a:cubicBezTo>
                <a:lnTo>
                  <a:pt x="5715000" y="4119558"/>
                </a:lnTo>
                <a:cubicBezTo>
                  <a:pt x="5715000" y="4172165"/>
                  <a:pt x="5672353" y="4214813"/>
                  <a:pt x="5619745" y="4214813"/>
                </a:cubicBezTo>
                <a:lnTo>
                  <a:pt x="95255" y="4214813"/>
                </a:lnTo>
                <a:cubicBezTo>
                  <a:pt x="42647" y="4214813"/>
                  <a:pt x="0" y="4172165"/>
                  <a:pt x="0" y="4119558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286500" y="2794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375797" y="288131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71438" y="37951"/>
                </a:moveTo>
                <a:cubicBezTo>
                  <a:pt x="75149" y="37951"/>
                  <a:pt x="78135" y="40937"/>
                  <a:pt x="78135" y="44648"/>
                </a:cubicBezTo>
                <a:lnTo>
                  <a:pt x="78135" y="75902"/>
                </a:lnTo>
                <a:cubicBezTo>
                  <a:pt x="78135" y="79614"/>
                  <a:pt x="75149" y="82600"/>
                  <a:pt x="71438" y="82600"/>
                </a:cubicBezTo>
                <a:cubicBezTo>
                  <a:pt x="67726" y="82600"/>
                  <a:pt x="64740" y="79614"/>
                  <a:pt x="64740" y="75902"/>
                </a:cubicBezTo>
                <a:lnTo>
                  <a:pt x="64740" y="44648"/>
                </a:lnTo>
                <a:cubicBezTo>
                  <a:pt x="64740" y="40937"/>
                  <a:pt x="67726" y="37951"/>
                  <a:pt x="71438" y="37951"/>
                </a:cubicBezTo>
                <a:close/>
                <a:moveTo>
                  <a:pt x="63987" y="98227"/>
                </a:moveTo>
                <a:cubicBezTo>
                  <a:pt x="63817" y="95461"/>
                  <a:pt x="65197" y="92830"/>
                  <a:pt x="67567" y="91396"/>
                </a:cubicBezTo>
                <a:cubicBezTo>
                  <a:pt x="69938" y="89962"/>
                  <a:pt x="72909" y="89962"/>
                  <a:pt x="75280" y="91396"/>
                </a:cubicBezTo>
                <a:cubicBezTo>
                  <a:pt x="77651" y="92830"/>
                  <a:pt x="79030" y="95461"/>
                  <a:pt x="78860" y="98227"/>
                </a:cubicBezTo>
                <a:cubicBezTo>
                  <a:pt x="79030" y="100992"/>
                  <a:pt x="77651" y="103623"/>
                  <a:pt x="75280" y="105057"/>
                </a:cubicBezTo>
                <a:cubicBezTo>
                  <a:pt x="72909" y="106492"/>
                  <a:pt x="69938" y="106492"/>
                  <a:pt x="67567" y="105057"/>
                </a:cubicBezTo>
                <a:cubicBezTo>
                  <a:pt x="65197" y="103623"/>
                  <a:pt x="63817" y="100992"/>
                  <a:pt x="63987" y="98227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62" name="Text 60"/>
          <p:cNvSpPr/>
          <p:nvPr/>
        </p:nvSpPr>
        <p:spPr>
          <a:xfrm>
            <a:off x="6699250" y="2841625"/>
            <a:ext cx="1484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Limites et Mitigations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286500" y="3206750"/>
            <a:ext cx="5461000" cy="817563"/>
          </a:xfrm>
          <a:custGeom>
            <a:avLst/>
            <a:gdLst/>
            <a:ahLst/>
            <a:cxnLst/>
            <a:rect l="l" t="t" r="r" b="b"/>
            <a:pathLst>
              <a:path w="5461000" h="817563">
                <a:moveTo>
                  <a:pt x="63500" y="0"/>
                </a:moveTo>
                <a:lnTo>
                  <a:pt x="5397500" y="0"/>
                </a:lnTo>
                <a:cubicBezTo>
                  <a:pt x="5432570" y="0"/>
                  <a:pt x="5461000" y="28430"/>
                  <a:pt x="5461000" y="63500"/>
                </a:cubicBezTo>
                <a:lnTo>
                  <a:pt x="5461000" y="754062"/>
                </a:lnTo>
                <a:cubicBezTo>
                  <a:pt x="5461000" y="789133"/>
                  <a:pt x="5432570" y="817563"/>
                  <a:pt x="5397500" y="817563"/>
                </a:cubicBezTo>
                <a:lnTo>
                  <a:pt x="63500" y="817563"/>
                </a:lnTo>
                <a:cubicBezTo>
                  <a:pt x="28430" y="817563"/>
                  <a:pt x="0" y="789133"/>
                  <a:pt x="0" y="754062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4" name="Shape 62"/>
          <p:cNvSpPr/>
          <p:nvPr/>
        </p:nvSpPr>
        <p:spPr>
          <a:xfrm>
            <a:off x="6381750" y="3333750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79375" y="3969"/>
                </a:moveTo>
                <a:cubicBezTo>
                  <a:pt x="93613" y="3969"/>
                  <a:pt x="105172" y="15528"/>
                  <a:pt x="105172" y="29766"/>
                </a:cubicBezTo>
                <a:cubicBezTo>
                  <a:pt x="105172" y="44003"/>
                  <a:pt x="93613" y="55563"/>
                  <a:pt x="79375" y="55563"/>
                </a:cubicBezTo>
                <a:cubicBezTo>
                  <a:pt x="65137" y="55563"/>
                  <a:pt x="53578" y="44003"/>
                  <a:pt x="53578" y="29766"/>
                </a:cubicBezTo>
                <a:cubicBezTo>
                  <a:pt x="53578" y="15528"/>
                  <a:pt x="65137" y="3969"/>
                  <a:pt x="79375" y="3969"/>
                </a:cubicBezTo>
                <a:close/>
                <a:moveTo>
                  <a:pt x="23812" y="21828"/>
                </a:moveTo>
                <a:cubicBezTo>
                  <a:pt x="33669" y="21828"/>
                  <a:pt x="41672" y="29831"/>
                  <a:pt x="41672" y="39688"/>
                </a:cubicBezTo>
                <a:cubicBezTo>
                  <a:pt x="41672" y="49544"/>
                  <a:pt x="33669" y="57547"/>
                  <a:pt x="23812" y="57547"/>
                </a:cubicBezTo>
                <a:cubicBezTo>
                  <a:pt x="13956" y="57547"/>
                  <a:pt x="5953" y="49544"/>
                  <a:pt x="5953" y="39688"/>
                </a:cubicBezTo>
                <a:cubicBezTo>
                  <a:pt x="5953" y="29831"/>
                  <a:pt x="13956" y="21828"/>
                  <a:pt x="23812" y="21828"/>
                </a:cubicBezTo>
                <a:close/>
                <a:moveTo>
                  <a:pt x="0" y="103188"/>
                </a:moveTo>
                <a:cubicBezTo>
                  <a:pt x="0" y="85651"/>
                  <a:pt x="14213" y="71438"/>
                  <a:pt x="31750" y="71438"/>
                </a:cubicBezTo>
                <a:cubicBezTo>
                  <a:pt x="34925" y="71438"/>
                  <a:pt x="38001" y="71909"/>
                  <a:pt x="40903" y="72777"/>
                </a:cubicBezTo>
                <a:cubicBezTo>
                  <a:pt x="32742" y="81905"/>
                  <a:pt x="27781" y="93960"/>
                  <a:pt x="27781" y="107156"/>
                </a:cubicBezTo>
                <a:lnTo>
                  <a:pt x="27781" y="111125"/>
                </a:lnTo>
                <a:cubicBezTo>
                  <a:pt x="27781" y="113953"/>
                  <a:pt x="28377" y="116632"/>
                  <a:pt x="29443" y="119063"/>
                </a:cubicBezTo>
                <a:lnTo>
                  <a:pt x="7938" y="119063"/>
                </a:lnTo>
                <a:cubicBezTo>
                  <a:pt x="3547" y="119063"/>
                  <a:pt x="0" y="115515"/>
                  <a:pt x="0" y="111125"/>
                </a:cubicBezTo>
                <a:lnTo>
                  <a:pt x="0" y="103188"/>
                </a:lnTo>
                <a:close/>
                <a:moveTo>
                  <a:pt x="129307" y="119063"/>
                </a:moveTo>
                <a:cubicBezTo>
                  <a:pt x="130373" y="116632"/>
                  <a:pt x="130969" y="113953"/>
                  <a:pt x="130969" y="111125"/>
                </a:cubicBezTo>
                <a:lnTo>
                  <a:pt x="130969" y="107156"/>
                </a:lnTo>
                <a:cubicBezTo>
                  <a:pt x="130969" y="93960"/>
                  <a:pt x="126008" y="81905"/>
                  <a:pt x="117847" y="72777"/>
                </a:cubicBezTo>
                <a:cubicBezTo>
                  <a:pt x="120749" y="71909"/>
                  <a:pt x="123825" y="71438"/>
                  <a:pt x="127000" y="71438"/>
                </a:cubicBezTo>
                <a:cubicBezTo>
                  <a:pt x="144537" y="71438"/>
                  <a:pt x="158750" y="85651"/>
                  <a:pt x="158750" y="103188"/>
                </a:cubicBezTo>
                <a:lnTo>
                  <a:pt x="158750" y="111125"/>
                </a:lnTo>
                <a:cubicBezTo>
                  <a:pt x="158750" y="115515"/>
                  <a:pt x="155203" y="119063"/>
                  <a:pt x="150813" y="119063"/>
                </a:cubicBezTo>
                <a:lnTo>
                  <a:pt x="129307" y="119063"/>
                </a:lnTo>
                <a:close/>
                <a:moveTo>
                  <a:pt x="117078" y="39688"/>
                </a:moveTo>
                <a:cubicBezTo>
                  <a:pt x="117078" y="29831"/>
                  <a:pt x="125081" y="21828"/>
                  <a:pt x="134938" y="21828"/>
                </a:cubicBezTo>
                <a:cubicBezTo>
                  <a:pt x="144794" y="21828"/>
                  <a:pt x="152797" y="29831"/>
                  <a:pt x="152797" y="39687"/>
                </a:cubicBezTo>
                <a:cubicBezTo>
                  <a:pt x="152797" y="49544"/>
                  <a:pt x="144794" y="57547"/>
                  <a:pt x="134938" y="57547"/>
                </a:cubicBezTo>
                <a:cubicBezTo>
                  <a:pt x="125081" y="57547"/>
                  <a:pt x="117078" y="49544"/>
                  <a:pt x="117078" y="39688"/>
                </a:cubicBezTo>
                <a:close/>
                <a:moveTo>
                  <a:pt x="39688" y="107156"/>
                </a:moveTo>
                <a:cubicBezTo>
                  <a:pt x="39688" y="85229"/>
                  <a:pt x="57448" y="67469"/>
                  <a:pt x="79375" y="67469"/>
                </a:cubicBezTo>
                <a:cubicBezTo>
                  <a:pt x="101302" y="67469"/>
                  <a:pt x="119063" y="85229"/>
                  <a:pt x="119063" y="107156"/>
                </a:cubicBezTo>
                <a:lnTo>
                  <a:pt x="119063" y="111125"/>
                </a:lnTo>
                <a:cubicBezTo>
                  <a:pt x="119063" y="115515"/>
                  <a:pt x="115515" y="119063"/>
                  <a:pt x="111125" y="119063"/>
                </a:cubicBezTo>
                <a:lnTo>
                  <a:pt x="47625" y="119063"/>
                </a:lnTo>
                <a:cubicBezTo>
                  <a:pt x="43235" y="119063"/>
                  <a:pt x="39688" y="115515"/>
                  <a:pt x="39688" y="111125"/>
                </a:cubicBezTo>
                <a:lnTo>
                  <a:pt x="39688" y="107156"/>
                </a:ln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65" name="Text 63"/>
          <p:cNvSpPr/>
          <p:nvPr/>
        </p:nvSpPr>
        <p:spPr>
          <a:xfrm>
            <a:off x="6604000" y="3302000"/>
            <a:ext cx="111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Biais populationnel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381750" y="3556000"/>
            <a:ext cx="53260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Framingham : population caucasienne âgée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93656" y="3811984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3501" y="51829"/>
                </a:moveTo>
                <a:cubicBezTo>
                  <a:pt x="95827" y="49504"/>
                  <a:pt x="95827" y="45727"/>
                  <a:pt x="93501" y="43402"/>
                </a:cubicBezTo>
                <a:lnTo>
                  <a:pt x="63736" y="13636"/>
                </a:lnTo>
                <a:cubicBezTo>
                  <a:pt x="61410" y="11311"/>
                  <a:pt x="57634" y="11311"/>
                  <a:pt x="55308" y="13636"/>
                </a:cubicBezTo>
                <a:cubicBezTo>
                  <a:pt x="52983" y="15962"/>
                  <a:pt x="52983" y="19738"/>
                  <a:pt x="55308" y="22064"/>
                </a:cubicBezTo>
                <a:lnTo>
                  <a:pt x="74916" y="41672"/>
                </a:lnTo>
                <a:lnTo>
                  <a:pt x="5953" y="41672"/>
                </a:lnTo>
                <a:cubicBezTo>
                  <a:pt x="2660" y="41672"/>
                  <a:pt x="0" y="44332"/>
                  <a:pt x="0" y="47625"/>
                </a:cubicBezTo>
                <a:cubicBezTo>
                  <a:pt x="0" y="50918"/>
                  <a:pt x="2660" y="53578"/>
                  <a:pt x="5953" y="53578"/>
                </a:cubicBezTo>
                <a:lnTo>
                  <a:pt x="74916" y="53578"/>
                </a:lnTo>
                <a:lnTo>
                  <a:pt x="55308" y="73186"/>
                </a:lnTo>
                <a:cubicBezTo>
                  <a:pt x="52983" y="75512"/>
                  <a:pt x="52983" y="79288"/>
                  <a:pt x="55308" y="81614"/>
                </a:cubicBezTo>
                <a:cubicBezTo>
                  <a:pt x="57634" y="83939"/>
                  <a:pt x="61410" y="83939"/>
                  <a:pt x="63736" y="81614"/>
                </a:cubicBezTo>
                <a:lnTo>
                  <a:pt x="93501" y="51848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68" name="Text 66"/>
          <p:cNvSpPr/>
          <p:nvPr/>
        </p:nvSpPr>
        <p:spPr>
          <a:xfrm>
            <a:off x="6520656" y="3800078"/>
            <a:ext cx="5179219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Mitigation :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Validation externe nécessaire sur populations diverses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286500" y="4117578"/>
            <a:ext cx="5461000" cy="817563"/>
          </a:xfrm>
          <a:custGeom>
            <a:avLst/>
            <a:gdLst/>
            <a:ahLst/>
            <a:cxnLst/>
            <a:rect l="l" t="t" r="r" b="b"/>
            <a:pathLst>
              <a:path w="5461000" h="817563">
                <a:moveTo>
                  <a:pt x="63500" y="0"/>
                </a:moveTo>
                <a:lnTo>
                  <a:pt x="5397500" y="0"/>
                </a:lnTo>
                <a:cubicBezTo>
                  <a:pt x="5432570" y="0"/>
                  <a:pt x="5461000" y="28430"/>
                  <a:pt x="5461000" y="63500"/>
                </a:cubicBezTo>
                <a:lnTo>
                  <a:pt x="5461000" y="754062"/>
                </a:lnTo>
                <a:cubicBezTo>
                  <a:pt x="5461000" y="789133"/>
                  <a:pt x="5432570" y="817563"/>
                  <a:pt x="5397500" y="817563"/>
                </a:cubicBezTo>
                <a:lnTo>
                  <a:pt x="63500" y="817563"/>
                </a:lnTo>
                <a:cubicBezTo>
                  <a:pt x="28430" y="817563"/>
                  <a:pt x="0" y="789133"/>
                  <a:pt x="0" y="754062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0" name="Shape 68"/>
          <p:cNvSpPr/>
          <p:nvPr/>
        </p:nvSpPr>
        <p:spPr>
          <a:xfrm>
            <a:off x="6405563" y="424457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71" name="Text 69"/>
          <p:cNvSpPr/>
          <p:nvPr/>
        </p:nvSpPr>
        <p:spPr>
          <a:xfrm>
            <a:off x="6604000" y="4212828"/>
            <a:ext cx="1277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Données manquantes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381750" y="4466828"/>
            <a:ext cx="53260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Kaggle : absence de features diagnostiques avancées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393656" y="4722813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3501" y="51829"/>
                </a:moveTo>
                <a:cubicBezTo>
                  <a:pt x="95827" y="49504"/>
                  <a:pt x="95827" y="45727"/>
                  <a:pt x="93501" y="43402"/>
                </a:cubicBezTo>
                <a:lnTo>
                  <a:pt x="63736" y="13636"/>
                </a:lnTo>
                <a:cubicBezTo>
                  <a:pt x="61410" y="11311"/>
                  <a:pt x="57634" y="11311"/>
                  <a:pt x="55308" y="13636"/>
                </a:cubicBezTo>
                <a:cubicBezTo>
                  <a:pt x="52983" y="15962"/>
                  <a:pt x="52983" y="19738"/>
                  <a:pt x="55308" y="22064"/>
                </a:cubicBezTo>
                <a:lnTo>
                  <a:pt x="74916" y="41672"/>
                </a:lnTo>
                <a:lnTo>
                  <a:pt x="5953" y="41672"/>
                </a:lnTo>
                <a:cubicBezTo>
                  <a:pt x="2660" y="41672"/>
                  <a:pt x="0" y="44332"/>
                  <a:pt x="0" y="47625"/>
                </a:cubicBezTo>
                <a:cubicBezTo>
                  <a:pt x="0" y="50918"/>
                  <a:pt x="2660" y="53578"/>
                  <a:pt x="5953" y="53578"/>
                </a:cubicBezTo>
                <a:lnTo>
                  <a:pt x="74916" y="53578"/>
                </a:lnTo>
                <a:lnTo>
                  <a:pt x="55308" y="73186"/>
                </a:lnTo>
                <a:cubicBezTo>
                  <a:pt x="52983" y="75512"/>
                  <a:pt x="52983" y="79288"/>
                  <a:pt x="55308" y="81614"/>
                </a:cubicBezTo>
                <a:cubicBezTo>
                  <a:pt x="57634" y="83939"/>
                  <a:pt x="61410" y="83939"/>
                  <a:pt x="63736" y="81614"/>
                </a:cubicBezTo>
                <a:lnTo>
                  <a:pt x="93501" y="51848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74" name="Text 72"/>
          <p:cNvSpPr/>
          <p:nvPr/>
        </p:nvSpPr>
        <p:spPr>
          <a:xfrm>
            <a:off x="6520656" y="4710906"/>
            <a:ext cx="5179219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Mitigation :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Complémentarité avec UCI pour features diagnostiques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286500" y="5028406"/>
            <a:ext cx="5461000" cy="817563"/>
          </a:xfrm>
          <a:custGeom>
            <a:avLst/>
            <a:gdLst/>
            <a:ahLst/>
            <a:cxnLst/>
            <a:rect l="l" t="t" r="r" b="b"/>
            <a:pathLst>
              <a:path w="5461000" h="817563">
                <a:moveTo>
                  <a:pt x="63500" y="0"/>
                </a:moveTo>
                <a:lnTo>
                  <a:pt x="5397500" y="0"/>
                </a:lnTo>
                <a:cubicBezTo>
                  <a:pt x="5432570" y="0"/>
                  <a:pt x="5461000" y="28430"/>
                  <a:pt x="5461000" y="63500"/>
                </a:cubicBezTo>
                <a:lnTo>
                  <a:pt x="5461000" y="754062"/>
                </a:lnTo>
                <a:cubicBezTo>
                  <a:pt x="5461000" y="789133"/>
                  <a:pt x="5432570" y="817563"/>
                  <a:pt x="5397500" y="817563"/>
                </a:cubicBezTo>
                <a:lnTo>
                  <a:pt x="63500" y="817563"/>
                </a:lnTo>
                <a:cubicBezTo>
                  <a:pt x="28430" y="817563"/>
                  <a:pt x="0" y="789133"/>
                  <a:pt x="0" y="754062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6" name="Shape 74"/>
          <p:cNvSpPr/>
          <p:nvPr/>
        </p:nvSpPr>
        <p:spPr>
          <a:xfrm>
            <a:off x="6397625" y="515540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938" y="15875"/>
                </a:moveTo>
                <a:cubicBezTo>
                  <a:pt x="3547" y="15875"/>
                  <a:pt x="0" y="19422"/>
                  <a:pt x="0" y="23812"/>
                </a:cubicBezTo>
                <a:cubicBezTo>
                  <a:pt x="0" y="28203"/>
                  <a:pt x="3547" y="31750"/>
                  <a:pt x="7938" y="31750"/>
                </a:cubicBezTo>
                <a:lnTo>
                  <a:pt x="29443" y="31750"/>
                </a:lnTo>
                <a:cubicBezTo>
                  <a:pt x="32494" y="38770"/>
                  <a:pt x="39489" y="43656"/>
                  <a:pt x="47625" y="43656"/>
                </a:cubicBezTo>
                <a:cubicBezTo>
                  <a:pt x="55761" y="43656"/>
                  <a:pt x="62756" y="38770"/>
                  <a:pt x="65807" y="31750"/>
                </a:cubicBezTo>
                <a:lnTo>
                  <a:pt x="119063" y="31750"/>
                </a:lnTo>
                <a:cubicBezTo>
                  <a:pt x="123453" y="31750"/>
                  <a:pt x="127000" y="28203"/>
                  <a:pt x="127000" y="23812"/>
                </a:cubicBezTo>
                <a:cubicBezTo>
                  <a:pt x="127000" y="19422"/>
                  <a:pt x="123453" y="15875"/>
                  <a:pt x="119063" y="15875"/>
                </a:cubicBezTo>
                <a:lnTo>
                  <a:pt x="65807" y="15875"/>
                </a:lnTo>
                <a:cubicBezTo>
                  <a:pt x="62756" y="8855"/>
                  <a:pt x="55761" y="3969"/>
                  <a:pt x="47625" y="3969"/>
                </a:cubicBezTo>
                <a:cubicBezTo>
                  <a:pt x="39489" y="3969"/>
                  <a:pt x="32494" y="8855"/>
                  <a:pt x="29443" y="15875"/>
                </a:cubicBezTo>
                <a:lnTo>
                  <a:pt x="7938" y="15875"/>
                </a:lnTo>
                <a:close/>
                <a:moveTo>
                  <a:pt x="7938" y="55563"/>
                </a:move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69131" y="71438"/>
                </a:lnTo>
                <a:cubicBezTo>
                  <a:pt x="72182" y="78457"/>
                  <a:pt x="79177" y="83344"/>
                  <a:pt x="87313" y="83344"/>
                </a:cubicBezTo>
                <a:cubicBezTo>
                  <a:pt x="95448" y="83344"/>
                  <a:pt x="102443" y="78457"/>
                  <a:pt x="105494" y="71438"/>
                </a:cubicBezTo>
                <a:lnTo>
                  <a:pt x="119063" y="71438"/>
                </a:lnTo>
                <a:cubicBezTo>
                  <a:pt x="123453" y="71438"/>
                  <a:pt x="127000" y="67890"/>
                  <a:pt x="127000" y="63500"/>
                </a:cubicBezTo>
                <a:cubicBezTo>
                  <a:pt x="127000" y="59110"/>
                  <a:pt x="123453" y="55563"/>
                  <a:pt x="119063" y="55563"/>
                </a:cubicBezTo>
                <a:lnTo>
                  <a:pt x="105494" y="55563"/>
                </a:lnTo>
                <a:cubicBezTo>
                  <a:pt x="102443" y="48543"/>
                  <a:pt x="95448" y="43656"/>
                  <a:pt x="87313" y="43656"/>
                </a:cubicBezTo>
                <a:cubicBezTo>
                  <a:pt x="79177" y="43656"/>
                  <a:pt x="72182" y="48543"/>
                  <a:pt x="69131" y="55563"/>
                </a:cubicBezTo>
                <a:lnTo>
                  <a:pt x="7938" y="55563"/>
                </a:lnTo>
                <a:close/>
                <a:moveTo>
                  <a:pt x="7938" y="95250"/>
                </a:moveTo>
                <a:cubicBezTo>
                  <a:pt x="3547" y="95250"/>
                  <a:pt x="0" y="98797"/>
                  <a:pt x="0" y="103188"/>
                </a:cubicBezTo>
                <a:cubicBezTo>
                  <a:pt x="0" y="107578"/>
                  <a:pt x="3547" y="111125"/>
                  <a:pt x="7938" y="111125"/>
                </a:cubicBezTo>
                <a:lnTo>
                  <a:pt x="21506" y="111125"/>
                </a:lnTo>
                <a:cubicBezTo>
                  <a:pt x="24557" y="118145"/>
                  <a:pt x="31552" y="123031"/>
                  <a:pt x="39688" y="123031"/>
                </a:cubicBezTo>
                <a:cubicBezTo>
                  <a:pt x="47823" y="123031"/>
                  <a:pt x="54818" y="118145"/>
                  <a:pt x="57869" y="111125"/>
                </a:cubicBezTo>
                <a:lnTo>
                  <a:pt x="119063" y="111125"/>
                </a:lnTo>
                <a:cubicBezTo>
                  <a:pt x="123453" y="111125"/>
                  <a:pt x="127000" y="107578"/>
                  <a:pt x="127000" y="103188"/>
                </a:cubicBezTo>
                <a:cubicBezTo>
                  <a:pt x="127000" y="98797"/>
                  <a:pt x="123453" y="95250"/>
                  <a:pt x="119063" y="95250"/>
                </a:cubicBezTo>
                <a:lnTo>
                  <a:pt x="57869" y="95250"/>
                </a:lnTo>
                <a:cubicBezTo>
                  <a:pt x="54818" y="88230"/>
                  <a:pt x="47823" y="83344"/>
                  <a:pt x="39688" y="83344"/>
                </a:cubicBezTo>
                <a:cubicBezTo>
                  <a:pt x="31552" y="83344"/>
                  <a:pt x="24557" y="88230"/>
                  <a:pt x="21506" y="95250"/>
                </a:cubicBezTo>
                <a:lnTo>
                  <a:pt x="7938" y="95250"/>
                </a:ln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77" name="Text 75"/>
          <p:cNvSpPr/>
          <p:nvPr/>
        </p:nvSpPr>
        <p:spPr>
          <a:xfrm>
            <a:off x="6604000" y="5123656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Seuil fixe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381750" y="5377656"/>
            <a:ext cx="53260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 par défaut sans optimisation coût-asymétrique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393656" y="5633641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3501" y="51829"/>
                </a:moveTo>
                <a:cubicBezTo>
                  <a:pt x="95827" y="49504"/>
                  <a:pt x="95827" y="45727"/>
                  <a:pt x="93501" y="43402"/>
                </a:cubicBezTo>
                <a:lnTo>
                  <a:pt x="63736" y="13636"/>
                </a:lnTo>
                <a:cubicBezTo>
                  <a:pt x="61410" y="11311"/>
                  <a:pt x="57634" y="11311"/>
                  <a:pt x="55308" y="13636"/>
                </a:cubicBezTo>
                <a:cubicBezTo>
                  <a:pt x="52983" y="15962"/>
                  <a:pt x="52983" y="19738"/>
                  <a:pt x="55308" y="22064"/>
                </a:cubicBezTo>
                <a:lnTo>
                  <a:pt x="74916" y="41672"/>
                </a:lnTo>
                <a:lnTo>
                  <a:pt x="5953" y="41672"/>
                </a:lnTo>
                <a:cubicBezTo>
                  <a:pt x="2660" y="41672"/>
                  <a:pt x="0" y="44332"/>
                  <a:pt x="0" y="47625"/>
                </a:cubicBezTo>
                <a:cubicBezTo>
                  <a:pt x="0" y="50918"/>
                  <a:pt x="2660" y="53578"/>
                  <a:pt x="5953" y="53578"/>
                </a:cubicBezTo>
                <a:lnTo>
                  <a:pt x="74916" y="53578"/>
                </a:lnTo>
                <a:lnTo>
                  <a:pt x="55308" y="73186"/>
                </a:lnTo>
                <a:cubicBezTo>
                  <a:pt x="52983" y="75512"/>
                  <a:pt x="52983" y="79288"/>
                  <a:pt x="55308" y="81614"/>
                </a:cubicBezTo>
                <a:cubicBezTo>
                  <a:pt x="57634" y="83939"/>
                  <a:pt x="61410" y="83939"/>
                  <a:pt x="63736" y="81614"/>
                </a:cubicBezTo>
                <a:lnTo>
                  <a:pt x="93501" y="51848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80" name="Text 78"/>
          <p:cNvSpPr/>
          <p:nvPr/>
        </p:nvSpPr>
        <p:spPr>
          <a:xfrm>
            <a:off x="6520656" y="5621734"/>
            <a:ext cx="5179219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Mitigation :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Optimisation future du seuil selon contexte clinique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286500" y="5939234"/>
            <a:ext cx="5461000" cy="817563"/>
          </a:xfrm>
          <a:custGeom>
            <a:avLst/>
            <a:gdLst/>
            <a:ahLst/>
            <a:cxnLst/>
            <a:rect l="l" t="t" r="r" b="b"/>
            <a:pathLst>
              <a:path w="5461000" h="817563">
                <a:moveTo>
                  <a:pt x="63500" y="0"/>
                </a:moveTo>
                <a:lnTo>
                  <a:pt x="5397500" y="0"/>
                </a:lnTo>
                <a:cubicBezTo>
                  <a:pt x="5432570" y="0"/>
                  <a:pt x="5461000" y="28430"/>
                  <a:pt x="5461000" y="63500"/>
                </a:cubicBezTo>
                <a:lnTo>
                  <a:pt x="5461000" y="754062"/>
                </a:lnTo>
                <a:cubicBezTo>
                  <a:pt x="5461000" y="789133"/>
                  <a:pt x="5432570" y="817563"/>
                  <a:pt x="5397500" y="817563"/>
                </a:cubicBezTo>
                <a:lnTo>
                  <a:pt x="63500" y="817563"/>
                </a:lnTo>
                <a:cubicBezTo>
                  <a:pt x="28430" y="817563"/>
                  <a:pt x="0" y="789133"/>
                  <a:pt x="0" y="754062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82" name="Shape 80"/>
          <p:cNvSpPr/>
          <p:nvPr/>
        </p:nvSpPr>
        <p:spPr>
          <a:xfrm>
            <a:off x="6397625" y="606623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29766" y="13891"/>
                </a:moveTo>
                <a:cubicBezTo>
                  <a:pt x="29766" y="6226"/>
                  <a:pt x="35992" y="0"/>
                  <a:pt x="43656" y="0"/>
                </a:cubicBezTo>
                <a:lnTo>
                  <a:pt x="49609" y="0"/>
                </a:lnTo>
                <a:cubicBezTo>
                  <a:pt x="54000" y="0"/>
                  <a:pt x="57547" y="3547"/>
                  <a:pt x="57547" y="7938"/>
                </a:cubicBezTo>
                <a:lnTo>
                  <a:pt x="57547" y="119063"/>
                </a:lnTo>
                <a:cubicBezTo>
                  <a:pt x="57547" y="123453"/>
                  <a:pt x="54000" y="127000"/>
                  <a:pt x="49609" y="127000"/>
                </a:cubicBezTo>
                <a:lnTo>
                  <a:pt x="41672" y="127000"/>
                </a:lnTo>
                <a:cubicBezTo>
                  <a:pt x="34280" y="127000"/>
                  <a:pt x="28054" y="121940"/>
                  <a:pt x="26293" y="115094"/>
                </a:cubicBezTo>
                <a:cubicBezTo>
                  <a:pt x="26119" y="115094"/>
                  <a:pt x="25971" y="115094"/>
                  <a:pt x="25797" y="115094"/>
                </a:cubicBezTo>
                <a:cubicBezTo>
                  <a:pt x="14833" y="115094"/>
                  <a:pt x="5953" y="106214"/>
                  <a:pt x="5953" y="95250"/>
                </a:cubicBezTo>
                <a:cubicBezTo>
                  <a:pt x="5953" y="90785"/>
                  <a:pt x="7441" y="86668"/>
                  <a:pt x="9922" y="83344"/>
                </a:cubicBezTo>
                <a:cubicBezTo>
                  <a:pt x="5110" y="79722"/>
                  <a:pt x="1984" y="73968"/>
                  <a:pt x="1984" y="67469"/>
                </a:cubicBezTo>
                <a:cubicBezTo>
                  <a:pt x="1984" y="59804"/>
                  <a:pt x="6350" y="53132"/>
                  <a:pt x="12700" y="49833"/>
                </a:cubicBezTo>
                <a:cubicBezTo>
                  <a:pt x="10939" y="46856"/>
                  <a:pt x="9922" y="43383"/>
                  <a:pt x="9922" y="39688"/>
                </a:cubicBezTo>
                <a:cubicBezTo>
                  <a:pt x="9922" y="28724"/>
                  <a:pt x="18802" y="19844"/>
                  <a:pt x="29766" y="19844"/>
                </a:cubicBezTo>
                <a:lnTo>
                  <a:pt x="29766" y="13891"/>
                </a:lnTo>
                <a:close/>
                <a:moveTo>
                  <a:pt x="97234" y="13891"/>
                </a:moveTo>
                <a:lnTo>
                  <a:pt x="97234" y="19844"/>
                </a:lnTo>
                <a:cubicBezTo>
                  <a:pt x="108198" y="19844"/>
                  <a:pt x="117078" y="28724"/>
                  <a:pt x="117078" y="39688"/>
                </a:cubicBezTo>
                <a:cubicBezTo>
                  <a:pt x="117078" y="43408"/>
                  <a:pt x="116061" y="46881"/>
                  <a:pt x="114300" y="49833"/>
                </a:cubicBezTo>
                <a:cubicBezTo>
                  <a:pt x="120675" y="53132"/>
                  <a:pt x="125016" y="59779"/>
                  <a:pt x="125016" y="67469"/>
                </a:cubicBezTo>
                <a:cubicBezTo>
                  <a:pt x="125016" y="73968"/>
                  <a:pt x="121890" y="79722"/>
                  <a:pt x="117078" y="83344"/>
                </a:cubicBezTo>
                <a:cubicBezTo>
                  <a:pt x="119559" y="86668"/>
                  <a:pt x="121047" y="90785"/>
                  <a:pt x="121047" y="95250"/>
                </a:cubicBezTo>
                <a:cubicBezTo>
                  <a:pt x="121047" y="106214"/>
                  <a:pt x="112167" y="115094"/>
                  <a:pt x="101203" y="115094"/>
                </a:cubicBezTo>
                <a:cubicBezTo>
                  <a:pt x="101029" y="115094"/>
                  <a:pt x="100881" y="115094"/>
                  <a:pt x="100707" y="115094"/>
                </a:cubicBezTo>
                <a:cubicBezTo>
                  <a:pt x="98946" y="121940"/>
                  <a:pt x="92720" y="127000"/>
                  <a:pt x="85328" y="127000"/>
                </a:cubicBezTo>
                <a:lnTo>
                  <a:pt x="77391" y="127000"/>
                </a:lnTo>
                <a:cubicBezTo>
                  <a:pt x="73000" y="127000"/>
                  <a:pt x="69453" y="123453"/>
                  <a:pt x="69453" y="119063"/>
                </a:cubicBezTo>
                <a:lnTo>
                  <a:pt x="69453" y="7938"/>
                </a:lnTo>
                <a:cubicBezTo>
                  <a:pt x="69453" y="3547"/>
                  <a:pt x="73000" y="0"/>
                  <a:pt x="77391" y="0"/>
                </a:cubicBezTo>
                <a:lnTo>
                  <a:pt x="83344" y="0"/>
                </a:lnTo>
                <a:cubicBezTo>
                  <a:pt x="91008" y="0"/>
                  <a:pt x="97234" y="6226"/>
                  <a:pt x="97234" y="13891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83" name="Text 81"/>
          <p:cNvSpPr/>
          <p:nvPr/>
        </p:nvSpPr>
        <p:spPr>
          <a:xfrm>
            <a:off x="6604000" y="6034484"/>
            <a:ext cx="738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Explicabilité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381750" y="6288484"/>
            <a:ext cx="53260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RF moins interprétable que la régression logistique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6393656" y="6544469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3501" y="51829"/>
                </a:moveTo>
                <a:cubicBezTo>
                  <a:pt x="95827" y="49504"/>
                  <a:pt x="95827" y="45727"/>
                  <a:pt x="93501" y="43402"/>
                </a:cubicBezTo>
                <a:lnTo>
                  <a:pt x="63736" y="13636"/>
                </a:lnTo>
                <a:cubicBezTo>
                  <a:pt x="61410" y="11311"/>
                  <a:pt x="57634" y="11311"/>
                  <a:pt x="55308" y="13636"/>
                </a:cubicBezTo>
                <a:cubicBezTo>
                  <a:pt x="52983" y="15962"/>
                  <a:pt x="52983" y="19738"/>
                  <a:pt x="55308" y="22064"/>
                </a:cubicBezTo>
                <a:lnTo>
                  <a:pt x="74916" y="41672"/>
                </a:lnTo>
                <a:lnTo>
                  <a:pt x="5953" y="41672"/>
                </a:lnTo>
                <a:cubicBezTo>
                  <a:pt x="2660" y="41672"/>
                  <a:pt x="0" y="44332"/>
                  <a:pt x="0" y="47625"/>
                </a:cubicBezTo>
                <a:cubicBezTo>
                  <a:pt x="0" y="50918"/>
                  <a:pt x="2660" y="53578"/>
                  <a:pt x="5953" y="53578"/>
                </a:cubicBezTo>
                <a:lnTo>
                  <a:pt x="74916" y="53578"/>
                </a:lnTo>
                <a:lnTo>
                  <a:pt x="55308" y="73186"/>
                </a:lnTo>
                <a:cubicBezTo>
                  <a:pt x="52983" y="75512"/>
                  <a:pt x="52983" y="79288"/>
                  <a:pt x="55308" y="81614"/>
                </a:cubicBezTo>
                <a:cubicBezTo>
                  <a:pt x="57634" y="83939"/>
                  <a:pt x="61410" y="83939"/>
                  <a:pt x="63736" y="81614"/>
                </a:cubicBezTo>
                <a:lnTo>
                  <a:pt x="93501" y="51848"/>
                </a:ln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86" name="Text 84"/>
          <p:cNvSpPr/>
          <p:nvPr/>
        </p:nvSpPr>
        <p:spPr>
          <a:xfrm>
            <a:off x="6520656" y="6532563"/>
            <a:ext cx="5179219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Mitigation :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SHAP values à intégrer pour explications individualisées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65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A3A4A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28625" y="4762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99219"/>
                </a:moveTo>
                <a:lnTo>
                  <a:pt x="7596" y="99219"/>
                </a:lnTo>
                <a:cubicBezTo>
                  <a:pt x="-124" y="99219"/>
                  <a:pt x="-4868" y="90816"/>
                  <a:pt x="-899" y="84181"/>
                </a:cubicBezTo>
                <a:lnTo>
                  <a:pt x="15503" y="56834"/>
                </a:lnTo>
                <a:cubicBezTo>
                  <a:pt x="18200" y="52338"/>
                  <a:pt x="23037" y="49609"/>
                  <a:pt x="28277" y="49609"/>
                </a:cubicBezTo>
                <a:lnTo>
                  <a:pt x="57733" y="49609"/>
                </a:lnTo>
                <a:cubicBezTo>
                  <a:pt x="81328" y="9643"/>
                  <a:pt x="116520" y="7627"/>
                  <a:pt x="140053" y="11069"/>
                </a:cubicBezTo>
                <a:cubicBezTo>
                  <a:pt x="144022" y="11658"/>
                  <a:pt x="147123" y="14759"/>
                  <a:pt x="147681" y="18697"/>
                </a:cubicBezTo>
                <a:cubicBezTo>
                  <a:pt x="151123" y="42230"/>
                  <a:pt x="149107" y="77422"/>
                  <a:pt x="109141" y="101017"/>
                </a:cubicBezTo>
                <a:lnTo>
                  <a:pt x="109141" y="130473"/>
                </a:lnTo>
                <a:cubicBezTo>
                  <a:pt x="109141" y="135713"/>
                  <a:pt x="106412" y="140550"/>
                  <a:pt x="101916" y="143247"/>
                </a:cubicBezTo>
                <a:lnTo>
                  <a:pt x="74569" y="159649"/>
                </a:lnTo>
                <a:cubicBezTo>
                  <a:pt x="67965" y="163618"/>
                  <a:pt x="59531" y="158843"/>
                  <a:pt x="59531" y="151154"/>
                </a:cubicBezTo>
                <a:lnTo>
                  <a:pt x="59531" y="119062"/>
                </a:lnTo>
                <a:cubicBezTo>
                  <a:pt x="59531" y="108117"/>
                  <a:pt x="50633" y="99219"/>
                  <a:pt x="39688" y="99219"/>
                </a:cubicBezTo>
                <a:lnTo>
                  <a:pt x="39656" y="99219"/>
                </a:lnTo>
                <a:close/>
                <a:moveTo>
                  <a:pt x="124023" y="49609"/>
                </a:moveTo>
                <a:cubicBezTo>
                  <a:pt x="124023" y="41395"/>
                  <a:pt x="117355" y="34727"/>
                  <a:pt x="109141" y="34727"/>
                </a:cubicBezTo>
                <a:cubicBezTo>
                  <a:pt x="100927" y="34727"/>
                  <a:pt x="94258" y="41395"/>
                  <a:pt x="94258" y="49609"/>
                </a:cubicBezTo>
                <a:cubicBezTo>
                  <a:pt x="94258" y="57823"/>
                  <a:pt x="100927" y="64492"/>
                  <a:pt x="109141" y="64492"/>
                </a:cubicBezTo>
                <a:cubicBezTo>
                  <a:pt x="117355" y="64492"/>
                  <a:pt x="124023" y="57823"/>
                  <a:pt x="124023" y="49609"/>
                </a:cubicBez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4" name="Text 2"/>
          <p:cNvSpPr/>
          <p:nvPr/>
        </p:nvSpPr>
        <p:spPr>
          <a:xfrm>
            <a:off x="793750" y="317500"/>
            <a:ext cx="3563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4A6D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Améliorations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50" y="476250"/>
            <a:ext cx="36512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Perspectives et Travaux Futurs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7500" y="984250"/>
            <a:ext cx="11557000" cy="2611438"/>
          </a:xfrm>
          <a:custGeom>
            <a:avLst/>
            <a:gdLst/>
            <a:ahLst/>
            <a:cxnLst/>
            <a:rect l="l" t="t" r="r" b="b"/>
            <a:pathLst>
              <a:path w="11557000" h="2611438">
                <a:moveTo>
                  <a:pt x="95239" y="0"/>
                </a:moveTo>
                <a:lnTo>
                  <a:pt x="11461761" y="0"/>
                </a:lnTo>
                <a:cubicBezTo>
                  <a:pt x="11514360" y="0"/>
                  <a:pt x="11557000" y="42640"/>
                  <a:pt x="11557000" y="95239"/>
                </a:cubicBezTo>
                <a:lnTo>
                  <a:pt x="11557000" y="2516198"/>
                </a:lnTo>
                <a:cubicBezTo>
                  <a:pt x="11557000" y="2568797"/>
                  <a:pt x="11514360" y="2611438"/>
                  <a:pt x="11461761" y="2611438"/>
                </a:cubicBezTo>
                <a:lnTo>
                  <a:pt x="95239" y="2611438"/>
                </a:lnTo>
                <a:cubicBezTo>
                  <a:pt x="42640" y="2611438"/>
                  <a:pt x="0" y="2568797"/>
                  <a:pt x="0" y="2516198"/>
                </a:cubicBezTo>
                <a:lnTo>
                  <a:pt x="0" y="95239"/>
                </a:lnTo>
                <a:cubicBezTo>
                  <a:pt x="0" y="42675"/>
                  <a:pt x="42675" y="0"/>
                  <a:pt x="9523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4500" y="1111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95D5D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33797" y="119856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0" y="20092"/>
                </a:moveTo>
                <a:cubicBezTo>
                  <a:pt x="0" y="16408"/>
                  <a:pt x="2986" y="13395"/>
                  <a:pt x="6697" y="13395"/>
                </a:cubicBezTo>
                <a:lnTo>
                  <a:pt x="20092" y="13395"/>
                </a:lnTo>
                <a:cubicBezTo>
                  <a:pt x="23803" y="13395"/>
                  <a:pt x="26789" y="16380"/>
                  <a:pt x="26789" y="20092"/>
                </a:cubicBezTo>
                <a:lnTo>
                  <a:pt x="26789" y="49113"/>
                </a:lnTo>
                <a:lnTo>
                  <a:pt x="33486" y="49113"/>
                </a:lnTo>
                <a:cubicBezTo>
                  <a:pt x="37198" y="49113"/>
                  <a:pt x="40184" y="52099"/>
                  <a:pt x="40184" y="55811"/>
                </a:cubicBezTo>
                <a:cubicBezTo>
                  <a:pt x="40184" y="59522"/>
                  <a:pt x="37198" y="62508"/>
                  <a:pt x="33486" y="62508"/>
                </a:cubicBezTo>
                <a:lnTo>
                  <a:pt x="6697" y="62508"/>
                </a:lnTo>
                <a:cubicBezTo>
                  <a:pt x="2986" y="62508"/>
                  <a:pt x="0" y="59522"/>
                  <a:pt x="0" y="55811"/>
                </a:cubicBezTo>
                <a:cubicBezTo>
                  <a:pt x="0" y="52099"/>
                  <a:pt x="2986" y="49113"/>
                  <a:pt x="6697" y="49113"/>
                </a:cubicBezTo>
                <a:lnTo>
                  <a:pt x="13395" y="49113"/>
                </a:lnTo>
                <a:lnTo>
                  <a:pt x="13395" y="26789"/>
                </a:lnTo>
                <a:lnTo>
                  <a:pt x="6697" y="26789"/>
                </a:lnTo>
                <a:cubicBezTo>
                  <a:pt x="2986" y="26789"/>
                  <a:pt x="0" y="23803"/>
                  <a:pt x="0" y="20092"/>
                </a:cubicBezTo>
                <a:close/>
                <a:moveTo>
                  <a:pt x="8483" y="84051"/>
                </a:moveTo>
                <a:cubicBezTo>
                  <a:pt x="11664" y="81651"/>
                  <a:pt x="15543" y="80367"/>
                  <a:pt x="19534" y="80367"/>
                </a:cubicBezTo>
                <a:lnTo>
                  <a:pt x="20901" y="80367"/>
                </a:lnTo>
                <a:cubicBezTo>
                  <a:pt x="30305" y="80367"/>
                  <a:pt x="37951" y="88013"/>
                  <a:pt x="37951" y="97417"/>
                </a:cubicBezTo>
                <a:cubicBezTo>
                  <a:pt x="37951" y="102887"/>
                  <a:pt x="35328" y="107993"/>
                  <a:pt x="30919" y="111203"/>
                </a:cubicBezTo>
                <a:lnTo>
                  <a:pt x="24222" y="116086"/>
                </a:lnTo>
                <a:lnTo>
                  <a:pt x="33486" y="116086"/>
                </a:lnTo>
                <a:cubicBezTo>
                  <a:pt x="37198" y="116086"/>
                  <a:pt x="40184" y="119072"/>
                  <a:pt x="40184" y="122783"/>
                </a:cubicBezTo>
                <a:cubicBezTo>
                  <a:pt x="40184" y="126495"/>
                  <a:pt x="37198" y="129480"/>
                  <a:pt x="33486" y="129480"/>
                </a:cubicBezTo>
                <a:lnTo>
                  <a:pt x="8176" y="129480"/>
                </a:lnTo>
                <a:cubicBezTo>
                  <a:pt x="3656" y="129480"/>
                  <a:pt x="0" y="125825"/>
                  <a:pt x="0" y="121304"/>
                </a:cubicBezTo>
                <a:cubicBezTo>
                  <a:pt x="0" y="118681"/>
                  <a:pt x="1256" y="116225"/>
                  <a:pt x="3377" y="114691"/>
                </a:cubicBezTo>
                <a:lnTo>
                  <a:pt x="23050" y="100375"/>
                </a:lnTo>
                <a:cubicBezTo>
                  <a:pt x="23999" y="99678"/>
                  <a:pt x="24557" y="98589"/>
                  <a:pt x="24557" y="97417"/>
                </a:cubicBezTo>
                <a:cubicBezTo>
                  <a:pt x="24557" y="95408"/>
                  <a:pt x="22910" y="93762"/>
                  <a:pt x="20901" y="93762"/>
                </a:cubicBezTo>
                <a:lnTo>
                  <a:pt x="19534" y="93762"/>
                </a:lnTo>
                <a:cubicBezTo>
                  <a:pt x="18445" y="93762"/>
                  <a:pt x="17385" y="94124"/>
                  <a:pt x="16520" y="94766"/>
                </a:cubicBezTo>
                <a:lnTo>
                  <a:pt x="10716" y="99120"/>
                </a:lnTo>
                <a:cubicBezTo>
                  <a:pt x="7758" y="101352"/>
                  <a:pt x="3572" y="100738"/>
                  <a:pt x="1339" y="97780"/>
                </a:cubicBezTo>
                <a:cubicBezTo>
                  <a:pt x="-893" y="94822"/>
                  <a:pt x="-279" y="90636"/>
                  <a:pt x="2679" y="88404"/>
                </a:cubicBezTo>
                <a:lnTo>
                  <a:pt x="8483" y="84051"/>
                </a:lnTo>
                <a:close/>
                <a:moveTo>
                  <a:pt x="62508" y="17859"/>
                </a:moveTo>
                <a:lnTo>
                  <a:pt x="133945" y="17859"/>
                </a:lnTo>
                <a:cubicBezTo>
                  <a:pt x="138885" y="17859"/>
                  <a:pt x="142875" y="21850"/>
                  <a:pt x="142875" y="26789"/>
                </a:cubicBezTo>
                <a:cubicBezTo>
                  <a:pt x="142875" y="31728"/>
                  <a:pt x="138885" y="35719"/>
                  <a:pt x="133945" y="35719"/>
                </a:cubicBezTo>
                <a:lnTo>
                  <a:pt x="62508" y="35719"/>
                </a:lnTo>
                <a:cubicBezTo>
                  <a:pt x="57569" y="35719"/>
                  <a:pt x="53578" y="31728"/>
                  <a:pt x="53578" y="26789"/>
                </a:cubicBezTo>
                <a:cubicBezTo>
                  <a:pt x="53578" y="21850"/>
                  <a:pt x="57569" y="17859"/>
                  <a:pt x="62508" y="17859"/>
                </a:cubicBezTo>
                <a:close/>
                <a:moveTo>
                  <a:pt x="62508" y="62508"/>
                </a:moveTo>
                <a:lnTo>
                  <a:pt x="133945" y="62508"/>
                </a:lnTo>
                <a:cubicBezTo>
                  <a:pt x="138885" y="62508"/>
                  <a:pt x="142875" y="66498"/>
                  <a:pt x="142875" y="71438"/>
                </a:cubicBezTo>
                <a:cubicBezTo>
                  <a:pt x="142875" y="76377"/>
                  <a:pt x="138885" y="80367"/>
                  <a:pt x="133945" y="80367"/>
                </a:cubicBezTo>
                <a:lnTo>
                  <a:pt x="62508" y="80367"/>
                </a:lnTo>
                <a:cubicBezTo>
                  <a:pt x="57569" y="80367"/>
                  <a:pt x="53578" y="76377"/>
                  <a:pt x="53578" y="71438"/>
                </a:cubicBezTo>
                <a:cubicBezTo>
                  <a:pt x="53578" y="66498"/>
                  <a:pt x="57569" y="62508"/>
                  <a:pt x="62508" y="62508"/>
                </a:cubicBezTo>
                <a:close/>
                <a:moveTo>
                  <a:pt x="62508" y="107156"/>
                </a:moveTo>
                <a:lnTo>
                  <a:pt x="133945" y="107156"/>
                </a:lnTo>
                <a:cubicBezTo>
                  <a:pt x="138885" y="107156"/>
                  <a:pt x="142875" y="111147"/>
                  <a:pt x="142875" y="116086"/>
                </a:cubicBezTo>
                <a:cubicBezTo>
                  <a:pt x="142875" y="121025"/>
                  <a:pt x="138885" y="125016"/>
                  <a:pt x="133945" y="125016"/>
                </a:cubicBezTo>
                <a:lnTo>
                  <a:pt x="62508" y="125016"/>
                </a:lnTo>
                <a:cubicBezTo>
                  <a:pt x="57569" y="125016"/>
                  <a:pt x="53578" y="121025"/>
                  <a:pt x="53578" y="116086"/>
                </a:cubicBezTo>
                <a:cubicBezTo>
                  <a:pt x="53578" y="111147"/>
                  <a:pt x="57569" y="107156"/>
                  <a:pt x="62508" y="107156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9" name="Text 7"/>
          <p:cNvSpPr/>
          <p:nvPr/>
        </p:nvSpPr>
        <p:spPr>
          <a:xfrm>
            <a:off x="857250" y="1158875"/>
            <a:ext cx="2468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Améliorations Techniques Prioritaires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4500" y="1524000"/>
          <a:ext cx="11303000" cy="1944688"/>
        </p:xfrm>
        <a:graphic>
          <a:graphicData uri="http://schemas.openxmlformats.org/drawingml/2006/table">
            <a:tbl>
              <a:tblPr/>
              <a:tblGrid>
                <a:gridCol w="2103438"/>
                <a:gridCol w="2357438"/>
                <a:gridCol w="4206875"/>
                <a:gridCol w="2635250"/>
              </a:tblGrid>
              <a:tr h="324115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Priorité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Tâche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Méthode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Impact Attendu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4A"/>
                    </a:solidFill>
                  </a:tcPr>
                </a:tc>
              </a:tr>
              <a:tr h="32411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HAUTE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D5D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Optimisation seuil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D5D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Courbe ROC + coûts asymétriques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D5D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Réduction FN &lt;5%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D5D">
                        <a:alpha val="5000"/>
                      </a:srgbClr>
                    </a:solidFill>
                  </a:tcPr>
                </a:tc>
              </a:tr>
              <a:tr h="32411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HAUTE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D5D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Explicabilité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D5D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SHAP values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D5D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Acceptation clinique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D5D">
                        <a:alpha val="5000"/>
                      </a:srgbClr>
                    </a:solidFill>
                  </a:tcPr>
                </a:tc>
              </a:tr>
              <a:tr h="32411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MOYENNE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Modèles avancés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TabNet, XGBoost, MLP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AUC &gt;0.95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411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MOYENNE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Validation externe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Nouveau jeu hospitalier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Généralisation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411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BASSE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Pipeline MLOps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Docker + FastAPI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Déploiement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17500" y="3722688"/>
            <a:ext cx="5715000" cy="3325813"/>
          </a:xfrm>
          <a:custGeom>
            <a:avLst/>
            <a:gdLst/>
            <a:ahLst/>
            <a:cxnLst/>
            <a:rect l="l" t="t" r="r" b="b"/>
            <a:pathLst>
              <a:path w="5715000" h="3325813">
                <a:moveTo>
                  <a:pt x="95251" y="0"/>
                </a:moveTo>
                <a:lnTo>
                  <a:pt x="5619749" y="0"/>
                </a:lnTo>
                <a:cubicBezTo>
                  <a:pt x="5672355" y="0"/>
                  <a:pt x="5715000" y="42645"/>
                  <a:pt x="5715000" y="95251"/>
                </a:cubicBezTo>
                <a:lnTo>
                  <a:pt x="5715000" y="3230561"/>
                </a:lnTo>
                <a:cubicBezTo>
                  <a:pt x="5715000" y="3283167"/>
                  <a:pt x="5672355" y="3325813"/>
                  <a:pt x="5619749" y="3325813"/>
                </a:cubicBezTo>
                <a:lnTo>
                  <a:pt x="95251" y="3325813"/>
                </a:lnTo>
                <a:cubicBezTo>
                  <a:pt x="42645" y="3325813"/>
                  <a:pt x="0" y="3283167"/>
                  <a:pt x="0" y="3230561"/>
                </a:cubicBezTo>
                <a:lnTo>
                  <a:pt x="0" y="95251"/>
                </a:lnTo>
                <a:cubicBezTo>
                  <a:pt x="0" y="42645"/>
                  <a:pt x="42645" y="0"/>
                  <a:pt x="95251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A4A"/>
              </a:gs>
              <a:gs pos="100000">
                <a:srgbClr val="4A6D7C"/>
              </a:gs>
            </a:gsLst>
            <a:lin ang="0" scaled="1"/>
          </a:gra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4500" y="38496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95D5D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24867" y="3937000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35719" y="17859"/>
                </a:moveTo>
                <a:cubicBezTo>
                  <a:pt x="35719" y="8009"/>
                  <a:pt x="43728" y="0"/>
                  <a:pt x="53578" y="0"/>
                </a:cubicBezTo>
                <a:lnTo>
                  <a:pt x="107156" y="0"/>
                </a:lnTo>
                <a:cubicBezTo>
                  <a:pt x="117007" y="0"/>
                  <a:pt x="125016" y="8009"/>
                  <a:pt x="125016" y="17859"/>
                </a:cubicBezTo>
                <a:lnTo>
                  <a:pt x="125016" y="35719"/>
                </a:lnTo>
                <a:lnTo>
                  <a:pt x="142875" y="35719"/>
                </a:lnTo>
                <a:cubicBezTo>
                  <a:pt x="152726" y="35719"/>
                  <a:pt x="160734" y="43728"/>
                  <a:pt x="160734" y="53578"/>
                </a:cubicBezTo>
                <a:lnTo>
                  <a:pt x="160734" y="125016"/>
                </a:lnTo>
                <a:cubicBezTo>
                  <a:pt x="160734" y="134866"/>
                  <a:pt x="152726" y="142875"/>
                  <a:pt x="142875" y="142875"/>
                </a:cubicBezTo>
                <a:lnTo>
                  <a:pt x="17859" y="142875"/>
                </a:lnTo>
                <a:cubicBezTo>
                  <a:pt x="8009" y="142875"/>
                  <a:pt x="0" y="134866"/>
                  <a:pt x="0" y="125016"/>
                </a:cubicBezTo>
                <a:lnTo>
                  <a:pt x="0" y="53578"/>
                </a:lnTo>
                <a:cubicBezTo>
                  <a:pt x="0" y="43728"/>
                  <a:pt x="8009" y="35719"/>
                  <a:pt x="17859" y="35719"/>
                </a:cubicBezTo>
                <a:lnTo>
                  <a:pt x="35719" y="35719"/>
                </a:lnTo>
                <a:lnTo>
                  <a:pt x="35719" y="17859"/>
                </a:lnTo>
                <a:close/>
                <a:moveTo>
                  <a:pt x="75902" y="98227"/>
                </a:moveTo>
                <a:cubicBezTo>
                  <a:pt x="70963" y="98227"/>
                  <a:pt x="66973" y="102217"/>
                  <a:pt x="66973" y="107156"/>
                </a:cubicBezTo>
                <a:lnTo>
                  <a:pt x="66973" y="129480"/>
                </a:lnTo>
                <a:lnTo>
                  <a:pt x="93762" y="129480"/>
                </a:lnTo>
                <a:lnTo>
                  <a:pt x="93762" y="107156"/>
                </a:lnTo>
                <a:cubicBezTo>
                  <a:pt x="93762" y="102217"/>
                  <a:pt x="89771" y="98227"/>
                  <a:pt x="84832" y="98227"/>
                </a:cubicBezTo>
                <a:lnTo>
                  <a:pt x="75902" y="98227"/>
                </a:lnTo>
                <a:close/>
                <a:moveTo>
                  <a:pt x="35719" y="102691"/>
                </a:moveTo>
                <a:lnTo>
                  <a:pt x="35719" y="93762"/>
                </a:lnTo>
                <a:cubicBezTo>
                  <a:pt x="35719" y="91306"/>
                  <a:pt x="33710" y="89297"/>
                  <a:pt x="31254" y="89297"/>
                </a:cubicBezTo>
                <a:lnTo>
                  <a:pt x="22324" y="89297"/>
                </a:lnTo>
                <a:cubicBezTo>
                  <a:pt x="19869" y="89297"/>
                  <a:pt x="17859" y="91306"/>
                  <a:pt x="17859" y="93762"/>
                </a:cubicBezTo>
                <a:lnTo>
                  <a:pt x="17859" y="102691"/>
                </a:lnTo>
                <a:cubicBezTo>
                  <a:pt x="17859" y="105147"/>
                  <a:pt x="19869" y="107156"/>
                  <a:pt x="22324" y="107156"/>
                </a:cubicBezTo>
                <a:lnTo>
                  <a:pt x="31254" y="107156"/>
                </a:lnTo>
                <a:cubicBezTo>
                  <a:pt x="33710" y="107156"/>
                  <a:pt x="35719" y="105147"/>
                  <a:pt x="35719" y="102691"/>
                </a:cubicBezTo>
                <a:close/>
                <a:moveTo>
                  <a:pt x="31254" y="71438"/>
                </a:moveTo>
                <a:cubicBezTo>
                  <a:pt x="33710" y="71438"/>
                  <a:pt x="35719" y="69428"/>
                  <a:pt x="35719" y="66973"/>
                </a:cubicBezTo>
                <a:lnTo>
                  <a:pt x="35719" y="58043"/>
                </a:lnTo>
                <a:cubicBezTo>
                  <a:pt x="35719" y="55587"/>
                  <a:pt x="33710" y="53578"/>
                  <a:pt x="31254" y="53578"/>
                </a:cubicBezTo>
                <a:lnTo>
                  <a:pt x="22324" y="53578"/>
                </a:lnTo>
                <a:cubicBezTo>
                  <a:pt x="19869" y="53578"/>
                  <a:pt x="17859" y="55587"/>
                  <a:pt x="17859" y="58043"/>
                </a:cubicBezTo>
                <a:lnTo>
                  <a:pt x="17859" y="66973"/>
                </a:lnTo>
                <a:cubicBezTo>
                  <a:pt x="17859" y="69428"/>
                  <a:pt x="19869" y="71438"/>
                  <a:pt x="22324" y="71438"/>
                </a:cubicBezTo>
                <a:lnTo>
                  <a:pt x="31254" y="71438"/>
                </a:lnTo>
                <a:close/>
                <a:moveTo>
                  <a:pt x="142875" y="102691"/>
                </a:moveTo>
                <a:lnTo>
                  <a:pt x="142875" y="93762"/>
                </a:lnTo>
                <a:cubicBezTo>
                  <a:pt x="142875" y="91306"/>
                  <a:pt x="140866" y="89297"/>
                  <a:pt x="138410" y="89297"/>
                </a:cubicBezTo>
                <a:lnTo>
                  <a:pt x="129480" y="89297"/>
                </a:lnTo>
                <a:cubicBezTo>
                  <a:pt x="127025" y="89297"/>
                  <a:pt x="125016" y="91306"/>
                  <a:pt x="125016" y="93762"/>
                </a:cubicBezTo>
                <a:lnTo>
                  <a:pt x="125016" y="102691"/>
                </a:lnTo>
                <a:cubicBezTo>
                  <a:pt x="125016" y="105147"/>
                  <a:pt x="127025" y="107156"/>
                  <a:pt x="129480" y="107156"/>
                </a:cubicBezTo>
                <a:lnTo>
                  <a:pt x="138410" y="107156"/>
                </a:lnTo>
                <a:cubicBezTo>
                  <a:pt x="140866" y="107156"/>
                  <a:pt x="142875" y="105147"/>
                  <a:pt x="142875" y="102691"/>
                </a:cubicBezTo>
                <a:close/>
                <a:moveTo>
                  <a:pt x="138410" y="71438"/>
                </a:moveTo>
                <a:cubicBezTo>
                  <a:pt x="140866" y="71438"/>
                  <a:pt x="142875" y="69428"/>
                  <a:pt x="142875" y="66973"/>
                </a:cubicBezTo>
                <a:lnTo>
                  <a:pt x="142875" y="58043"/>
                </a:lnTo>
                <a:cubicBezTo>
                  <a:pt x="142875" y="55587"/>
                  <a:pt x="140866" y="53578"/>
                  <a:pt x="138410" y="53578"/>
                </a:cubicBezTo>
                <a:lnTo>
                  <a:pt x="129480" y="53578"/>
                </a:lnTo>
                <a:cubicBezTo>
                  <a:pt x="127025" y="53578"/>
                  <a:pt x="125016" y="55587"/>
                  <a:pt x="125016" y="58043"/>
                </a:cubicBezTo>
                <a:lnTo>
                  <a:pt x="125016" y="66973"/>
                </a:lnTo>
                <a:cubicBezTo>
                  <a:pt x="125016" y="69428"/>
                  <a:pt x="127025" y="71438"/>
                  <a:pt x="129480" y="71438"/>
                </a:cubicBezTo>
                <a:lnTo>
                  <a:pt x="138410" y="71438"/>
                </a:lnTo>
                <a:close/>
                <a:moveTo>
                  <a:pt x="73670" y="29021"/>
                </a:moveTo>
                <a:lnTo>
                  <a:pt x="73670" y="37951"/>
                </a:lnTo>
                <a:lnTo>
                  <a:pt x="64740" y="37951"/>
                </a:lnTo>
                <a:cubicBezTo>
                  <a:pt x="62285" y="37951"/>
                  <a:pt x="60275" y="39960"/>
                  <a:pt x="60275" y="42416"/>
                </a:cubicBezTo>
                <a:lnTo>
                  <a:pt x="60275" y="46881"/>
                </a:lnTo>
                <a:cubicBezTo>
                  <a:pt x="60275" y="49337"/>
                  <a:pt x="62285" y="51346"/>
                  <a:pt x="64740" y="51346"/>
                </a:cubicBezTo>
                <a:lnTo>
                  <a:pt x="73670" y="51346"/>
                </a:lnTo>
                <a:lnTo>
                  <a:pt x="73670" y="60275"/>
                </a:lnTo>
                <a:cubicBezTo>
                  <a:pt x="73670" y="62731"/>
                  <a:pt x="75679" y="64740"/>
                  <a:pt x="78135" y="64740"/>
                </a:cubicBezTo>
                <a:lnTo>
                  <a:pt x="82600" y="64740"/>
                </a:lnTo>
                <a:cubicBezTo>
                  <a:pt x="85055" y="64740"/>
                  <a:pt x="87064" y="62731"/>
                  <a:pt x="87064" y="60275"/>
                </a:cubicBezTo>
                <a:lnTo>
                  <a:pt x="87064" y="51346"/>
                </a:lnTo>
                <a:lnTo>
                  <a:pt x="95994" y="51346"/>
                </a:lnTo>
                <a:cubicBezTo>
                  <a:pt x="98450" y="51346"/>
                  <a:pt x="100459" y="49337"/>
                  <a:pt x="100459" y="46881"/>
                </a:cubicBezTo>
                <a:lnTo>
                  <a:pt x="100459" y="42416"/>
                </a:lnTo>
                <a:cubicBezTo>
                  <a:pt x="100459" y="39960"/>
                  <a:pt x="98450" y="37951"/>
                  <a:pt x="95994" y="37951"/>
                </a:cubicBezTo>
                <a:lnTo>
                  <a:pt x="87064" y="37951"/>
                </a:lnTo>
                <a:lnTo>
                  <a:pt x="87064" y="29021"/>
                </a:lnTo>
                <a:cubicBezTo>
                  <a:pt x="87064" y="26566"/>
                  <a:pt x="85055" y="24557"/>
                  <a:pt x="82600" y="24557"/>
                </a:cubicBezTo>
                <a:lnTo>
                  <a:pt x="78135" y="24557"/>
                </a:lnTo>
                <a:cubicBezTo>
                  <a:pt x="75679" y="24557"/>
                  <a:pt x="73670" y="26566"/>
                  <a:pt x="73670" y="29021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14" name="Text 11"/>
          <p:cNvSpPr/>
          <p:nvPr/>
        </p:nvSpPr>
        <p:spPr>
          <a:xfrm>
            <a:off x="857250" y="3897313"/>
            <a:ext cx="202406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Déploiement Clinique Envisagé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509241" y="4956969"/>
            <a:ext cx="706438" cy="889000"/>
          </a:xfrm>
          <a:custGeom>
            <a:avLst/>
            <a:gdLst/>
            <a:ahLst/>
            <a:cxnLst/>
            <a:rect l="l" t="t" r="r" b="b"/>
            <a:pathLst>
              <a:path w="706438" h="889000">
                <a:moveTo>
                  <a:pt x="95249" y="0"/>
                </a:moveTo>
                <a:lnTo>
                  <a:pt x="611189" y="0"/>
                </a:lnTo>
                <a:cubicBezTo>
                  <a:pt x="663758" y="0"/>
                  <a:pt x="706437" y="42680"/>
                  <a:pt x="706437" y="95249"/>
                </a:cubicBezTo>
                <a:lnTo>
                  <a:pt x="706438" y="793751"/>
                </a:lnTo>
                <a:cubicBezTo>
                  <a:pt x="706437" y="846356"/>
                  <a:pt x="663793" y="889000"/>
                  <a:pt x="611189" y="889000"/>
                </a:cubicBezTo>
                <a:lnTo>
                  <a:pt x="95249" y="889000"/>
                </a:lnTo>
                <a:cubicBezTo>
                  <a:pt x="42680" y="889000"/>
                  <a:pt x="0" y="846320"/>
                  <a:pt x="0" y="793751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 w="25400">
            <a:solidFill>
              <a:srgbClr val="F8F9FA">
                <a:alpha val="3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761753" y="5091906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104180" y="3721"/>
                </a:moveTo>
                <a:cubicBezTo>
                  <a:pt x="73377" y="3721"/>
                  <a:pt x="48369" y="28729"/>
                  <a:pt x="48369" y="59531"/>
                </a:cubicBezTo>
                <a:cubicBezTo>
                  <a:pt x="48369" y="90334"/>
                  <a:pt x="73377" y="115342"/>
                  <a:pt x="104180" y="115342"/>
                </a:cubicBezTo>
                <a:cubicBezTo>
                  <a:pt x="134982" y="115342"/>
                  <a:pt x="159990" y="90334"/>
                  <a:pt x="159990" y="59531"/>
                </a:cubicBezTo>
                <a:cubicBezTo>
                  <a:pt x="159990" y="28729"/>
                  <a:pt x="134982" y="3721"/>
                  <a:pt x="104180" y="3721"/>
                </a:cubicBezTo>
                <a:close/>
                <a:moveTo>
                  <a:pt x="132085" y="149200"/>
                </a:moveTo>
                <a:cubicBezTo>
                  <a:pt x="129573" y="148968"/>
                  <a:pt x="126969" y="148828"/>
                  <a:pt x="124365" y="148828"/>
                </a:cubicBezTo>
                <a:lnTo>
                  <a:pt x="83948" y="148828"/>
                </a:lnTo>
                <a:cubicBezTo>
                  <a:pt x="81344" y="148828"/>
                  <a:pt x="78786" y="148968"/>
                  <a:pt x="76228" y="149200"/>
                </a:cubicBezTo>
                <a:lnTo>
                  <a:pt x="76228" y="180594"/>
                </a:lnTo>
                <a:cubicBezTo>
                  <a:pt x="83902" y="184128"/>
                  <a:pt x="89250" y="191895"/>
                  <a:pt x="89250" y="200871"/>
                </a:cubicBezTo>
                <a:cubicBezTo>
                  <a:pt x="89250" y="213196"/>
                  <a:pt x="79251" y="223196"/>
                  <a:pt x="66926" y="223196"/>
                </a:cubicBezTo>
                <a:cubicBezTo>
                  <a:pt x="54601" y="223196"/>
                  <a:pt x="44602" y="213196"/>
                  <a:pt x="44602" y="200871"/>
                </a:cubicBezTo>
                <a:cubicBezTo>
                  <a:pt x="44602" y="191849"/>
                  <a:pt x="49950" y="184082"/>
                  <a:pt x="57624" y="180594"/>
                </a:cubicBezTo>
                <a:lnTo>
                  <a:pt x="57624" y="153432"/>
                </a:lnTo>
                <a:cubicBezTo>
                  <a:pt x="28370" y="164176"/>
                  <a:pt x="7441" y="192360"/>
                  <a:pt x="7441" y="225382"/>
                </a:cubicBezTo>
                <a:cubicBezTo>
                  <a:pt x="7441" y="232404"/>
                  <a:pt x="13162" y="238125"/>
                  <a:pt x="20185" y="238125"/>
                </a:cubicBezTo>
                <a:lnTo>
                  <a:pt x="188128" y="238125"/>
                </a:lnTo>
                <a:cubicBezTo>
                  <a:pt x="195151" y="238125"/>
                  <a:pt x="200871" y="232404"/>
                  <a:pt x="200871" y="225382"/>
                </a:cubicBezTo>
                <a:cubicBezTo>
                  <a:pt x="200871" y="192360"/>
                  <a:pt x="179943" y="164223"/>
                  <a:pt x="150642" y="153479"/>
                </a:cubicBezTo>
                <a:lnTo>
                  <a:pt x="150642" y="170873"/>
                </a:lnTo>
                <a:cubicBezTo>
                  <a:pt x="161479" y="174687"/>
                  <a:pt x="169245" y="185058"/>
                  <a:pt x="169245" y="197197"/>
                </a:cubicBezTo>
                <a:lnTo>
                  <a:pt x="169245" y="212080"/>
                </a:lnTo>
                <a:cubicBezTo>
                  <a:pt x="169245" y="217196"/>
                  <a:pt x="165060" y="221382"/>
                  <a:pt x="159944" y="221382"/>
                </a:cubicBezTo>
                <a:cubicBezTo>
                  <a:pt x="154828" y="221382"/>
                  <a:pt x="150642" y="217196"/>
                  <a:pt x="150642" y="212080"/>
                </a:cubicBezTo>
                <a:lnTo>
                  <a:pt x="150642" y="197197"/>
                </a:lnTo>
                <a:cubicBezTo>
                  <a:pt x="150642" y="192081"/>
                  <a:pt x="146456" y="187896"/>
                  <a:pt x="141340" y="187896"/>
                </a:cubicBezTo>
                <a:cubicBezTo>
                  <a:pt x="136224" y="187896"/>
                  <a:pt x="132038" y="192081"/>
                  <a:pt x="132038" y="197197"/>
                </a:cubicBezTo>
                <a:lnTo>
                  <a:pt x="132038" y="212080"/>
                </a:lnTo>
                <a:cubicBezTo>
                  <a:pt x="132038" y="217196"/>
                  <a:pt x="127853" y="221382"/>
                  <a:pt x="122737" y="221382"/>
                </a:cubicBezTo>
                <a:cubicBezTo>
                  <a:pt x="117621" y="221382"/>
                  <a:pt x="113435" y="217196"/>
                  <a:pt x="113435" y="212080"/>
                </a:cubicBezTo>
                <a:lnTo>
                  <a:pt x="113435" y="197197"/>
                </a:lnTo>
                <a:cubicBezTo>
                  <a:pt x="113435" y="185058"/>
                  <a:pt x="121202" y="174734"/>
                  <a:pt x="132038" y="170873"/>
                </a:cubicBezTo>
                <a:lnTo>
                  <a:pt x="132038" y="14920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7" name="Text 14"/>
          <p:cNvSpPr/>
          <p:nvPr/>
        </p:nvSpPr>
        <p:spPr>
          <a:xfrm>
            <a:off x="1616397" y="5393531"/>
            <a:ext cx="492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Clinicien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377405" y="530621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19" name="Shape 16"/>
          <p:cNvSpPr/>
          <p:nvPr/>
        </p:nvSpPr>
        <p:spPr>
          <a:xfrm>
            <a:off x="2726655" y="4956969"/>
            <a:ext cx="738188" cy="889000"/>
          </a:xfrm>
          <a:custGeom>
            <a:avLst/>
            <a:gdLst/>
            <a:ahLst/>
            <a:cxnLst/>
            <a:rect l="l" t="t" r="r" b="b"/>
            <a:pathLst>
              <a:path w="738188" h="889000">
                <a:moveTo>
                  <a:pt x="95248" y="0"/>
                </a:moveTo>
                <a:lnTo>
                  <a:pt x="642939" y="0"/>
                </a:lnTo>
                <a:cubicBezTo>
                  <a:pt x="695543" y="0"/>
                  <a:pt x="738188" y="42644"/>
                  <a:pt x="738188" y="95248"/>
                </a:cubicBezTo>
                <a:lnTo>
                  <a:pt x="738188" y="793752"/>
                </a:lnTo>
                <a:cubicBezTo>
                  <a:pt x="738188" y="846356"/>
                  <a:pt x="695543" y="889000"/>
                  <a:pt x="642939" y="889000"/>
                </a:cubicBezTo>
                <a:lnTo>
                  <a:pt x="95248" y="889000"/>
                </a:lnTo>
                <a:cubicBezTo>
                  <a:pt x="42644" y="889000"/>
                  <a:pt x="0" y="846356"/>
                  <a:pt x="0" y="79375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 w="25400">
            <a:solidFill>
              <a:srgbClr val="F8F9FA">
                <a:alpha val="3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93554" y="5091906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29766" y="14883"/>
                </a:moveTo>
                <a:cubicBezTo>
                  <a:pt x="13348" y="14883"/>
                  <a:pt x="0" y="28231"/>
                  <a:pt x="0" y="44648"/>
                </a:cubicBezTo>
                <a:lnTo>
                  <a:pt x="0" y="74414"/>
                </a:lnTo>
                <a:cubicBezTo>
                  <a:pt x="0" y="90832"/>
                  <a:pt x="13348" y="104180"/>
                  <a:pt x="29766" y="104180"/>
                </a:cubicBezTo>
                <a:lnTo>
                  <a:pt x="178594" y="104180"/>
                </a:lnTo>
                <a:cubicBezTo>
                  <a:pt x="195011" y="104180"/>
                  <a:pt x="208359" y="90832"/>
                  <a:pt x="208359" y="74414"/>
                </a:cubicBezTo>
                <a:lnTo>
                  <a:pt x="208359" y="44648"/>
                </a:lnTo>
                <a:cubicBezTo>
                  <a:pt x="208359" y="28231"/>
                  <a:pt x="195011" y="14883"/>
                  <a:pt x="178594" y="14883"/>
                </a:cubicBezTo>
                <a:lnTo>
                  <a:pt x="29766" y="14883"/>
                </a:lnTo>
                <a:close/>
                <a:moveTo>
                  <a:pt x="130225" y="48369"/>
                </a:moveTo>
                <a:cubicBezTo>
                  <a:pt x="136385" y="48369"/>
                  <a:pt x="141387" y="53371"/>
                  <a:pt x="141387" y="59531"/>
                </a:cubicBezTo>
                <a:cubicBezTo>
                  <a:pt x="141387" y="65692"/>
                  <a:pt x="136385" y="70693"/>
                  <a:pt x="130225" y="70693"/>
                </a:cubicBezTo>
                <a:cubicBezTo>
                  <a:pt x="124064" y="70693"/>
                  <a:pt x="119062" y="65692"/>
                  <a:pt x="119062" y="59531"/>
                </a:cubicBezTo>
                <a:cubicBezTo>
                  <a:pt x="119062" y="53371"/>
                  <a:pt x="124064" y="48369"/>
                  <a:pt x="130225" y="48369"/>
                </a:cubicBezTo>
                <a:close/>
                <a:moveTo>
                  <a:pt x="156270" y="59531"/>
                </a:moveTo>
                <a:cubicBezTo>
                  <a:pt x="156270" y="53371"/>
                  <a:pt x="161271" y="48369"/>
                  <a:pt x="167432" y="48369"/>
                </a:cubicBezTo>
                <a:cubicBezTo>
                  <a:pt x="173592" y="48369"/>
                  <a:pt x="178594" y="53371"/>
                  <a:pt x="178594" y="59531"/>
                </a:cubicBezTo>
                <a:cubicBezTo>
                  <a:pt x="178594" y="65692"/>
                  <a:pt x="173592" y="70693"/>
                  <a:pt x="167432" y="70693"/>
                </a:cubicBezTo>
                <a:cubicBezTo>
                  <a:pt x="161271" y="70693"/>
                  <a:pt x="156270" y="65692"/>
                  <a:pt x="156270" y="59531"/>
                </a:cubicBezTo>
                <a:close/>
                <a:moveTo>
                  <a:pt x="29766" y="133945"/>
                </a:moveTo>
                <a:cubicBezTo>
                  <a:pt x="13348" y="133945"/>
                  <a:pt x="0" y="147293"/>
                  <a:pt x="0" y="163711"/>
                </a:cubicBezTo>
                <a:lnTo>
                  <a:pt x="0" y="193477"/>
                </a:lnTo>
                <a:cubicBezTo>
                  <a:pt x="0" y="209894"/>
                  <a:pt x="13348" y="223242"/>
                  <a:pt x="29766" y="223242"/>
                </a:cubicBezTo>
                <a:lnTo>
                  <a:pt x="178594" y="223242"/>
                </a:lnTo>
                <a:cubicBezTo>
                  <a:pt x="195011" y="223242"/>
                  <a:pt x="208359" y="209894"/>
                  <a:pt x="208359" y="193477"/>
                </a:cubicBezTo>
                <a:lnTo>
                  <a:pt x="208359" y="163711"/>
                </a:lnTo>
                <a:cubicBezTo>
                  <a:pt x="208359" y="147293"/>
                  <a:pt x="195011" y="133945"/>
                  <a:pt x="178594" y="133945"/>
                </a:cubicBezTo>
                <a:lnTo>
                  <a:pt x="29766" y="133945"/>
                </a:lnTo>
                <a:close/>
                <a:moveTo>
                  <a:pt x="130225" y="167432"/>
                </a:moveTo>
                <a:cubicBezTo>
                  <a:pt x="136385" y="167432"/>
                  <a:pt x="141387" y="172433"/>
                  <a:pt x="141387" y="178594"/>
                </a:cubicBezTo>
                <a:cubicBezTo>
                  <a:pt x="141387" y="184754"/>
                  <a:pt x="136385" y="189756"/>
                  <a:pt x="130225" y="189756"/>
                </a:cubicBezTo>
                <a:cubicBezTo>
                  <a:pt x="124064" y="189756"/>
                  <a:pt x="119062" y="184754"/>
                  <a:pt x="119062" y="178594"/>
                </a:cubicBezTo>
                <a:cubicBezTo>
                  <a:pt x="119062" y="172433"/>
                  <a:pt x="124064" y="167432"/>
                  <a:pt x="130225" y="167432"/>
                </a:cubicBezTo>
                <a:close/>
                <a:moveTo>
                  <a:pt x="156270" y="178594"/>
                </a:moveTo>
                <a:cubicBezTo>
                  <a:pt x="156270" y="172433"/>
                  <a:pt x="161271" y="167432"/>
                  <a:pt x="167432" y="167432"/>
                </a:cubicBezTo>
                <a:cubicBezTo>
                  <a:pt x="173592" y="167432"/>
                  <a:pt x="178594" y="172433"/>
                  <a:pt x="178594" y="178594"/>
                </a:cubicBezTo>
                <a:cubicBezTo>
                  <a:pt x="178594" y="184754"/>
                  <a:pt x="173592" y="189756"/>
                  <a:pt x="167432" y="189756"/>
                </a:cubicBezTo>
                <a:cubicBezTo>
                  <a:pt x="161271" y="189756"/>
                  <a:pt x="156270" y="184754"/>
                  <a:pt x="156270" y="178594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1" name="Text 18"/>
          <p:cNvSpPr/>
          <p:nvPr/>
        </p:nvSpPr>
        <p:spPr>
          <a:xfrm>
            <a:off x="2833812" y="5393531"/>
            <a:ext cx="523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ML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(FastAPI)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623593" y="530621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23" name="Shape 20"/>
          <p:cNvSpPr/>
          <p:nvPr/>
        </p:nvSpPr>
        <p:spPr>
          <a:xfrm>
            <a:off x="3972843" y="4956969"/>
            <a:ext cx="865188" cy="889000"/>
          </a:xfrm>
          <a:custGeom>
            <a:avLst/>
            <a:gdLst/>
            <a:ahLst/>
            <a:cxnLst/>
            <a:rect l="l" t="t" r="r" b="b"/>
            <a:pathLst>
              <a:path w="865188" h="889000">
                <a:moveTo>
                  <a:pt x="95248" y="0"/>
                </a:moveTo>
                <a:lnTo>
                  <a:pt x="769939" y="0"/>
                </a:lnTo>
                <a:cubicBezTo>
                  <a:pt x="822543" y="0"/>
                  <a:pt x="865188" y="42644"/>
                  <a:pt x="865188" y="95248"/>
                </a:cubicBezTo>
                <a:lnTo>
                  <a:pt x="865188" y="793752"/>
                </a:lnTo>
                <a:cubicBezTo>
                  <a:pt x="865188" y="846356"/>
                  <a:pt x="822543" y="889000"/>
                  <a:pt x="769939" y="889000"/>
                </a:cubicBezTo>
                <a:lnTo>
                  <a:pt x="95248" y="889000"/>
                </a:lnTo>
                <a:cubicBezTo>
                  <a:pt x="42644" y="889000"/>
                  <a:pt x="0" y="846356"/>
                  <a:pt x="0" y="79375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D95D5D">
              <a:alpha val="20000"/>
            </a:srgbClr>
          </a:solidFill>
          <a:ln w="25400">
            <a:solidFill>
              <a:srgbClr val="D95D5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89661" y="5091906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55811" y="26045"/>
                </a:moveTo>
                <a:cubicBezTo>
                  <a:pt x="55811" y="11674"/>
                  <a:pt x="67484" y="0"/>
                  <a:pt x="81855" y="0"/>
                </a:cubicBezTo>
                <a:lnTo>
                  <a:pt x="93018" y="0"/>
                </a:lnTo>
                <a:cubicBezTo>
                  <a:pt x="101250" y="0"/>
                  <a:pt x="107900" y="6651"/>
                  <a:pt x="107900" y="14883"/>
                </a:cubicBezTo>
                <a:lnTo>
                  <a:pt x="107900" y="223242"/>
                </a:lnTo>
                <a:cubicBezTo>
                  <a:pt x="107900" y="231474"/>
                  <a:pt x="101250" y="238125"/>
                  <a:pt x="93018" y="238125"/>
                </a:cubicBezTo>
                <a:lnTo>
                  <a:pt x="78135" y="238125"/>
                </a:lnTo>
                <a:cubicBezTo>
                  <a:pt x="64275" y="238125"/>
                  <a:pt x="52601" y="228637"/>
                  <a:pt x="49299" y="215801"/>
                </a:cubicBezTo>
                <a:cubicBezTo>
                  <a:pt x="48974" y="215801"/>
                  <a:pt x="48695" y="215801"/>
                  <a:pt x="48369" y="215801"/>
                </a:cubicBezTo>
                <a:cubicBezTo>
                  <a:pt x="27812" y="215801"/>
                  <a:pt x="11162" y="199151"/>
                  <a:pt x="11162" y="178594"/>
                </a:cubicBezTo>
                <a:cubicBezTo>
                  <a:pt x="11162" y="170222"/>
                  <a:pt x="13953" y="162502"/>
                  <a:pt x="18604" y="156270"/>
                </a:cubicBezTo>
                <a:cubicBezTo>
                  <a:pt x="9581" y="149479"/>
                  <a:pt x="3721" y="138689"/>
                  <a:pt x="3721" y="126504"/>
                </a:cubicBezTo>
                <a:cubicBezTo>
                  <a:pt x="3721" y="112133"/>
                  <a:pt x="11906" y="99622"/>
                  <a:pt x="23813" y="93436"/>
                </a:cubicBezTo>
                <a:cubicBezTo>
                  <a:pt x="20510" y="87855"/>
                  <a:pt x="18604" y="81344"/>
                  <a:pt x="18604" y="74414"/>
                </a:cubicBezTo>
                <a:cubicBezTo>
                  <a:pt x="18604" y="53857"/>
                  <a:pt x="35254" y="37207"/>
                  <a:pt x="55811" y="37207"/>
                </a:cubicBezTo>
                <a:lnTo>
                  <a:pt x="55811" y="26045"/>
                </a:lnTo>
                <a:close/>
                <a:moveTo>
                  <a:pt x="182314" y="26045"/>
                </a:moveTo>
                <a:lnTo>
                  <a:pt x="182314" y="37207"/>
                </a:lnTo>
                <a:cubicBezTo>
                  <a:pt x="202871" y="37207"/>
                  <a:pt x="219521" y="53857"/>
                  <a:pt x="219521" y="74414"/>
                </a:cubicBezTo>
                <a:cubicBezTo>
                  <a:pt x="219521" y="81390"/>
                  <a:pt x="217615" y="87902"/>
                  <a:pt x="214313" y="93436"/>
                </a:cubicBezTo>
                <a:cubicBezTo>
                  <a:pt x="226265" y="99622"/>
                  <a:pt x="234404" y="112086"/>
                  <a:pt x="234404" y="126504"/>
                </a:cubicBezTo>
                <a:cubicBezTo>
                  <a:pt x="234404" y="138689"/>
                  <a:pt x="228544" y="149479"/>
                  <a:pt x="219521" y="156270"/>
                </a:cubicBezTo>
                <a:cubicBezTo>
                  <a:pt x="224172" y="162502"/>
                  <a:pt x="226963" y="170222"/>
                  <a:pt x="226963" y="178594"/>
                </a:cubicBezTo>
                <a:cubicBezTo>
                  <a:pt x="226963" y="199151"/>
                  <a:pt x="210313" y="215801"/>
                  <a:pt x="189756" y="215801"/>
                </a:cubicBezTo>
                <a:cubicBezTo>
                  <a:pt x="189430" y="215801"/>
                  <a:pt x="189151" y="215801"/>
                  <a:pt x="188826" y="215801"/>
                </a:cubicBezTo>
                <a:cubicBezTo>
                  <a:pt x="185524" y="228637"/>
                  <a:pt x="173850" y="238125"/>
                  <a:pt x="159990" y="238125"/>
                </a:cubicBezTo>
                <a:lnTo>
                  <a:pt x="145107" y="238125"/>
                </a:lnTo>
                <a:cubicBezTo>
                  <a:pt x="136875" y="238125"/>
                  <a:pt x="130225" y="231474"/>
                  <a:pt x="130225" y="223242"/>
                </a:cubicBezTo>
                <a:lnTo>
                  <a:pt x="130225" y="14883"/>
                </a:lnTo>
                <a:cubicBezTo>
                  <a:pt x="130225" y="6651"/>
                  <a:pt x="136875" y="0"/>
                  <a:pt x="145107" y="0"/>
                </a:cubicBezTo>
                <a:lnTo>
                  <a:pt x="156270" y="0"/>
                </a:lnTo>
                <a:cubicBezTo>
                  <a:pt x="170641" y="0"/>
                  <a:pt x="182314" y="11674"/>
                  <a:pt x="182314" y="26045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25" name="Text 22"/>
          <p:cNvSpPr/>
          <p:nvPr/>
        </p:nvSpPr>
        <p:spPr>
          <a:xfrm>
            <a:off x="4079999" y="5393531"/>
            <a:ext cx="650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Modèle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RF Optimisé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2516001" y="6635750"/>
            <a:ext cx="1317625" cy="285750"/>
          </a:xfrm>
          <a:custGeom>
            <a:avLst/>
            <a:gdLst/>
            <a:ahLst/>
            <a:cxnLst/>
            <a:rect l="l" t="t" r="r" b="b"/>
            <a:pathLst>
              <a:path w="1317625" h="285750">
                <a:moveTo>
                  <a:pt x="63499" y="0"/>
                </a:moveTo>
                <a:lnTo>
                  <a:pt x="1254126" y="0"/>
                </a:lnTo>
                <a:cubicBezTo>
                  <a:pt x="1289195" y="0"/>
                  <a:pt x="1317625" y="28430"/>
                  <a:pt x="1317625" y="63499"/>
                </a:cubicBezTo>
                <a:lnTo>
                  <a:pt x="1317625" y="222251"/>
                </a:lnTo>
                <a:cubicBezTo>
                  <a:pt x="1317625" y="257320"/>
                  <a:pt x="1289195" y="285750"/>
                  <a:pt x="1254126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666814" y="671512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8" name="Text 25"/>
          <p:cNvSpPr/>
          <p:nvPr/>
        </p:nvSpPr>
        <p:spPr>
          <a:xfrm>
            <a:off x="2837470" y="6699250"/>
            <a:ext cx="896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de Données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59500" y="3722688"/>
            <a:ext cx="5715000" cy="3325813"/>
          </a:xfrm>
          <a:custGeom>
            <a:avLst/>
            <a:gdLst/>
            <a:ahLst/>
            <a:cxnLst/>
            <a:rect l="l" t="t" r="r" b="b"/>
            <a:pathLst>
              <a:path w="5715000" h="3325813">
                <a:moveTo>
                  <a:pt x="95251" y="0"/>
                </a:moveTo>
                <a:lnTo>
                  <a:pt x="5619749" y="0"/>
                </a:lnTo>
                <a:cubicBezTo>
                  <a:pt x="5672355" y="0"/>
                  <a:pt x="5715000" y="42645"/>
                  <a:pt x="5715000" y="95251"/>
                </a:cubicBezTo>
                <a:lnTo>
                  <a:pt x="5715000" y="3230561"/>
                </a:lnTo>
                <a:cubicBezTo>
                  <a:pt x="5715000" y="3283167"/>
                  <a:pt x="5672355" y="3325813"/>
                  <a:pt x="5619749" y="3325813"/>
                </a:cubicBezTo>
                <a:lnTo>
                  <a:pt x="95251" y="3325813"/>
                </a:lnTo>
                <a:cubicBezTo>
                  <a:pt x="42645" y="3325813"/>
                  <a:pt x="0" y="3283167"/>
                  <a:pt x="0" y="3230561"/>
                </a:cubicBezTo>
                <a:lnTo>
                  <a:pt x="0" y="95251"/>
                </a:lnTo>
                <a:cubicBezTo>
                  <a:pt x="0" y="42645"/>
                  <a:pt x="42645" y="0"/>
                  <a:pt x="9525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286500" y="38496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D7C">
              <a:alpha val="10196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375797" y="393700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7337" y="10130"/>
                </a:moveTo>
                <a:cubicBezTo>
                  <a:pt x="40379" y="12250"/>
                  <a:pt x="41104" y="16436"/>
                  <a:pt x="38984" y="19450"/>
                </a:cubicBezTo>
                <a:lnTo>
                  <a:pt x="23357" y="41774"/>
                </a:lnTo>
                <a:cubicBezTo>
                  <a:pt x="22213" y="43393"/>
                  <a:pt x="20427" y="44425"/>
                  <a:pt x="18445" y="44593"/>
                </a:cubicBezTo>
                <a:cubicBezTo>
                  <a:pt x="16464" y="44760"/>
                  <a:pt x="14511" y="44090"/>
                  <a:pt x="13115" y="42695"/>
                </a:cubicBezTo>
                <a:lnTo>
                  <a:pt x="1953" y="31533"/>
                </a:lnTo>
                <a:cubicBezTo>
                  <a:pt x="-642" y="28910"/>
                  <a:pt x="-642" y="24668"/>
                  <a:pt x="1953" y="22045"/>
                </a:cubicBezTo>
                <a:cubicBezTo>
                  <a:pt x="4549" y="19422"/>
                  <a:pt x="8818" y="19450"/>
                  <a:pt x="11441" y="22045"/>
                </a:cubicBezTo>
                <a:lnTo>
                  <a:pt x="16966" y="27570"/>
                </a:lnTo>
                <a:lnTo>
                  <a:pt x="28017" y="11776"/>
                </a:lnTo>
                <a:cubicBezTo>
                  <a:pt x="30138" y="8734"/>
                  <a:pt x="34323" y="8009"/>
                  <a:pt x="37337" y="10130"/>
                </a:cubicBezTo>
                <a:close/>
                <a:moveTo>
                  <a:pt x="37337" y="54778"/>
                </a:moveTo>
                <a:cubicBezTo>
                  <a:pt x="40379" y="56899"/>
                  <a:pt x="41104" y="61085"/>
                  <a:pt x="38984" y="64098"/>
                </a:cubicBezTo>
                <a:lnTo>
                  <a:pt x="23357" y="86423"/>
                </a:lnTo>
                <a:cubicBezTo>
                  <a:pt x="22213" y="88041"/>
                  <a:pt x="20427" y="89074"/>
                  <a:pt x="18445" y="89241"/>
                </a:cubicBezTo>
                <a:cubicBezTo>
                  <a:pt x="16464" y="89408"/>
                  <a:pt x="14511" y="88739"/>
                  <a:pt x="13115" y="87344"/>
                </a:cubicBezTo>
                <a:lnTo>
                  <a:pt x="1953" y="76181"/>
                </a:lnTo>
                <a:cubicBezTo>
                  <a:pt x="-670" y="73558"/>
                  <a:pt x="-670" y="69317"/>
                  <a:pt x="1953" y="66722"/>
                </a:cubicBezTo>
                <a:cubicBezTo>
                  <a:pt x="4576" y="64126"/>
                  <a:pt x="8818" y="64098"/>
                  <a:pt x="11413" y="66722"/>
                </a:cubicBezTo>
                <a:lnTo>
                  <a:pt x="16939" y="72247"/>
                </a:lnTo>
                <a:lnTo>
                  <a:pt x="27989" y="56452"/>
                </a:lnTo>
                <a:cubicBezTo>
                  <a:pt x="30110" y="53411"/>
                  <a:pt x="34296" y="52685"/>
                  <a:pt x="37309" y="54806"/>
                </a:cubicBezTo>
                <a:close/>
                <a:moveTo>
                  <a:pt x="62508" y="26789"/>
                </a:moveTo>
                <a:cubicBezTo>
                  <a:pt x="62508" y="21850"/>
                  <a:pt x="66498" y="17859"/>
                  <a:pt x="71438" y="17859"/>
                </a:cubicBezTo>
                <a:lnTo>
                  <a:pt x="133945" y="17859"/>
                </a:lnTo>
                <a:cubicBezTo>
                  <a:pt x="138885" y="17859"/>
                  <a:pt x="142875" y="21850"/>
                  <a:pt x="142875" y="26789"/>
                </a:cubicBezTo>
                <a:cubicBezTo>
                  <a:pt x="142875" y="31728"/>
                  <a:pt x="138885" y="35719"/>
                  <a:pt x="133945" y="35719"/>
                </a:cubicBezTo>
                <a:lnTo>
                  <a:pt x="71438" y="35719"/>
                </a:lnTo>
                <a:cubicBezTo>
                  <a:pt x="66498" y="35719"/>
                  <a:pt x="62508" y="31728"/>
                  <a:pt x="62508" y="26789"/>
                </a:cubicBezTo>
                <a:close/>
                <a:moveTo>
                  <a:pt x="62508" y="71438"/>
                </a:moveTo>
                <a:cubicBezTo>
                  <a:pt x="62508" y="66498"/>
                  <a:pt x="66498" y="62508"/>
                  <a:pt x="71438" y="62508"/>
                </a:cubicBezTo>
                <a:lnTo>
                  <a:pt x="133945" y="62508"/>
                </a:lnTo>
                <a:cubicBezTo>
                  <a:pt x="138885" y="62508"/>
                  <a:pt x="142875" y="66498"/>
                  <a:pt x="142875" y="71438"/>
                </a:cubicBezTo>
                <a:cubicBezTo>
                  <a:pt x="142875" y="76377"/>
                  <a:pt x="138885" y="80367"/>
                  <a:pt x="133945" y="80367"/>
                </a:cubicBezTo>
                <a:lnTo>
                  <a:pt x="71438" y="80367"/>
                </a:lnTo>
                <a:cubicBezTo>
                  <a:pt x="66498" y="80367"/>
                  <a:pt x="62508" y="76377"/>
                  <a:pt x="62508" y="71438"/>
                </a:cubicBezTo>
                <a:close/>
                <a:moveTo>
                  <a:pt x="44648" y="116086"/>
                </a:moveTo>
                <a:cubicBezTo>
                  <a:pt x="44648" y="111147"/>
                  <a:pt x="48639" y="107156"/>
                  <a:pt x="53578" y="107156"/>
                </a:cubicBezTo>
                <a:lnTo>
                  <a:pt x="133945" y="107156"/>
                </a:lnTo>
                <a:cubicBezTo>
                  <a:pt x="138885" y="107156"/>
                  <a:pt x="142875" y="111147"/>
                  <a:pt x="142875" y="116086"/>
                </a:cubicBezTo>
                <a:cubicBezTo>
                  <a:pt x="142875" y="121025"/>
                  <a:pt x="138885" y="125016"/>
                  <a:pt x="133945" y="125016"/>
                </a:cubicBezTo>
                <a:lnTo>
                  <a:pt x="53578" y="125016"/>
                </a:lnTo>
                <a:cubicBezTo>
                  <a:pt x="48639" y="125016"/>
                  <a:pt x="44648" y="121025"/>
                  <a:pt x="44648" y="116086"/>
                </a:cubicBezTo>
                <a:close/>
                <a:moveTo>
                  <a:pt x="17859" y="104924"/>
                </a:moveTo>
                <a:cubicBezTo>
                  <a:pt x="24020" y="104924"/>
                  <a:pt x="29021" y="109925"/>
                  <a:pt x="29021" y="116086"/>
                </a:cubicBezTo>
                <a:cubicBezTo>
                  <a:pt x="29021" y="122246"/>
                  <a:pt x="24020" y="127248"/>
                  <a:pt x="17859" y="127248"/>
                </a:cubicBezTo>
                <a:cubicBezTo>
                  <a:pt x="11699" y="127248"/>
                  <a:pt x="6697" y="122246"/>
                  <a:pt x="6697" y="116086"/>
                </a:cubicBezTo>
                <a:cubicBezTo>
                  <a:pt x="6697" y="109925"/>
                  <a:pt x="11699" y="104924"/>
                  <a:pt x="17859" y="104924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32" name="Text 29"/>
          <p:cNvSpPr/>
          <p:nvPr/>
        </p:nvSpPr>
        <p:spPr>
          <a:xfrm>
            <a:off x="6699250" y="3897313"/>
            <a:ext cx="202406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3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Prochaines Étapes Immédiates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286500" y="4262438"/>
            <a:ext cx="5461000" cy="595313"/>
          </a:xfrm>
          <a:custGeom>
            <a:avLst/>
            <a:gdLst/>
            <a:ahLst/>
            <a:cxnLst/>
            <a:rect l="l" t="t" r="r" b="b"/>
            <a:pathLst>
              <a:path w="5461000" h="595313">
                <a:moveTo>
                  <a:pt x="63502" y="0"/>
                </a:moveTo>
                <a:lnTo>
                  <a:pt x="5397498" y="0"/>
                </a:lnTo>
                <a:cubicBezTo>
                  <a:pt x="5432569" y="0"/>
                  <a:pt x="5461000" y="28431"/>
                  <a:pt x="5461000" y="63502"/>
                </a:cubicBezTo>
                <a:lnTo>
                  <a:pt x="5461000" y="531811"/>
                </a:lnTo>
                <a:cubicBezTo>
                  <a:pt x="5461000" y="566882"/>
                  <a:pt x="5432569" y="595312"/>
                  <a:pt x="5397498" y="595313"/>
                </a:cubicBezTo>
                <a:lnTo>
                  <a:pt x="63502" y="595313"/>
                </a:lnTo>
                <a:cubicBezTo>
                  <a:pt x="28431" y="595313"/>
                  <a:pt x="0" y="566882"/>
                  <a:pt x="0" y="5318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4" name="Shape 31"/>
          <p:cNvSpPr/>
          <p:nvPr/>
        </p:nvSpPr>
        <p:spPr>
          <a:xfrm>
            <a:off x="6381750" y="435768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35" name="Text 32"/>
          <p:cNvSpPr/>
          <p:nvPr/>
        </p:nvSpPr>
        <p:spPr>
          <a:xfrm>
            <a:off x="6486488" y="4405313"/>
            <a:ext cx="10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731000" y="4357688"/>
            <a:ext cx="255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Intégration SHAP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731000" y="4579938"/>
            <a:ext cx="25479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Explications individualisées pour chaque prédiction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286500" y="4951016"/>
            <a:ext cx="5461000" cy="595313"/>
          </a:xfrm>
          <a:custGeom>
            <a:avLst/>
            <a:gdLst/>
            <a:ahLst/>
            <a:cxnLst/>
            <a:rect l="l" t="t" r="r" b="b"/>
            <a:pathLst>
              <a:path w="5461000" h="595313">
                <a:moveTo>
                  <a:pt x="63502" y="0"/>
                </a:moveTo>
                <a:lnTo>
                  <a:pt x="5397498" y="0"/>
                </a:lnTo>
                <a:cubicBezTo>
                  <a:pt x="5432569" y="0"/>
                  <a:pt x="5461000" y="28431"/>
                  <a:pt x="5461000" y="63502"/>
                </a:cubicBezTo>
                <a:lnTo>
                  <a:pt x="5461000" y="531811"/>
                </a:lnTo>
                <a:cubicBezTo>
                  <a:pt x="5461000" y="566882"/>
                  <a:pt x="5432569" y="595312"/>
                  <a:pt x="5397498" y="595313"/>
                </a:cubicBezTo>
                <a:lnTo>
                  <a:pt x="63502" y="595313"/>
                </a:lnTo>
                <a:cubicBezTo>
                  <a:pt x="28431" y="595313"/>
                  <a:pt x="0" y="566882"/>
                  <a:pt x="0" y="5318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9" name="Shape 36"/>
          <p:cNvSpPr/>
          <p:nvPr/>
        </p:nvSpPr>
        <p:spPr>
          <a:xfrm>
            <a:off x="6381750" y="504626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3A4A"/>
          </a:solidFill>
          <a:ln/>
        </p:spPr>
      </p:sp>
      <p:sp>
        <p:nvSpPr>
          <p:cNvPr id="40" name="Text 37"/>
          <p:cNvSpPr/>
          <p:nvPr/>
        </p:nvSpPr>
        <p:spPr>
          <a:xfrm>
            <a:off x="6476442" y="5093891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731000" y="5046266"/>
            <a:ext cx="173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Tuning du seuil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731000" y="5268516"/>
            <a:ext cx="1722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Minimisation du coût clinique total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286500" y="5639594"/>
            <a:ext cx="5461000" cy="595313"/>
          </a:xfrm>
          <a:custGeom>
            <a:avLst/>
            <a:gdLst/>
            <a:ahLst/>
            <a:cxnLst/>
            <a:rect l="l" t="t" r="r" b="b"/>
            <a:pathLst>
              <a:path w="5461000" h="595313">
                <a:moveTo>
                  <a:pt x="63502" y="0"/>
                </a:moveTo>
                <a:lnTo>
                  <a:pt x="5397498" y="0"/>
                </a:lnTo>
                <a:cubicBezTo>
                  <a:pt x="5432569" y="0"/>
                  <a:pt x="5461000" y="28431"/>
                  <a:pt x="5461000" y="63502"/>
                </a:cubicBezTo>
                <a:lnTo>
                  <a:pt x="5461000" y="531811"/>
                </a:lnTo>
                <a:cubicBezTo>
                  <a:pt x="5461000" y="566882"/>
                  <a:pt x="5432569" y="595312"/>
                  <a:pt x="5397498" y="595313"/>
                </a:cubicBezTo>
                <a:lnTo>
                  <a:pt x="63502" y="595313"/>
                </a:lnTo>
                <a:cubicBezTo>
                  <a:pt x="28431" y="595313"/>
                  <a:pt x="0" y="566882"/>
                  <a:pt x="0" y="5318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4" name="Shape 41"/>
          <p:cNvSpPr/>
          <p:nvPr/>
        </p:nvSpPr>
        <p:spPr>
          <a:xfrm>
            <a:off x="6381750" y="573484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D7C"/>
          </a:solidFill>
          <a:ln/>
        </p:spPr>
      </p:sp>
      <p:sp>
        <p:nvSpPr>
          <p:cNvPr id="45" name="Text 42"/>
          <p:cNvSpPr/>
          <p:nvPr/>
        </p:nvSpPr>
        <p:spPr>
          <a:xfrm>
            <a:off x="6475946" y="5782469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731000" y="5734844"/>
            <a:ext cx="182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sur données externes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731000" y="5957094"/>
            <a:ext cx="1817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sur cohorte indépendante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286500" y="6328172"/>
            <a:ext cx="5461000" cy="595313"/>
          </a:xfrm>
          <a:custGeom>
            <a:avLst/>
            <a:gdLst/>
            <a:ahLst/>
            <a:cxnLst/>
            <a:rect l="l" t="t" r="r" b="b"/>
            <a:pathLst>
              <a:path w="5461000" h="595313">
                <a:moveTo>
                  <a:pt x="63502" y="0"/>
                </a:moveTo>
                <a:lnTo>
                  <a:pt x="5397498" y="0"/>
                </a:lnTo>
                <a:cubicBezTo>
                  <a:pt x="5432569" y="0"/>
                  <a:pt x="5461000" y="28431"/>
                  <a:pt x="5461000" y="63502"/>
                </a:cubicBezTo>
                <a:lnTo>
                  <a:pt x="5461000" y="531811"/>
                </a:lnTo>
                <a:cubicBezTo>
                  <a:pt x="5461000" y="566882"/>
                  <a:pt x="5432569" y="595312"/>
                  <a:pt x="5397498" y="595313"/>
                </a:cubicBezTo>
                <a:lnTo>
                  <a:pt x="63502" y="595313"/>
                </a:lnTo>
                <a:cubicBezTo>
                  <a:pt x="28431" y="595313"/>
                  <a:pt x="0" y="566882"/>
                  <a:pt x="0" y="5318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9" name="Shape 46"/>
          <p:cNvSpPr/>
          <p:nvPr/>
        </p:nvSpPr>
        <p:spPr>
          <a:xfrm>
            <a:off x="6381750" y="642342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50" name="Text 47"/>
          <p:cNvSpPr/>
          <p:nvPr/>
        </p:nvSpPr>
        <p:spPr>
          <a:xfrm>
            <a:off x="6476008" y="6471047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731000" y="6423422"/>
            <a:ext cx="1960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Développement API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731000" y="6645672"/>
            <a:ext cx="1952625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Prototype de service web avec FastAPI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caa89d6c2e4baf69dfa6e754f6f2cd39a49bb901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3A4A">
                  <a:alpha val="95000"/>
                </a:srgbClr>
              </a:gs>
              <a:gs pos="50000">
                <a:srgbClr val="1A3A4A">
                  <a:alpha val="90000"/>
                </a:srgbClr>
              </a:gs>
              <a:gs pos="100000">
                <a:srgbClr val="4A6D7C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57850" y="1000125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D95D5D">
              <a:alpha val="20000"/>
            </a:srgbClr>
          </a:solidFill>
          <a:ln w="50800">
            <a:solidFill>
              <a:srgbClr val="D95D5D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67400" y="1209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96351"/>
                </a:moveTo>
                <a:lnTo>
                  <a:pt x="215205" y="77778"/>
                </a:lnTo>
                <a:cubicBezTo>
                  <a:pt x="192881" y="46881"/>
                  <a:pt x="157073" y="28575"/>
                  <a:pt x="118854" y="28575"/>
                </a:cubicBezTo>
                <a:cubicBezTo>
                  <a:pt x="53221" y="28575"/>
                  <a:pt x="0" y="81796"/>
                  <a:pt x="0" y="147429"/>
                </a:cubicBezTo>
                <a:lnTo>
                  <a:pt x="0" y="149751"/>
                </a:lnTo>
                <a:cubicBezTo>
                  <a:pt x="0" y="170825"/>
                  <a:pt x="5536" y="192613"/>
                  <a:pt x="14823" y="214313"/>
                </a:cubicBezTo>
                <a:lnTo>
                  <a:pt x="109478" y="214313"/>
                </a:lnTo>
                <a:cubicBezTo>
                  <a:pt x="112335" y="214313"/>
                  <a:pt x="114925" y="212616"/>
                  <a:pt x="116086" y="209937"/>
                </a:cubicBezTo>
                <a:lnTo>
                  <a:pt x="144482" y="141803"/>
                </a:lnTo>
                <a:cubicBezTo>
                  <a:pt x="147786" y="133945"/>
                  <a:pt x="155466" y="128766"/>
                  <a:pt x="163949" y="128588"/>
                </a:cubicBezTo>
                <a:cubicBezTo>
                  <a:pt x="172432" y="128409"/>
                  <a:pt x="180290" y="133410"/>
                  <a:pt x="183773" y="141178"/>
                </a:cubicBezTo>
                <a:lnTo>
                  <a:pt x="229582" y="242888"/>
                </a:lnTo>
                <a:lnTo>
                  <a:pt x="266551" y="168950"/>
                </a:lnTo>
                <a:cubicBezTo>
                  <a:pt x="270212" y="161717"/>
                  <a:pt x="277624" y="157073"/>
                  <a:pt x="285750" y="157073"/>
                </a:cubicBezTo>
                <a:cubicBezTo>
                  <a:pt x="293876" y="157073"/>
                  <a:pt x="301288" y="161627"/>
                  <a:pt x="304949" y="168950"/>
                </a:cubicBezTo>
                <a:lnTo>
                  <a:pt x="325666" y="210294"/>
                </a:lnTo>
                <a:cubicBezTo>
                  <a:pt x="326916" y="212705"/>
                  <a:pt x="329327" y="214223"/>
                  <a:pt x="332095" y="214223"/>
                </a:cubicBezTo>
                <a:lnTo>
                  <a:pt x="442466" y="214223"/>
                </a:lnTo>
                <a:cubicBezTo>
                  <a:pt x="451842" y="192524"/>
                  <a:pt x="457289" y="170736"/>
                  <a:pt x="457289" y="149662"/>
                </a:cubicBezTo>
                <a:lnTo>
                  <a:pt x="457289" y="147340"/>
                </a:lnTo>
                <a:cubicBezTo>
                  <a:pt x="457200" y="81796"/>
                  <a:pt x="403979" y="28575"/>
                  <a:pt x="338346" y="28575"/>
                </a:cubicBezTo>
                <a:cubicBezTo>
                  <a:pt x="300216" y="28575"/>
                  <a:pt x="264319" y="46881"/>
                  <a:pt x="241995" y="77778"/>
                </a:cubicBezTo>
                <a:lnTo>
                  <a:pt x="228600" y="96262"/>
                </a:lnTo>
                <a:close/>
                <a:moveTo>
                  <a:pt x="419338" y="257175"/>
                </a:moveTo>
                <a:lnTo>
                  <a:pt x="332006" y="257175"/>
                </a:lnTo>
                <a:cubicBezTo>
                  <a:pt x="313075" y="257175"/>
                  <a:pt x="295751" y="246459"/>
                  <a:pt x="287268" y="229493"/>
                </a:cubicBezTo>
                <a:lnTo>
                  <a:pt x="285750" y="226457"/>
                </a:lnTo>
                <a:lnTo>
                  <a:pt x="247799" y="302449"/>
                </a:lnTo>
                <a:cubicBezTo>
                  <a:pt x="244138" y="309860"/>
                  <a:pt x="236458" y="314504"/>
                  <a:pt x="228154" y="314325"/>
                </a:cubicBezTo>
                <a:cubicBezTo>
                  <a:pt x="219849" y="314146"/>
                  <a:pt x="212437" y="309235"/>
                  <a:pt x="209044" y="301734"/>
                </a:cubicBezTo>
                <a:lnTo>
                  <a:pt x="165021" y="203954"/>
                </a:lnTo>
                <a:lnTo>
                  <a:pt x="155644" y="226457"/>
                </a:lnTo>
                <a:cubicBezTo>
                  <a:pt x="147876" y="245120"/>
                  <a:pt x="129659" y="257264"/>
                  <a:pt x="109478" y="257264"/>
                </a:cubicBezTo>
                <a:lnTo>
                  <a:pt x="37862" y="257264"/>
                </a:lnTo>
                <a:cubicBezTo>
                  <a:pt x="80010" y="323165"/>
                  <a:pt x="147697" y="383798"/>
                  <a:pt x="190024" y="416123"/>
                </a:cubicBezTo>
                <a:cubicBezTo>
                  <a:pt x="201097" y="424517"/>
                  <a:pt x="214670" y="428714"/>
                  <a:pt x="228511" y="428714"/>
                </a:cubicBezTo>
                <a:cubicBezTo>
                  <a:pt x="242352" y="428714"/>
                  <a:pt x="256014" y="424607"/>
                  <a:pt x="266998" y="416123"/>
                </a:cubicBezTo>
                <a:cubicBezTo>
                  <a:pt x="309503" y="383709"/>
                  <a:pt x="377190" y="323076"/>
                  <a:pt x="419338" y="257175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6" name="Text 3"/>
          <p:cNvSpPr/>
          <p:nvPr/>
        </p:nvSpPr>
        <p:spPr>
          <a:xfrm>
            <a:off x="3168476" y="2124075"/>
            <a:ext cx="5857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Merci de votre attention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254201" y="2847975"/>
            <a:ext cx="5686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et discussion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443163" y="3462338"/>
            <a:ext cx="7305675" cy="1876425"/>
          </a:xfrm>
          <a:custGeom>
            <a:avLst/>
            <a:gdLst/>
            <a:ahLst/>
            <a:cxnLst/>
            <a:rect l="l" t="t" r="r" b="b"/>
            <a:pathLst>
              <a:path w="7305675" h="1876425">
                <a:moveTo>
                  <a:pt x="152403" y="0"/>
                </a:moveTo>
                <a:lnTo>
                  <a:pt x="7153272" y="0"/>
                </a:lnTo>
                <a:cubicBezTo>
                  <a:pt x="7237442" y="0"/>
                  <a:pt x="7305675" y="68233"/>
                  <a:pt x="7305675" y="152403"/>
                </a:cubicBezTo>
                <a:lnTo>
                  <a:pt x="7305675" y="1724022"/>
                </a:lnTo>
                <a:cubicBezTo>
                  <a:pt x="7305675" y="1808192"/>
                  <a:pt x="7237442" y="1876425"/>
                  <a:pt x="7153272" y="1876425"/>
                </a:cubicBezTo>
                <a:lnTo>
                  <a:pt x="152403" y="1876425"/>
                </a:lnTo>
                <a:cubicBezTo>
                  <a:pt x="68233" y="1876425"/>
                  <a:pt x="0" y="1808192"/>
                  <a:pt x="0" y="1724022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 w="12700">
            <a:solidFill>
              <a:srgbClr val="F8F9FA">
                <a:alpha val="2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60700" y="3771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95D5D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665488" y="3962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11" name="Text 8"/>
          <p:cNvSpPr/>
          <p:nvPr/>
        </p:nvSpPr>
        <p:spPr>
          <a:xfrm>
            <a:off x="2709863" y="4533900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Takwa Haj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719388" y="48387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Projet de Machine Learning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791126" y="3771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95D5D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995913" y="3962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15" name="Text 12"/>
          <p:cNvSpPr/>
          <p:nvPr/>
        </p:nvSpPr>
        <p:spPr>
          <a:xfrm>
            <a:off x="5040288" y="4533900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2025-2026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49813" y="48387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Année Académique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21625" y="3771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95D5D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8312125" y="3962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1" y="28575"/>
                </a:moveTo>
                <a:cubicBezTo>
                  <a:pt x="9599" y="28575"/>
                  <a:pt x="0" y="38174"/>
                  <a:pt x="0" y="50006"/>
                </a:cubicBezTo>
                <a:cubicBezTo>
                  <a:pt x="0" y="56748"/>
                  <a:pt x="3170" y="63088"/>
                  <a:pt x="8573" y="67151"/>
                </a:cubicBezTo>
                <a:lnTo>
                  <a:pt x="101441" y="136803"/>
                </a:lnTo>
                <a:cubicBezTo>
                  <a:pt x="109076" y="142518"/>
                  <a:pt x="119524" y="142518"/>
                  <a:pt x="127159" y="136803"/>
                </a:cubicBezTo>
                <a:lnTo>
                  <a:pt x="220028" y="67151"/>
                </a:lnTo>
                <a:cubicBezTo>
                  <a:pt x="225430" y="63088"/>
                  <a:pt x="228600" y="56748"/>
                  <a:pt x="228600" y="50006"/>
                </a:cubicBezTo>
                <a:cubicBezTo>
                  <a:pt x="228600" y="38174"/>
                  <a:pt x="219001" y="28575"/>
                  <a:pt x="207169" y="28575"/>
                </a:cubicBezTo>
                <a:lnTo>
                  <a:pt x="21431" y="28575"/>
                </a:lnTo>
                <a:close/>
                <a:moveTo>
                  <a:pt x="0" y="87511"/>
                </a:move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87511"/>
                </a:lnTo>
                <a:lnTo>
                  <a:pt x="140018" y="153948"/>
                </a:lnTo>
                <a:cubicBezTo>
                  <a:pt x="124792" y="165378"/>
                  <a:pt x="103808" y="165378"/>
                  <a:pt x="88583" y="153948"/>
                </a:cubicBezTo>
                <a:lnTo>
                  <a:pt x="0" y="87511"/>
                </a:lnTo>
                <a:close/>
              </a:path>
            </a:pathLst>
          </a:custGeom>
          <a:solidFill>
            <a:srgbClr val="D95D5D"/>
          </a:solidFill>
          <a:ln/>
        </p:spPr>
      </p:sp>
      <p:sp>
        <p:nvSpPr>
          <p:cNvPr id="19" name="Text 16"/>
          <p:cNvSpPr/>
          <p:nvPr/>
        </p:nvSpPr>
        <p:spPr>
          <a:xfrm>
            <a:off x="7370713" y="4533900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80238" y="48387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takwa.haj@polytechnicien.tn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39630" y="5648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7644" y="177433"/>
                </a:moveTo>
                <a:cubicBezTo>
                  <a:pt x="77644" y="178326"/>
                  <a:pt x="76617" y="179040"/>
                  <a:pt x="75322" y="179040"/>
                </a:cubicBezTo>
                <a:cubicBezTo>
                  <a:pt x="73849" y="179174"/>
                  <a:pt x="72822" y="178460"/>
                  <a:pt x="72822" y="177433"/>
                </a:cubicBezTo>
                <a:cubicBezTo>
                  <a:pt x="72822" y="176540"/>
                  <a:pt x="73849" y="175826"/>
                  <a:pt x="75143" y="175826"/>
                </a:cubicBezTo>
                <a:cubicBezTo>
                  <a:pt x="76483" y="175692"/>
                  <a:pt x="77644" y="176406"/>
                  <a:pt x="77644" y="177433"/>
                </a:cubicBezTo>
                <a:close/>
                <a:moveTo>
                  <a:pt x="63758" y="175424"/>
                </a:moveTo>
                <a:cubicBezTo>
                  <a:pt x="63445" y="176317"/>
                  <a:pt x="64338" y="177344"/>
                  <a:pt x="65678" y="177611"/>
                </a:cubicBezTo>
                <a:cubicBezTo>
                  <a:pt x="66839" y="178058"/>
                  <a:pt x="68178" y="177611"/>
                  <a:pt x="68446" y="176719"/>
                </a:cubicBezTo>
                <a:cubicBezTo>
                  <a:pt x="68714" y="175826"/>
                  <a:pt x="67866" y="174799"/>
                  <a:pt x="66526" y="174397"/>
                </a:cubicBezTo>
                <a:cubicBezTo>
                  <a:pt x="65365" y="174084"/>
                  <a:pt x="64071" y="174531"/>
                  <a:pt x="63758" y="175424"/>
                </a:cubicBezTo>
                <a:close/>
                <a:moveTo>
                  <a:pt x="83493" y="174665"/>
                </a:moveTo>
                <a:cubicBezTo>
                  <a:pt x="82198" y="174977"/>
                  <a:pt x="81305" y="175826"/>
                  <a:pt x="81439" y="176852"/>
                </a:cubicBezTo>
                <a:cubicBezTo>
                  <a:pt x="81573" y="177745"/>
                  <a:pt x="82734" y="178326"/>
                  <a:pt x="84073" y="178013"/>
                </a:cubicBezTo>
                <a:cubicBezTo>
                  <a:pt x="85368" y="177701"/>
                  <a:pt x="86261" y="176852"/>
                  <a:pt x="86127" y="175959"/>
                </a:cubicBezTo>
                <a:cubicBezTo>
                  <a:pt x="85993" y="175111"/>
                  <a:pt x="84787" y="174531"/>
                  <a:pt x="83493" y="174665"/>
                </a:cubicBezTo>
                <a:close/>
                <a:moveTo>
                  <a:pt x="112871" y="3572"/>
                </a:moveTo>
                <a:cubicBezTo>
                  <a:pt x="50944" y="3572"/>
                  <a:pt x="3572" y="50587"/>
                  <a:pt x="3572" y="112514"/>
                </a:cubicBezTo>
                <a:cubicBezTo>
                  <a:pt x="3572" y="162029"/>
                  <a:pt x="34736" y="204401"/>
                  <a:pt x="79251" y="219313"/>
                </a:cubicBezTo>
                <a:cubicBezTo>
                  <a:pt x="84966" y="220340"/>
                  <a:pt x="86975" y="216813"/>
                  <a:pt x="86975" y="213911"/>
                </a:cubicBezTo>
                <a:cubicBezTo>
                  <a:pt x="86975" y="211142"/>
                  <a:pt x="86841" y="195873"/>
                  <a:pt x="86841" y="186497"/>
                </a:cubicBezTo>
                <a:cubicBezTo>
                  <a:pt x="86841" y="186497"/>
                  <a:pt x="55587" y="193194"/>
                  <a:pt x="49024" y="173191"/>
                </a:cubicBezTo>
                <a:cubicBezTo>
                  <a:pt x="49024" y="173191"/>
                  <a:pt x="43934" y="160199"/>
                  <a:pt x="36612" y="156850"/>
                </a:cubicBezTo>
                <a:cubicBezTo>
                  <a:pt x="36612" y="156850"/>
                  <a:pt x="26387" y="149840"/>
                  <a:pt x="37326" y="149974"/>
                </a:cubicBezTo>
                <a:cubicBezTo>
                  <a:pt x="37326" y="149974"/>
                  <a:pt x="48444" y="150867"/>
                  <a:pt x="54560" y="161493"/>
                </a:cubicBezTo>
                <a:cubicBezTo>
                  <a:pt x="64338" y="178728"/>
                  <a:pt x="80724" y="173772"/>
                  <a:pt x="87109" y="170825"/>
                </a:cubicBezTo>
                <a:cubicBezTo>
                  <a:pt x="88136" y="163681"/>
                  <a:pt x="91038" y="158725"/>
                  <a:pt x="94253" y="155778"/>
                </a:cubicBezTo>
                <a:cubicBezTo>
                  <a:pt x="69294" y="153010"/>
                  <a:pt x="44113" y="149394"/>
                  <a:pt x="44113" y="106442"/>
                </a:cubicBezTo>
                <a:cubicBezTo>
                  <a:pt x="44113" y="94164"/>
                  <a:pt x="47506" y="88002"/>
                  <a:pt x="54650" y="80144"/>
                </a:cubicBezTo>
                <a:cubicBezTo>
                  <a:pt x="53489" y="77242"/>
                  <a:pt x="49694" y="65276"/>
                  <a:pt x="55811" y="49828"/>
                </a:cubicBezTo>
                <a:cubicBezTo>
                  <a:pt x="65142" y="46926"/>
                  <a:pt x="86618" y="61883"/>
                  <a:pt x="86618" y="61883"/>
                </a:cubicBezTo>
                <a:cubicBezTo>
                  <a:pt x="95548" y="59382"/>
                  <a:pt x="105147" y="58088"/>
                  <a:pt x="114657" y="58088"/>
                </a:cubicBezTo>
                <a:cubicBezTo>
                  <a:pt x="124167" y="58088"/>
                  <a:pt x="133767" y="59382"/>
                  <a:pt x="142696" y="61883"/>
                </a:cubicBezTo>
                <a:cubicBezTo>
                  <a:pt x="142696" y="61883"/>
                  <a:pt x="164172" y="46881"/>
                  <a:pt x="173504" y="49828"/>
                </a:cubicBezTo>
                <a:cubicBezTo>
                  <a:pt x="179621" y="65321"/>
                  <a:pt x="175826" y="77242"/>
                  <a:pt x="174665" y="80144"/>
                </a:cubicBezTo>
                <a:cubicBezTo>
                  <a:pt x="181808" y="88047"/>
                  <a:pt x="186184" y="94208"/>
                  <a:pt x="186184" y="106442"/>
                </a:cubicBezTo>
                <a:cubicBezTo>
                  <a:pt x="186184" y="149528"/>
                  <a:pt x="159886" y="152966"/>
                  <a:pt x="134928" y="155778"/>
                </a:cubicBezTo>
                <a:cubicBezTo>
                  <a:pt x="139035" y="159306"/>
                  <a:pt x="142518" y="166003"/>
                  <a:pt x="142518" y="176495"/>
                </a:cubicBezTo>
                <a:cubicBezTo>
                  <a:pt x="142518" y="191542"/>
                  <a:pt x="142384" y="210160"/>
                  <a:pt x="142384" y="213821"/>
                </a:cubicBezTo>
                <a:cubicBezTo>
                  <a:pt x="142384" y="216724"/>
                  <a:pt x="144438" y="220251"/>
                  <a:pt x="150108" y="219224"/>
                </a:cubicBezTo>
                <a:cubicBezTo>
                  <a:pt x="194756" y="204401"/>
                  <a:pt x="225028" y="162029"/>
                  <a:pt x="225028" y="112514"/>
                </a:cubicBezTo>
                <a:cubicBezTo>
                  <a:pt x="225028" y="50587"/>
                  <a:pt x="174799" y="3572"/>
                  <a:pt x="112871" y="3572"/>
                </a:cubicBezTo>
                <a:close/>
                <a:moveTo>
                  <a:pt x="46970" y="157564"/>
                </a:moveTo>
                <a:cubicBezTo>
                  <a:pt x="46390" y="158011"/>
                  <a:pt x="46524" y="159038"/>
                  <a:pt x="47283" y="159886"/>
                </a:cubicBezTo>
                <a:cubicBezTo>
                  <a:pt x="47997" y="160600"/>
                  <a:pt x="49024" y="160913"/>
                  <a:pt x="49604" y="160333"/>
                </a:cubicBezTo>
                <a:cubicBezTo>
                  <a:pt x="50185" y="159886"/>
                  <a:pt x="50051" y="158859"/>
                  <a:pt x="49292" y="158011"/>
                </a:cubicBezTo>
                <a:cubicBezTo>
                  <a:pt x="48578" y="157296"/>
                  <a:pt x="47551" y="156984"/>
                  <a:pt x="46970" y="157564"/>
                </a:cubicBezTo>
                <a:close/>
                <a:moveTo>
                  <a:pt x="42148" y="153948"/>
                </a:moveTo>
                <a:cubicBezTo>
                  <a:pt x="41836" y="154528"/>
                  <a:pt x="42282" y="155243"/>
                  <a:pt x="43175" y="155689"/>
                </a:cubicBezTo>
                <a:cubicBezTo>
                  <a:pt x="43889" y="156136"/>
                  <a:pt x="44782" y="156002"/>
                  <a:pt x="45095" y="155377"/>
                </a:cubicBezTo>
                <a:cubicBezTo>
                  <a:pt x="45407" y="154796"/>
                  <a:pt x="44961" y="154082"/>
                  <a:pt x="44068" y="153635"/>
                </a:cubicBezTo>
                <a:cubicBezTo>
                  <a:pt x="43175" y="153367"/>
                  <a:pt x="42461" y="153501"/>
                  <a:pt x="42148" y="153948"/>
                </a:cubicBezTo>
                <a:close/>
                <a:moveTo>
                  <a:pt x="56614" y="169843"/>
                </a:moveTo>
                <a:cubicBezTo>
                  <a:pt x="55900" y="170423"/>
                  <a:pt x="56168" y="171763"/>
                  <a:pt x="57195" y="172611"/>
                </a:cubicBezTo>
                <a:cubicBezTo>
                  <a:pt x="58222" y="173638"/>
                  <a:pt x="59516" y="173772"/>
                  <a:pt x="60097" y="173057"/>
                </a:cubicBezTo>
                <a:cubicBezTo>
                  <a:pt x="60677" y="172477"/>
                  <a:pt x="60409" y="171137"/>
                  <a:pt x="59516" y="170289"/>
                </a:cubicBezTo>
                <a:cubicBezTo>
                  <a:pt x="58534" y="169262"/>
                  <a:pt x="57195" y="169128"/>
                  <a:pt x="56614" y="169843"/>
                </a:cubicBezTo>
                <a:close/>
                <a:moveTo>
                  <a:pt x="51524" y="163279"/>
                </a:moveTo>
                <a:cubicBezTo>
                  <a:pt x="50810" y="163726"/>
                  <a:pt x="50810" y="164887"/>
                  <a:pt x="51524" y="165914"/>
                </a:cubicBezTo>
                <a:cubicBezTo>
                  <a:pt x="52239" y="166941"/>
                  <a:pt x="53444" y="167387"/>
                  <a:pt x="54025" y="166941"/>
                </a:cubicBezTo>
                <a:cubicBezTo>
                  <a:pt x="54739" y="166360"/>
                  <a:pt x="54739" y="165199"/>
                  <a:pt x="54025" y="164172"/>
                </a:cubicBezTo>
                <a:cubicBezTo>
                  <a:pt x="53400" y="163145"/>
                  <a:pt x="52239" y="162699"/>
                  <a:pt x="51524" y="163279"/>
                </a:cubicBezTo>
                <a:close/>
              </a:path>
            </a:pathLst>
          </a:custGeom>
          <a:solidFill>
            <a:srgbClr val="F8F9FA">
              <a:alpha val="6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4911105" y="5648325"/>
            <a:ext cx="2809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github.com/takwa-haj/cardiovascular-ml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des Maladies Cardiovasculaires</dc:title>
  <dc:subject>Prédiction des Maladies Cardiovasculaires</dc:subject>
  <dc:creator>Kimi</dc:creator>
  <cp:lastModifiedBy>Kimi</cp:lastModifiedBy>
  <cp:revision>1</cp:revision>
  <dcterms:created xsi:type="dcterms:W3CDTF">2026-04-14T09:16:46Z</dcterms:created>
  <dcterms:modified xsi:type="dcterms:W3CDTF">2026-04-14T09:16:46Z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{"Label":"Prédiction des Maladies Cardiovasculaires","ContentProducer":"001191110108MACG2KBH8F10000","ProduceID":"19d8b454-c0b2-8f8b-8000-000031c38ad2","ReservedCode1":"","ContentPropagator":"001191110108MACG2KBH8F20000","PropagateID":"19d8b454-c0b2-8f8b-8000-000031c38ad2","ReservedCode2":""}</vt:lpwstr>
  </property>
</Properties>
</file>