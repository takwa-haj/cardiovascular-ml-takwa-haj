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48640"/>
            <a:ext cx="1005840" cy="10058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</a:rPr>
              <a:t>♥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169164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Cardiovascular Disease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24231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3200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End-to-End Project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703320"/>
            <a:ext cx="27432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38862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Takwa Haj  |  2025–2026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2011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17.9M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deaths/year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cardiovascular disease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(WHO, 2023)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143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#1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320040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leading cause of death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globally — ahead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cancer &amp; diabetes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560320" cy="2011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143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80%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603504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of premature CVD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cases are preventable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with early detection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8412480" cy="128016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337560"/>
            <a:ext cx="64008" cy="12801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29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Research Question: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2342"/>
                </a:solidFill>
              </a:rPr>
              <a:t>Can we build a reliable ML classifier that predicts cardiovascular disease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A2342"/>
                </a:solidFill>
              </a:rPr>
              <a:t>from clinical measurements and lifestyle indicators?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Multi-Source Dataset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0" y="1005840"/>
            <a:ext cx="19202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005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75,265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Total Patients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6309360" cy="100584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51560"/>
            <a:ext cx="201168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UCI Heart Disease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99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Hospital cardiology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550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Source: UCI ML Repository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097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1,025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1399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patients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10972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342"/>
                </a:solidFill>
              </a:rPr>
              <a:t>14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1399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features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1143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~46% pos.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40280"/>
            <a:ext cx="6309360" cy="100584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240280"/>
            <a:ext cx="201168" cy="10058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Framingham Heart Study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2587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3946"/>
                </a:solidFill>
              </a:rPr>
              <a:t>Population cohort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8437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Source: NHLBI / Kaggle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2286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</a:rPr>
              <a:t>4,240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480560" y="2587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patients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2286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342"/>
                </a:solidFill>
              </a:rPr>
              <a:t>15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25877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features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23317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~15% pos.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429000"/>
            <a:ext cx="6309360" cy="100584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429000"/>
            <a:ext cx="201168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Kaggle CVD Dataset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3776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Mass screening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0325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Source: Kaggle (Sulianova)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3474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70,000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480560" y="37764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patients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3474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342"/>
                </a:solidFill>
              </a:rPr>
              <a:t>12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86400" y="37764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features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3520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~50% pos.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1051560" cy="10972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07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70992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Definition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1783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234440"/>
            <a:ext cx="105156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307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170992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EDA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Visualization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783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234440"/>
            <a:ext cx="105156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307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170992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Preprocessing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&amp; Cleaning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1783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1234440"/>
            <a:ext cx="105156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1307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94760" y="170992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783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1234440"/>
            <a:ext cx="1051560" cy="10972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307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83480" y="170992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Training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783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234440"/>
            <a:ext cx="1051560" cy="10972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1307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72200" y="170992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Evaluation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Optimization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1783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1234440"/>
            <a:ext cx="1051560" cy="10972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1307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60920" y="170992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Conclusions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2606040"/>
            <a:ext cx="2743200" cy="210312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" y="2606040"/>
            <a:ext cx="2743200" cy="34747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26243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EDA Highlights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" y="303580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</a:rPr>
              <a:t>Stats &amp; distributions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4048" y="34290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</a:rPr>
              <a:t>Correlation heatmaps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4048" y="382219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</a:rPr>
              <a:t>Class balance analysis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84048" y="421538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</a:rPr>
              <a:t>Outlier detection (IQR)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46120" y="2606040"/>
            <a:ext cx="2743200" cy="210312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39" name="Shape 37"/>
          <p:cNvSpPr/>
          <p:nvPr/>
        </p:nvSpPr>
        <p:spPr>
          <a:xfrm>
            <a:off x="3246120" y="2606040"/>
            <a:ext cx="2743200" cy="34747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0" name="Text 38"/>
          <p:cNvSpPr/>
          <p:nvPr/>
        </p:nvSpPr>
        <p:spPr>
          <a:xfrm>
            <a:off x="3337560" y="26243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 Actions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55848" y="303580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</a:rPr>
              <a:t>Impute missing values (median)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355848" y="34290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</a:rPr>
              <a:t>Binarize UCI target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355848" y="382219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</a:rPr>
              <a:t>Convert Kaggle age (days→years)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355848" y="421538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</a:rPr>
              <a:t>Recode Kaggle gender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17920" y="2606040"/>
            <a:ext cx="2743200" cy="210312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46" name="Shape 44"/>
          <p:cNvSpPr/>
          <p:nvPr/>
        </p:nvSpPr>
        <p:spPr>
          <a:xfrm>
            <a:off x="6217920" y="2606040"/>
            <a:ext cx="2743200" cy="34747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26243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27648" y="303580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</a:rPr>
              <a:t>age_group (4 categories)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327648" y="34290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</a:rPr>
              <a:t>hypertension flag (BP≥140)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27648" y="382219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</a:rPr>
              <a:t>bp_severity (5 levels)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327648" y="421538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</a:rPr>
              <a:t>obese / overweight flags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274320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24128"/>
            <a:ext cx="3840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Predictors (UCI Correlation)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thal (thalassemia)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609344"/>
            <a:ext cx="1207008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5544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+0.53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ca (vessels colored)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2039112"/>
            <a:ext cx="1060704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98424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+0.47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140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oldpeak (ST depression)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2468880"/>
            <a:ext cx="987552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4140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+0.43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8437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cp (chest pain type)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2898648"/>
            <a:ext cx="987552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843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+0.43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2735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thalach (max heart rate)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31720" y="3328416"/>
            <a:ext cx="950976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2735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−0.42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005840"/>
            <a:ext cx="4297680" cy="128016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1005840"/>
            <a:ext cx="4297680" cy="4114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024128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Imbalance Challenge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148132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UCI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1709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46%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positive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80760" y="148132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Framingham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1709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15%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positive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52360" y="148132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Kaggle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52360" y="1709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50%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positive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0" y="2423160"/>
            <a:ext cx="4297680" cy="132588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2423160"/>
            <a:ext cx="64008" cy="13258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24505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81728" y="28163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Males show higher CVD prevalence than females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81728" y="31181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Older patients (&gt;55) have significantly higher risk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81728" y="341985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Asymptomatic chest pain paradoxically = highest CVD risk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81728" y="372160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Max heart rate inversely correlated with disease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931920"/>
            <a:ext cx="8595360" cy="8229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99592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Action: Use class_weight='balanced' + SMOTE for Framingham imbalance — IQR capping for BP/cholesterol outliers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&amp; Evaluation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1965960" cy="256032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1005840"/>
            <a:ext cx="196596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1042416"/>
            <a:ext cx="18196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" y="15727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Linear baseline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938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61872" y="19202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0.76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" y="2487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F1-Score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61872" y="24688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0.74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" y="3035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AUC-ROC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30175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0.82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32304" y="1005840"/>
            <a:ext cx="1965960" cy="256032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2304" y="1005840"/>
            <a:ext cx="19659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2505456" y="1042416"/>
            <a:ext cx="18196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05456" y="15727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Single non-linear tree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23744" y="1938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38144" y="19202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0.74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23744" y="2487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F1-Score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38144" y="24688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0.73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523744" y="3035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AUC-ROC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38144" y="30175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0.78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08576" y="1005840"/>
            <a:ext cx="1965960" cy="256032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608576" y="1005840"/>
            <a:ext cx="196596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1042416"/>
            <a:ext cx="18196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81728" y="15727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Ensemble (200 trees)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0016" y="1938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Accuracy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14416" y="19202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9C46A"/>
                </a:solidFill>
              </a:rPr>
              <a:t>0.84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00016" y="2487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F1-Score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14416" y="24688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9C46A"/>
                </a:solidFill>
              </a:rPr>
              <a:t>0.83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00016" y="3035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AUC-ROC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14416" y="30175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9C46A"/>
                </a:solidFill>
              </a:rPr>
              <a:t>0.91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784848" y="1005840"/>
            <a:ext cx="1965960" cy="25603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5" name="Shape 33"/>
          <p:cNvSpPr/>
          <p:nvPr/>
        </p:nvSpPr>
        <p:spPr>
          <a:xfrm>
            <a:off x="6784848" y="1005840"/>
            <a:ext cx="1965960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1042416"/>
            <a:ext cx="181965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 ★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15727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4F1EC"/>
                </a:solidFill>
              </a:rPr>
              <a:t>Optimized (RandomizedSearch)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76288" y="1938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EC"/>
                </a:solidFill>
              </a:rPr>
              <a:t>Accuracy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90688" y="19202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0.86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76288" y="2487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EC"/>
                </a:solidFill>
              </a:rPr>
              <a:t>F1-Score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90688" y="24688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0.85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76288" y="3035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EC"/>
                </a:solidFill>
              </a:rPr>
              <a:t>AUC-ROC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90688" y="30175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0.93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58000" y="3319272"/>
            <a:ext cx="1819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C46A"/>
                </a:solidFill>
              </a:rPr>
              <a:t>BEST MODEL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6032" y="3703320"/>
            <a:ext cx="8631936" cy="109728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46" name="Shape 44"/>
          <p:cNvSpPr/>
          <p:nvPr/>
        </p:nvSpPr>
        <p:spPr>
          <a:xfrm>
            <a:off x="256032" y="3703320"/>
            <a:ext cx="64008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438912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Why AUC-ROC + F1-Score (not Accuracy alone)?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8912" y="406908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• Class imbalance (Framingham: 15% positive) makes accuracy misleading — a model predicting 'No CVD' always achieves 85% accuracy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• F1-Score balances precision and recall — critical when false negatives (missed CVD) are clinically dangerous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</a:rPr>
              <a:t>• AUC-ROC measures discrimination ability independent of threshold choice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&amp; Error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572000" cy="292608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57200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241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 Forest — Feature Importance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</a:rPr>
              <a:t>bp_systolic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74520" y="1517904"/>
            <a:ext cx="2304288" cy="1828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422452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0.18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7922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</a:rPr>
              <a:t>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1828800"/>
            <a:ext cx="2048256" cy="1828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3968496" y="179222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0.16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1031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</a:rPr>
              <a:t>cholesterol_val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74520" y="2139696"/>
            <a:ext cx="1792224" cy="1828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3712464" y="21031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0.14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4140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</a:rPr>
              <a:t>heart_rate_max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74520" y="2450592"/>
            <a:ext cx="1536192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456432" y="24140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0.12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7249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</a:rPr>
              <a:t>BMI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74520" y="2761488"/>
            <a:ext cx="128016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272491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0.10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0358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</a:rPr>
              <a:t>hypertension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74520" y="3072384"/>
            <a:ext cx="1024128" cy="182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2944368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0.08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3467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</a:rPr>
              <a:t>oldpeak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74520" y="3383280"/>
            <a:ext cx="896112" cy="182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2816352" y="33467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0.07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657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</a:rPr>
              <a:t>age_group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74520" y="3694176"/>
            <a:ext cx="640080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0" y="36576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0.05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74920" y="1005840"/>
            <a:ext cx="3794760" cy="2926080"/>
          </a:xfrm>
          <a:prstGeom prst="rect">
            <a:avLst/>
          </a:prstGeom>
          <a:solidFill>
            <a:srgbClr val="EE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5074920" y="1005840"/>
            <a:ext cx="3794760" cy="38404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10241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Clinical Error Analysis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66360" y="1508760"/>
            <a:ext cx="35661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257800" y="154533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✅ True Positives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17556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CVD correctly detected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06640" y="154533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~680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5166360" y="2075688"/>
            <a:ext cx="35661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257800" y="21122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✅ True Negatives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23225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Healthy correctly cleared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06640" y="211226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~820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5166360" y="2642616"/>
            <a:ext cx="35661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257800" y="26791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</a:rPr>
              <a:t>⚠️ False Positives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28895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False alarm (healthy→CVD)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06640" y="267919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C46A"/>
                </a:solidFill>
              </a:rPr>
              <a:t>~95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5166360" y="3209544"/>
            <a:ext cx="35661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257800" y="32461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❌ False Negatives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57800" y="34564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Missed CVD — CRITICAL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06640" y="324612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~65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274320" y="4069080"/>
            <a:ext cx="859536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133088"/>
            <a:ext cx="82296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Clinical Priority: Minimize False Negatives — missing a CVD case is more dangerous than a false alarm. Threshold tuning can reduce FN Rate at the cost of higher FP Rate.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Perspectives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2004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Key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Random Forest (optimized) achieves AUC 0.93 — clinical-grade performance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20391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Multi-source fusion improves generalization across 3 care contexts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5420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Age, BP, and cholesterol are the strongest universal predictors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30449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SMOTE effectively handles the Framingham class imbalance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547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FN Rate &lt; 9% — acceptable for a screening-level tool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023360" cy="32004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5361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C46A"/>
                </a:solidFill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Threshold tuning to minimize clinical False Negative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83480" y="20391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C46A"/>
                </a:solidFill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SHAP values for model explainability (cardiologist-ready)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25420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C46A"/>
                </a:solidFill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Neural network approach: TabNet / MLP comparison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30449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C46A"/>
                </a:solidFill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External validation on unseen hospital dataset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3547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C46A"/>
                </a:solidFill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Clinical deployment pipeline (FastAPI + Docker)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48056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Takwa Haj — Machine Learning Project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Cardiovascular Disease Prediction — ML Project</dc:title>
  <dc:subject>PptxGenJS Presentation</dc:subject>
  <dc:creator>Takwa Haj</dc:creator>
  <cp:lastModifiedBy>Takwa Haj</cp:lastModifiedBy>
  <cp:revision>1</cp:revision>
  <dcterms:created xsi:type="dcterms:W3CDTF">2026-04-09T14:58:23Z</dcterms:created>
  <dcterms:modified xsi:type="dcterms:W3CDTF">2026-04-09T14:58:23Z</dcterms:modified>
</cp:coreProperties>
</file>